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4826ffcd26049d7" /><Relationship Type="http://schemas.openxmlformats.org/officeDocument/2006/relationships/extended-properties" Target="/docProps/app.xml" Id="R87b83547c0c04438" /><Relationship Type="http://schemas.openxmlformats.org/officeDocument/2006/relationships/officeDocument" Target="/ppt/presentation.xml" Id="Rfc62becec089400f" /></Relationships>
</file>

<file path=ppt/presentation.xml><?xml version="1.0" encoding="utf-8"?>
<p:presentation xmlns:p="http://schemas.openxmlformats.org/presentationml/2006/main">
  <p:sldMasterIdLst>
    <p:sldMasterId xmlns:r="http://schemas.openxmlformats.org/officeDocument/2006/relationships" id="2147483648" r:id="R2ae3548309f24bde"/>
  </p:sldMasterIdLst>
  <p:notesMasterIdLst>
    <p:notesMasterId xmlns:r="http://schemas.openxmlformats.org/officeDocument/2006/relationships" r:id="Rd31bdf049f264dc7"/>
  </p:notesMasterIdLst>
  <p:sldIdLst>
    <p:sldId xmlns:r="http://schemas.openxmlformats.org/officeDocument/2006/relationships" id="256" r:id="R52ffd32aecd942e2"/>
    <p:sldId xmlns:r="http://schemas.openxmlformats.org/officeDocument/2006/relationships" id="257" r:id="R97b1a0411e3c4172"/>
    <p:sldId xmlns:r="http://schemas.openxmlformats.org/officeDocument/2006/relationships" id="258" r:id="R7213165dfd424dbd"/>
    <p:sldId xmlns:r="http://schemas.openxmlformats.org/officeDocument/2006/relationships" id="259" r:id="R777196c6d0954d6b"/>
    <p:sldId xmlns:r="http://schemas.openxmlformats.org/officeDocument/2006/relationships" id="260" r:id="Rebf29ac698ef455f"/>
    <p:sldId xmlns:r="http://schemas.openxmlformats.org/officeDocument/2006/relationships" id="261" r:id="R319ee9da4b164f31"/>
    <p:sldId xmlns:r="http://schemas.openxmlformats.org/officeDocument/2006/relationships" id="262" r:id="R2c4dc51e7439443c"/>
    <p:sldId xmlns:r="http://schemas.openxmlformats.org/officeDocument/2006/relationships" id="263" r:id="R14aa7dfb114a4f70"/>
    <p:sldId xmlns:r="http://schemas.openxmlformats.org/officeDocument/2006/relationships" id="264" r:id="R97f8837cf3ca4d9a"/>
    <p:sldId xmlns:r="http://schemas.openxmlformats.org/officeDocument/2006/relationships" id="265" r:id="R74a58e969a9945a3"/>
    <p:sldId xmlns:r="http://schemas.openxmlformats.org/officeDocument/2006/relationships" id="266" r:id="R8109edf498ae40bc"/>
    <p:sldId xmlns:r="http://schemas.openxmlformats.org/officeDocument/2006/relationships" id="267" r:id="R26b8c471e6894d44"/>
    <p:sldId xmlns:r="http://schemas.openxmlformats.org/officeDocument/2006/relationships" id="268" r:id="Rfc5825c852a74ab6"/>
    <p:sldId xmlns:r="http://schemas.openxmlformats.org/officeDocument/2006/relationships" id="269" r:id="Rb4a5c6ded09947e8"/>
    <p:sldId xmlns:r="http://schemas.openxmlformats.org/officeDocument/2006/relationships" id="270" r:id="R4a1845f972334b94"/>
    <p:sldId xmlns:r="http://schemas.openxmlformats.org/officeDocument/2006/relationships" id="271" r:id="Rdd06b660dd764e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b76eff84af404d" /><Relationship Type="http://schemas.openxmlformats.org/officeDocument/2006/relationships/slideMaster" Target="/ppt/slideMasters/slideMaster1.xml" Id="R2ae3548309f24bde" /><Relationship Type="http://schemas.openxmlformats.org/officeDocument/2006/relationships/notesMaster" Target="/ppt/notesMasters/notesMaster1.xml" Id="Rd31bdf049f264dc7" /><Relationship Type="http://schemas.openxmlformats.org/officeDocument/2006/relationships/presProps" Target="/ppt/presProps.xml" Id="R02899a7b09a242dc" /><Relationship Type="http://schemas.openxmlformats.org/officeDocument/2006/relationships/tableStyles" Target="/ppt/tableStyles.xml" Id="Raa76926b63224906" /><Relationship Type="http://schemas.openxmlformats.org/officeDocument/2006/relationships/slide" Target="/ppt/slides/slide1.xml" Id="R52ffd32aecd942e2" /><Relationship Type="http://schemas.openxmlformats.org/officeDocument/2006/relationships/slide" Target="/ppt/slides/slide2.xml" Id="R97b1a0411e3c4172" /><Relationship Type="http://schemas.openxmlformats.org/officeDocument/2006/relationships/slide" Target="/ppt/slides/slide3.xml" Id="R7213165dfd424dbd" /><Relationship Type="http://schemas.openxmlformats.org/officeDocument/2006/relationships/slide" Target="/ppt/slides/slide4.xml" Id="R777196c6d0954d6b" /><Relationship Type="http://schemas.openxmlformats.org/officeDocument/2006/relationships/slide" Target="/ppt/slides/slide5.xml" Id="Rebf29ac698ef455f" /><Relationship Type="http://schemas.openxmlformats.org/officeDocument/2006/relationships/slide" Target="/ppt/slides/slide6.xml" Id="R319ee9da4b164f31" /><Relationship Type="http://schemas.openxmlformats.org/officeDocument/2006/relationships/slide" Target="/ppt/slides/slide7.xml" Id="R2c4dc51e7439443c" /><Relationship Type="http://schemas.openxmlformats.org/officeDocument/2006/relationships/slide" Target="/ppt/slides/slide8.xml" Id="R14aa7dfb114a4f70" /><Relationship Type="http://schemas.openxmlformats.org/officeDocument/2006/relationships/slide" Target="/ppt/slides/slide9.xml" Id="R97f8837cf3ca4d9a" /><Relationship Type="http://schemas.openxmlformats.org/officeDocument/2006/relationships/slide" Target="/ppt/slides/slide10.xml" Id="R74a58e969a9945a3" /><Relationship Type="http://schemas.openxmlformats.org/officeDocument/2006/relationships/slide" Target="/ppt/slides/slide11.xml" Id="R8109edf498ae40bc" /><Relationship Type="http://schemas.openxmlformats.org/officeDocument/2006/relationships/slide" Target="/ppt/slides/slide12.xml" Id="R26b8c471e6894d44" /><Relationship Type="http://schemas.openxmlformats.org/officeDocument/2006/relationships/slide" Target="/ppt/slides/slide13.xml" Id="Rfc5825c852a74ab6" /><Relationship Type="http://schemas.openxmlformats.org/officeDocument/2006/relationships/slide" Target="/ppt/slides/slide14.xml" Id="Rb4a5c6ded09947e8" /><Relationship Type="http://schemas.openxmlformats.org/officeDocument/2006/relationships/slide" Target="/ppt/slides/slide15.xml" Id="R4a1845f972334b94" /><Relationship Type="http://schemas.openxmlformats.org/officeDocument/2006/relationships/slide" Target="/ppt/slides/slide16.xml" Id="Rdd06b660dd764e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84e77ea37041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108679f3ee4fb1" /><Relationship Type="http://schemas.openxmlformats.org/officeDocument/2006/relationships/notesMaster" Target="/ppt/notesMasters/notesMaster1.xml" Id="R7720c935391243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f3940e183a4e33" /><Relationship Type="http://schemas.openxmlformats.org/officeDocument/2006/relationships/notesMaster" Target="/ppt/notesMasters/notesMaster1.xml" Id="R7ae561669fab43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a81bbd61264eeb" /><Relationship Type="http://schemas.openxmlformats.org/officeDocument/2006/relationships/notesMaster" Target="/ppt/notesMasters/notesMaster1.xml" Id="Rb9ba2708d6b247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a2186e67c446b8" /><Relationship Type="http://schemas.openxmlformats.org/officeDocument/2006/relationships/notesMaster" Target="/ppt/notesMasters/notesMaster1.xml" Id="R6072cb1a29774a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45c739856049e9" /><Relationship Type="http://schemas.openxmlformats.org/officeDocument/2006/relationships/notesMaster" Target="/ppt/notesMasters/notesMaster1.xml" Id="Rb49c0bac7f3b49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1a14db34844fe5" /><Relationship Type="http://schemas.openxmlformats.org/officeDocument/2006/relationships/notesMaster" Target="/ppt/notesMasters/notesMaster1.xml" Id="Rc1959c01a0da4c7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57328f1fda43da" /><Relationship Type="http://schemas.openxmlformats.org/officeDocument/2006/relationships/notesMaster" Target="/ppt/notesMasters/notesMaster1.xml" Id="Re69fc1fcd34c4d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64ea74794d4b86" /><Relationship Type="http://schemas.openxmlformats.org/officeDocument/2006/relationships/notesMaster" Target="/ppt/notesMasters/notesMaster1.xml" Id="Ra2075cfcb0174b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4b0422e2fe84c33" /><Relationship Type="http://schemas.openxmlformats.org/officeDocument/2006/relationships/notesMaster" Target="/ppt/notesMasters/notesMaster1.xml" Id="R9a82e0134359453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e15b1fc761d47bb" /><Relationship Type="http://schemas.openxmlformats.org/officeDocument/2006/relationships/notesMaster" Target="/ppt/notesMasters/notesMaster1.xml" Id="R9599aee3f4864a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a707b664a1841de" /><Relationship Type="http://schemas.openxmlformats.org/officeDocument/2006/relationships/notesMaster" Target="/ppt/notesMasters/notesMaster1.xml" Id="Raecbadcc3c4a4c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1f29953cf9d478a" /><Relationship Type="http://schemas.openxmlformats.org/officeDocument/2006/relationships/notesMaster" Target="/ppt/notesMasters/notesMaster1.xml" Id="Rfa97cec06d344b0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ced310bd1a4185" /><Relationship Type="http://schemas.openxmlformats.org/officeDocument/2006/relationships/notesMaster" Target="/ppt/notesMasters/notesMaster1.xml" Id="Rb116750e466a404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a2e0fdffa3247cb" /><Relationship Type="http://schemas.openxmlformats.org/officeDocument/2006/relationships/notesMaster" Target="/ppt/notesMasters/notesMaster1.xml" Id="R0cc6aca5ceb64d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46bcac9cd0d4a2a" /><Relationship Type="http://schemas.openxmlformats.org/officeDocument/2006/relationships/notesMaster" Target="/ppt/notesMasters/notesMaster1.xml" Id="Rd6cfb51dfc0f493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ad5a56fb7114121" /><Relationship Type="http://schemas.openxmlformats.org/officeDocument/2006/relationships/notesMaster" Target="/ppt/notesMasters/notesMaster1.xml" Id="R046b599bcaf446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Kiva borrowers are often encouraged to tell a more distinctive story. But a story is never seen in isolation. It appears beside other live requests, often using similar recurring language. Our question is: when every story sounds the same, is the bottleneck competition right now, repetition from the recent past, or both? Our answer is more selective—and more useful—than we expected. The most reliable signal is what is live beside a story when that story enters the market.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separate two candidate channels that can both look like slower funding. Active saturation means many live alternatives with strong focal-to-pool lexical overlap. The recent measure captures similar same-sector language posted 35 to 65 days earlier. It tests a wear-out hypothesis, but it does not observe exposure, page exit or lender memory. The distinction changes what to test: current competition points to timing and exposure; a validated wear-out mechanism would point to editorial refresh.</a:t>
            </a:r>
          </a:p>
          <a:p xmlns:a="http://schemas.openxmlformats.org/drawingml/2006/main">
            <a:r>
              <a:t/>
            </a:r>
          </a:p>
          <a:p xmlns:a="http://schemas.openxmlformats.org/drawingml/2006/main">
            <a:r>
              <a:t>[Sources]</a:t>
            </a:r>
          </a:p>
          <a:p xmlns:a="http://schemas.openxmlformats.org/drawingml/2006/main">
            <a:r>
              <a:t>Research design from the finalist proposal; definitions frozen before outcome modelling.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main training analysis contains 1,234,131 loans. For each focal listing, current volume is how many alternatives are available and current overlap is the focal story's mean lexical similarity to that active pool. We build a separate posting-age proxy from listings 35 to 65 days earlier. We compare masked and recurring-language-removed text, test time-based windows, and evaluate log one plus funding hours plus 72-hour funding. Every valid record has a raised date, so the analysis is conditional on this raised-only extract. The 2025 holdout is never used to refit preprocessing or the model.</a:t>
            </a:r>
          </a:p>
          <a:p xmlns:a="http://schemas.openxmlformats.org/drawingml/2006/main">
            <a:r>
              <a:t/>
            </a:r>
          </a:p>
          <a:p xmlns:a="http://schemas.openxmlformats.org/drawingml/2006/main">
            <a:r>
              <a:t>[Sources]</a:t>
            </a:r>
          </a:p>
          <a:p xmlns:a="http://schemas.openxmlformats.org/drawingml/2006/main">
            <a:r>
              <a:t>Sources: outputs/model_sample_flow.csv; outputs/frozen_spec.csv; outputs/pool_identity_summary.csv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strongest diagnostic result. On the log one plus hours outcome, moving the current environment jointly from the 25th to the 75th percentile corresponds to a 124.38 percent higher conditional geometric mean of one plus funding hours, with an interval from 103.74 to 147.11 percent and a ratio of 2.24. This is not an arithmetic mean duration. The independent 72-hour co-outcome is 14.68 percentage points lower, with an interval from minus 17.69 to minus 11.68. Both endpoints are populated, but these remain associations, not intervention forecasts.</a:t>
            </a:r>
          </a:p>
          <a:p xmlns:a="http://schemas.openxmlformats.org/drawingml/2006/main">
            <a:r>
              <a:t/>
            </a:r>
          </a:p>
          <a:p xmlns:a="http://schemas.openxmlformats.org/drawingml/2006/main">
            <a:r>
              <a:t>[Sources]</a:t>
            </a:r>
          </a:p>
          <a:p xmlns:a="http://schemas.openxmlformats.org/drawingml/2006/main">
            <a:r>
              <a:t>Source: outputs/scenario_contrasts.csv; outputs/joint_support_summary.csv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Using masked use text, the current interaction is 0.1016 with p 0.0033. After removing recurring language, it falls to 0.0523 with p 0.129. The estimate roughly halves and is no longer distinguishable from zero. That does not prove templates explain half because the coefficient difference itself was not formally tested. Description text gives a significant current interaction of 0.1323, while its recent interaction is not significant. Together, this shifts the managerial focus from borrower rewriting toward platform and partner processes.</a:t>
            </a:r>
          </a:p>
          <a:p xmlns:a="http://schemas.openxmlformats.org/drawingml/2006/main">
            <a:r>
              <a:t/>
            </a:r>
          </a:p>
          <a:p xmlns:a="http://schemas.openxmlformats.org/drawingml/2006/main">
            <a:r>
              <a:t>[Sources]</a:t>
            </a:r>
          </a:p>
          <a:p xmlns:a="http://schemas.openxmlformats.org/drawingml/2006/main">
            <a:r>
              <a:t>Sources: outputs/robustness.csv; outputs/description_robustness.csv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recent-listing proxy tells a different story. Its representative P25-to-P75 log-time back-transform is minus 1.43 percent, with a 95 percent interval from minus 15.82 to plus 15.43. The 72-hour contrast is minus 0.51 percentage points, with an interval from minus 3.86 to plus 2.84. Both cross zero. Because the main measure is a posting-age lexical proxy rather than observed exposure, we do not find support for an average wear-out claim. That is not the same as proving wear-out can never occur.</a:t>
            </a:r>
          </a:p>
          <a:p xmlns:a="http://schemas.openxmlformats.org/drawingml/2006/main">
            <a:r>
              <a:t/>
            </a:r>
          </a:p>
          <a:p xmlns:a="http://schemas.openxmlformats.org/drawingml/2006/main">
            <a:r>
              <a:t>[Sources]</a:t>
            </a:r>
          </a:p>
          <a:p xmlns:a="http://schemas.openxmlformats.org/drawingml/2006/main">
            <a:r>
              <a:t>Source: outputs/scenario_contrasts.csv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is an important nuance. The raw recent-listing interaction is statistically positive, but it answers a local conditional question. The joint scenario asks about the net log-time contrast when recent volume and overlap move together. The current interaction remains positive in both 14-day and 16-day posting-window checks and appears again with description text, but it attenuates and crosses zero after recurring-language removal. The recent-listing interaction does not survive the time-based checks or description sensitivity. The honest conclusion is a strong but representation-sensitive current diagnostic association, not a broad wear-out claim.</a:t>
            </a:r>
          </a:p>
          <a:p xmlns:a="http://schemas.openxmlformats.org/drawingml/2006/main">
            <a:r>
              <a:t/>
            </a:r>
          </a:p>
          <a:p xmlns:a="http://schemas.openxmlformats.org/drawingml/2006/main">
            <a:r>
              <a:t>[Sources]</a:t>
            </a:r>
          </a:p>
          <a:p xmlns:a="http://schemas.openxmlformats.org/drawingml/2006/main">
            <a:r>
              <a:t>Sources: outputs/robustness.csv; outputs/description_robustness.csv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variable can explain a historical association without improving future prediction. On the 2025 holdout, the narrative-enhanced model does not outperform controls-only on the main operational metrics. Log-hour MAE is 0.9822 versus 0.9663; Brier is 0.1369 versus 0.1354; AUC is 0.8921 versus 0.8987. Log-loss improves slightly. Because we have not estimated paired uncertainty for these metric differences, we say did not outperform, not significantly worsened. These results do not support deploying a scoring engine.</a:t>
            </a:r>
          </a:p>
          <a:p xmlns:a="http://schemas.openxmlformats.org/drawingml/2006/main">
            <a:r>
              <a:t/>
            </a:r>
          </a:p>
          <a:p xmlns:a="http://schemas.openxmlformats.org/drawingml/2006/main">
            <a:r>
              <a:t>[Sources]</a:t>
            </a:r>
          </a:p>
          <a:p xmlns:a="http://schemas.openxmlformats.org/drawingml/2006/main">
            <a:r>
              <a:t>Source: outputs/holdout_validation.csv · Differences are descriptive; paired uncertainty not estimated.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recommendation is deliberately narrower. When current saturation is high, test whether staggering similar listings or diversifying exposure improves funding. Separately, test partner-approved template alternatives without adding borrower burden. These should be small randomized pilots. Primary outcomes are time to funding and 72-hour probability; guardrails include total funding, fairness and borrower workload. Saturation identifies a market condition worth testing. It does not measure borrower quality and must not rank or penalize borrowers.</a:t>
            </a:r>
          </a:p>
          <a:p xmlns:a="http://schemas.openxmlformats.org/drawingml/2006/main">
            <a:r>
              <a:t/>
            </a:r>
          </a:p>
          <a:p xmlns:a="http://schemas.openxmlformats.org/drawingml/2006/main">
            <a:r>
              <a:t>[Sources]</a:t>
            </a:r>
          </a:p>
          <a:p xmlns:a="http://schemas.openxmlformats.org/drawingml/2006/main">
            <a:r>
              <a:t>Recommendation derived from scenario, robustness and 2025 holdout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analysis leaves three conclusions. First, the strongest diagnostic signal is current attention pressure, although it is sensitive to text representation. Second, the recent-listing proxy does not support broad wear-out. Third, narrative features do not add reliable 2025 predictive value on the main operational metrics. Our model is not ready to score borrowers—and that is exactly why our recommendation is safer: change the market around the story, test it prospectively, and scale only what improves funding without shifting the burden onto borrowers.</a:t>
            </a:r>
          </a:p>
          <a:p xmlns:a="http://schemas.openxmlformats.org/drawingml/2006/main">
            <a:r>
              <a:t/>
            </a:r>
          </a:p>
          <a:p xmlns:a="http://schemas.openxmlformats.org/drawingml/2006/main">
            <a:r>
              <a:t>[Sources]</a:t>
            </a:r>
          </a:p>
          <a:p xmlns:a="http://schemas.openxmlformats.org/drawingml/2006/main">
            <a:r>
              <a:t>Sources: outputs/scenario_contrasts.csv; outputs/robustness.csv; outputs/holdout_validation.csv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the source has 1,453,846 loans; six invalid negative-duration rows are excluded. Every valid row has raisedDate, so a true right-censored AFT model is not supported by this extract. The final package omits raw personal text and exact locations.</a:t>
            </a:r>
          </a:p>
          <a:p xmlns:a="http://schemas.openxmlformats.org/drawingml/2006/main">
            <a:r>
              <a:t/>
            </a:r>
          </a:p>
          <a:p xmlns:a="http://schemas.openxmlformats.org/drawingml/2006/main">
            <a:r>
              <a:t>[Sources]</a:t>
            </a:r>
          </a:p>
          <a:p xmlns:a="http://schemas.openxmlformats.org/drawingml/2006/main">
            <a:r>
              <a:t>Sources: outputs/model_sample_flow.csv; outputs/data_profile_summary.csv; outputs/status_raised_crosstab.csv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the rolling vector-sum implementation is verified against exact brute-force similarity for 200 focal loans across three pools, 600 checks total. Maximum raw error is 2.89e-14, well inside the 1e-9 gate. The P25/P75 endpoints have populated local support, but support does not establish causality.</a:t>
            </a:r>
          </a:p>
          <a:p xmlns:a="http://schemas.openxmlformats.org/drawingml/2006/main">
            <a:r>
              <a:t/>
            </a:r>
          </a:p>
          <a:p xmlns:a="http://schemas.openxmlformats.org/drawingml/2006/main">
            <a:r>
              <a:t>[Sources]</a:t>
            </a:r>
          </a:p>
          <a:p xmlns:a="http://schemas.openxmlformats.org/drawingml/2006/main">
            <a:r>
              <a:t>Sources: outputs/pool_identity_summary.csv; outputs/joint_support_summary.csv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this is the main HDFE specification. C is log one plus active count and H is focal-to-active-pool lexical overlap. V is log one plus decayed posting weight for listings 35 to 65 days earlier and G is the corresponding lexical overlap. The recent pair is a posting-age proxy, not observed exposure or page exit. All components are standardized from 2016 to 2024 before interactions are created. Fixed effects and controls reduce confounding but do not create causal identification.</a:t>
            </a:r>
          </a:p>
          <a:p xmlns:a="http://schemas.openxmlformats.org/drawingml/2006/main">
            <a:r>
              <a:t/>
            </a:r>
          </a:p>
          <a:p xmlns:a="http://schemas.openxmlformats.org/drawingml/2006/main">
            <a:r>
              <a:t>[Sources]</a:t>
            </a:r>
          </a:p>
          <a:p xmlns:a="http://schemas.openxmlformats.org/drawingml/2006/main">
            <a:r>
              <a:t>Source: src/fit_main_models.py; outputs/frozen_spec.csv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year-specific scenario associations vary materially. We do not convert this volatility into a year or subgroup ranking. The global heterogeneity screens are descriptive and do not estimate every cross-group covariance induced by shared week shocks.</a:t>
            </a:r>
          </a:p>
          <a:p xmlns:a="http://schemas.openxmlformats.org/drawingml/2006/main">
            <a:r>
              <a:t/>
            </a:r>
          </a:p>
          <a:p xmlns:a="http://schemas.openxmlformats.org/drawingml/2006/main">
            <a:r>
              <a:t>[Sources]</a:t>
            </a:r>
          </a:p>
          <a:p xmlns:a="http://schemas.openxmlformats.org/drawingml/2006/main">
            <a:r>
              <a:t>Source: outputs/rq3_year_effects.csv; outputs/rq3_global_tests.csv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2025 calibration remains imperfect, with material gaps in several sectors. These diagnostics reinforce the no-deployment boundary. We do not use group membership for targeting; fairness diagnostics are guardrails for future prospective experiments.</a:t>
            </a:r>
          </a:p>
          <a:p xmlns:a="http://schemas.openxmlformats.org/drawingml/2006/main">
            <a:r>
              <a:t/>
            </a:r>
          </a:p>
          <a:p xmlns:a="http://schemas.openxmlformats.org/drawingml/2006/main">
            <a:r>
              <a:t>[Sources]</a:t>
            </a:r>
          </a:p>
          <a:p xmlns:a="http://schemas.openxmlformats.org/drawingml/2006/main">
            <a:r>
              <a:t>Sources: outputs/holdout_calibration.csv; outputs/fairness_diagnostics.csv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this summarizes the gates behind the claims. Passing a computation gate does not broaden the claim boundary. The current association is supported by active, posting-window and description specifications but is sensitive to recurring-language removal. Broad wear-out and deployment remain explicitly unsupported.</a:t>
            </a:r>
          </a:p>
          <a:p xmlns:a="http://schemas.openxmlformats.org/drawingml/2006/main">
            <a:r>
              <a:t/>
            </a:r>
          </a:p>
          <a:p xmlns:a="http://schemas.openxmlformats.org/drawingml/2006/main">
            <a:r>
              <a:t>[Sources]</a:t>
            </a:r>
          </a:p>
          <a:p xmlns:a="http://schemas.openxmlformats.org/drawingml/2006/main">
            <a:r>
              <a:t>Sources: audit/ manifests; outputs/ validated CSV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b4fc42a3364d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e9e2ce219a4c29" /><Relationship Type="http://schemas.openxmlformats.org/officeDocument/2006/relationships/slideLayout" Target="/ppt/slideLayouts/slideLayout1.xml" Id="R4b78437a5cc64b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78437a5cc64b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ff61e8f2c534871" /><Relationship Type="http://schemas.openxmlformats.org/officeDocument/2006/relationships/notesSlide" Target="/ppt/notesSlides/notesSlide1.xml" Id="Rd940d3c8960c4d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2f38cc1a66b4912" /><Relationship Type="http://schemas.openxmlformats.org/officeDocument/2006/relationships/notesSlide" Target="/ppt/notesSlides/notesSlide2.xml" Id="R7842adf13c094e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ff3709631ee42b8" /><Relationship Type="http://schemas.openxmlformats.org/officeDocument/2006/relationships/notesSlide" Target="/ppt/notesSlides/notesSlide3.xml" Id="Re6b1942f8f1840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7379e1d0af04875" /><Relationship Type="http://schemas.openxmlformats.org/officeDocument/2006/relationships/image" Target="/ppt/media/image.png" Id="R1d79da3650a848de" /><Relationship Type="http://schemas.openxmlformats.org/officeDocument/2006/relationships/notesSlide" Target="/ppt/notesSlides/notesSlide4.xml" Id="Rec9a556fe9214f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eaa8245c80c4dd2" /><Relationship Type="http://schemas.openxmlformats.org/officeDocument/2006/relationships/notesSlide" Target="/ppt/notesSlides/notesSlide5.xml" Id="R947779f575aa40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69ec42a4557493d" /><Relationship Type="http://schemas.openxmlformats.org/officeDocument/2006/relationships/notesSlide" Target="/ppt/notesSlides/notesSlide6.xml" Id="Rd6e1bd49f1e44f5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1ad3030e4d44afd" /><Relationship Type="http://schemas.openxmlformats.org/officeDocument/2006/relationships/image" Target="/ppt/media/image2.png" Id="R13a96d42872e40c0" /><Relationship Type="http://schemas.openxmlformats.org/officeDocument/2006/relationships/notesSlide" Target="/ppt/notesSlides/notesSlide7.xml" Id="R518879862c9f41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beb7a0a470449e5" /><Relationship Type="http://schemas.openxmlformats.org/officeDocument/2006/relationships/image" Target="/ppt/media/image3.png" Id="R8258b1c7064a4087" /><Relationship Type="http://schemas.openxmlformats.org/officeDocument/2006/relationships/notesSlide" Target="/ppt/notesSlides/notesSlide8.xml" Id="Ra331793b6fd844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65b311b9892419e" /><Relationship Type="http://schemas.openxmlformats.org/officeDocument/2006/relationships/notesSlide" Target="/ppt/notesSlides/notesSlide9.xml" Id="R3c017f2a20054bb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5bc911080024517" /><Relationship Type="http://schemas.openxmlformats.org/officeDocument/2006/relationships/notesSlide" Target="/ppt/notesSlides/notesSlide10.xml" Id="Rf60dac6b9f8649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e8007981ec14df0" /><Relationship Type="http://schemas.openxmlformats.org/officeDocument/2006/relationships/image" Target="/ppt/media/image4.png" Id="R7e4f3d247e964116" /><Relationship Type="http://schemas.openxmlformats.org/officeDocument/2006/relationships/notesSlide" Target="/ppt/notesSlides/notesSlide11.xml" Id="Rfa02afd7218249e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3e8f1cb8155465c" /><Relationship Type="http://schemas.openxmlformats.org/officeDocument/2006/relationships/image" Target="/ppt/media/image5.png" Id="R6b50c55e59e54faf" /><Relationship Type="http://schemas.openxmlformats.org/officeDocument/2006/relationships/notesSlide" Target="/ppt/notesSlides/notesSlide12.xml" Id="R7427fdf8e38e465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ac6726c5f8b4a4d" /><Relationship Type="http://schemas.openxmlformats.org/officeDocument/2006/relationships/notesSlide" Target="/ppt/notesSlides/notesSlide13.xml" Id="R82659d80739843c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328f598a67a47ad" /><Relationship Type="http://schemas.openxmlformats.org/officeDocument/2006/relationships/image" Target="/ppt/media/image6.png" Id="Ra206fcf3fefa4b59" /><Relationship Type="http://schemas.openxmlformats.org/officeDocument/2006/relationships/notesSlide" Target="/ppt/notesSlides/notesSlide14.xml" Id="Rd14ce9e1796b4ae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776a218dbea4aac" /><Relationship Type="http://schemas.openxmlformats.org/officeDocument/2006/relationships/image" Target="/ppt/media/image7.png" Id="Rc6b1eb85a3964cb0" /><Relationship Type="http://schemas.openxmlformats.org/officeDocument/2006/relationships/image" Target="/ppt/media/image8.png" Id="Rac2920f8f9b046e8" /><Relationship Type="http://schemas.openxmlformats.org/officeDocument/2006/relationships/notesSlide" Target="/ppt/notesSlides/notesSlide15.xml" Id="R4b360c4e9c05468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c80f0aeb60846a3" /><Relationship Type="http://schemas.openxmlformats.org/officeDocument/2006/relationships/notesSlide" Target="/ppt/notesSlides/notesSlide16.xml" Id="Rea54778d40ee49c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cover-eyebrow">
            <a:extLst xmlns:a="http://schemas.openxmlformats.org/drawingml/2006/main">
              <a:ext uri="{FF2B5EF4-FFF2-40B4-BE49-F238E27FC236}">
                <a16:creationId xmlns:a16="http://schemas.microsoft.com/office/drawing/2014/main" id="{960896D5-9E61-4598-8C2B-225936664930}"/>
              </a:ext>
            </a:extLst>
          </p:cNvPr>
          <p:cNvSpPr>
            <a:spLocks xmlns:a="http://schemas.openxmlformats.org/drawingml/2006/main" noGrp="1"/>
          </p:cNvSpPr>
          <p:nvPr/>
        </p:nvSpPr>
        <p:spPr>
          <a:xfrm xmlns:a="http://schemas.openxmlformats.org/drawingml/2006/main">
            <a:off x="400050" y="36195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UNSW MARKETING ANALYTICS HACKATHON 2026 · FINAL</a:t>
            </a:r>
          </a:p>
        </p:txBody>
      </p:sp>
      <p:sp>
        <p:nvSpPr>
          <p:cNvPr id="2" name="cover-title">
            <a:extLst xmlns:a="http://schemas.openxmlformats.org/drawingml/2006/main">
              <a:ext uri="{FF2B5EF4-FFF2-40B4-BE49-F238E27FC236}">
                <a16:creationId xmlns:a16="http://schemas.microsoft.com/office/drawing/2014/main" id="{60BBE714-53C4-40FD-8F70-65EA12DD3502}"/>
              </a:ext>
            </a:extLst>
          </p:cNvPr>
          <p:cNvSpPr>
            <a:spLocks xmlns:a="http://schemas.openxmlformats.org/drawingml/2006/main" noGrp="1"/>
          </p:cNvSpPr>
          <p:nvPr/>
        </p:nvSpPr>
        <p:spPr>
          <a:xfrm xmlns:a="http://schemas.openxmlformats.org/drawingml/2006/main">
            <a:off x="400050" y="1466850"/>
            <a:ext cx="7334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5700" b="1">
                <a:solidFill>
                  <a:srgbClr val="000000"/>
                </a:solidFill>
                <a:latin typeface="Helvetica Neue"/>
                <a:ea typeface="Helvetica Neue"/>
                <a:cs typeface="Helvetica Neue"/>
              </a:defRPr>
            </a:pPr>
            <a:r>
              <a:rPr sz="5700" b="1">
                <a:solidFill>
                  <a:srgbClr val="000000"/>
                </a:solidFill>
                <a:latin typeface="Helvetica Neue"/>
                <a:ea typeface="Helvetica Neue"/>
                <a:cs typeface="Helvetica Neue"/>
              </a:rPr>
              <a:t>When Every Story</a:t>
            </a:r>
          </a:p>
          <a:p xmlns:a="http://schemas.openxmlformats.org/drawingml/2006/main">
            <a:pPr algn="l">
              <a:defRPr sz="5700" b="1">
                <a:solidFill>
                  <a:srgbClr val="000000"/>
                </a:solidFill>
                <a:latin typeface="Helvetica Neue"/>
                <a:ea typeface="Helvetica Neue"/>
                <a:cs typeface="Helvetica Neue"/>
              </a:defRPr>
            </a:pPr>
            <a:r>
              <a:rPr sz="5700" b="1">
                <a:solidFill>
                  <a:srgbClr val="000000"/>
                </a:solidFill>
                <a:latin typeface="Helvetica Neue"/>
                <a:ea typeface="Helvetica Neue"/>
                <a:cs typeface="Helvetica Neue"/>
              </a:rPr>
              <a:t>Sounds the Same</a:t>
            </a:r>
          </a:p>
        </p:txBody>
      </p:sp>
      <p:sp>
        <p:nvSpPr>
          <p:cNvPr id="3" name="cover-subtitle">
            <a:extLst xmlns:a="http://schemas.openxmlformats.org/drawingml/2006/main">
              <a:ext uri="{FF2B5EF4-FFF2-40B4-BE49-F238E27FC236}">
                <a16:creationId xmlns:a16="http://schemas.microsoft.com/office/drawing/2014/main" id="{92BDDD6C-038F-444D-B370-1FC2B32426E3}"/>
              </a:ext>
            </a:extLst>
          </p:cNvPr>
          <p:cNvSpPr>
            <a:spLocks xmlns:a="http://schemas.openxmlformats.org/drawingml/2006/main" noGrp="1"/>
          </p:cNvSpPr>
          <p:nvPr/>
        </p:nvSpPr>
        <p:spPr>
          <a:xfrm xmlns:a="http://schemas.openxmlformats.org/drawingml/2006/main">
            <a:off x="400050" y="3905250"/>
            <a:ext cx="657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0">
                <a:solidFill>
                  <a:srgbClr val="334155"/>
                </a:solidFill>
                <a:latin typeface="Helvetica Neue"/>
                <a:ea typeface="Helvetica Neue"/>
                <a:cs typeface="Helvetica Neue"/>
              </a:defRPr>
            </a:pPr>
            <a:r>
              <a:rPr sz="2100" b="0">
                <a:solidFill>
                  <a:srgbClr val="334155"/>
                </a:solidFill>
                <a:latin typeface="Helvetica Neue"/>
                <a:ea typeface="Helvetica Neue"/>
                <a:cs typeface="Helvetica Neue"/>
              </a:rPr>
              <a:t>The attention bottleneck is what is live beside it.</a:t>
            </a:r>
          </a:p>
        </p:txBody>
      </p:sp>
      <p:sp>
        <p:nvSpPr>
          <p:cNvPr id="4" name="team-names">
            <a:extLst xmlns:a="http://schemas.openxmlformats.org/drawingml/2006/main">
              <a:ext uri="{FF2B5EF4-FFF2-40B4-BE49-F238E27FC236}">
                <a16:creationId xmlns:a16="http://schemas.microsoft.com/office/drawing/2014/main" id="{A73EB031-952B-4F09-883B-14E9FF008A20}"/>
              </a:ext>
            </a:extLst>
          </p:cNvPr>
          <p:cNvSpPr>
            <a:spLocks xmlns:a="http://schemas.openxmlformats.org/drawingml/2006/main" noGrp="1"/>
          </p:cNvSpPr>
          <p:nvPr/>
        </p:nvSpPr>
        <p:spPr>
          <a:xfrm xmlns:a="http://schemas.openxmlformats.org/drawingml/2006/main">
            <a:off x="400050" y="5829300"/>
            <a:ext cx="714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Ruiyang Zheng · Ruohan Wang · Hongxin Luo · Yiou Liu · Jingzhi Hu</a:t>
            </a:r>
          </a:p>
        </p:txBody>
      </p:sp>
      <p:sp>
        <p:nvSpPr>
          <p:cNvPr id="5" name="market-bar-0">
            <a:extLst xmlns:a="http://schemas.openxmlformats.org/drawingml/2006/main">
              <a:ext uri="{FF2B5EF4-FFF2-40B4-BE49-F238E27FC236}">
                <a16:creationId xmlns:a16="http://schemas.microsoft.com/office/drawing/2014/main" id="{C852CDC9-E847-40EB-9086-BFCEC3693037}"/>
              </a:ext>
            </a:extLst>
          </p:cNvPr>
          <p:cNvSpPr>
            <a:spLocks xmlns:a="http://schemas.openxmlformats.org/drawingml/2006/main" noGrp="1"/>
          </p:cNvSpPr>
          <p:nvPr/>
        </p:nvSpPr>
        <p:spPr>
          <a:xfrm xmlns:a="http://schemas.openxmlformats.org/drawingml/2006/main">
            <a:off x="8524875" y="5143500"/>
            <a:ext cx="104775" cy="762000"/>
          </a:xfrm>
          <a:prstGeom xmlns:a="http://schemas.openxmlformats.org/drawingml/2006/main" prst="rect">
            <a:avLst/>
          </a:prstGeom>
          <a:solidFill xmlns:a="http://schemas.openxmlformats.org/drawingml/2006/main">
            <a:srgbClr val="D0EDFA"/>
          </a:solidFill>
          <a:ln xmlns:a="http://schemas.openxmlformats.org/drawingml/2006/main" w="0">
            <a:solidFill>
              <a:srgbClr val="D0EDFA"/>
            </a:solidFill>
            <a:prstDash val="solid"/>
          </a:ln>
        </p:spPr>
      </p:sp>
      <p:sp>
        <p:nvSpPr>
          <p:cNvPr id="6" name="market-bar-1">
            <a:extLst xmlns:a="http://schemas.openxmlformats.org/drawingml/2006/main">
              <a:ext uri="{FF2B5EF4-FFF2-40B4-BE49-F238E27FC236}">
                <a16:creationId xmlns:a16="http://schemas.microsoft.com/office/drawing/2014/main" id="{3449A66C-8F49-4527-BBE1-30C75D78ED47}"/>
              </a:ext>
            </a:extLst>
          </p:cNvPr>
          <p:cNvSpPr>
            <a:spLocks xmlns:a="http://schemas.openxmlformats.org/drawingml/2006/main" noGrp="1"/>
          </p:cNvSpPr>
          <p:nvPr/>
        </p:nvSpPr>
        <p:spPr>
          <a:xfrm xmlns:a="http://schemas.openxmlformats.org/drawingml/2006/main">
            <a:off x="8743950" y="4933950"/>
            <a:ext cx="104775" cy="971550"/>
          </a:xfrm>
          <a:prstGeom xmlns:a="http://schemas.openxmlformats.org/drawingml/2006/main" prst="rect">
            <a:avLst/>
          </a:prstGeom>
          <a:solidFill xmlns:a="http://schemas.openxmlformats.org/drawingml/2006/main">
            <a:srgbClr val="D0EDFA"/>
          </a:solidFill>
          <a:ln xmlns:a="http://schemas.openxmlformats.org/drawingml/2006/main" w="0">
            <a:solidFill>
              <a:srgbClr val="D0EDFA"/>
            </a:solidFill>
            <a:prstDash val="solid"/>
          </a:ln>
        </p:spPr>
      </p:sp>
      <p:sp>
        <p:nvSpPr>
          <p:cNvPr id="7" name="market-bar-2">
            <a:extLst xmlns:a="http://schemas.openxmlformats.org/drawingml/2006/main">
              <a:ext uri="{FF2B5EF4-FFF2-40B4-BE49-F238E27FC236}">
                <a16:creationId xmlns:a16="http://schemas.microsoft.com/office/drawing/2014/main" id="{96E669F7-7094-4917-A5EC-37A45D14DB02}"/>
              </a:ext>
            </a:extLst>
          </p:cNvPr>
          <p:cNvSpPr>
            <a:spLocks xmlns:a="http://schemas.openxmlformats.org/drawingml/2006/main" noGrp="1"/>
          </p:cNvSpPr>
          <p:nvPr/>
        </p:nvSpPr>
        <p:spPr>
          <a:xfrm xmlns:a="http://schemas.openxmlformats.org/drawingml/2006/main">
            <a:off x="8963025" y="4724400"/>
            <a:ext cx="104775" cy="1181100"/>
          </a:xfrm>
          <a:prstGeom xmlns:a="http://schemas.openxmlformats.org/drawingml/2006/main" prst="rect">
            <a:avLst/>
          </a:prstGeom>
          <a:solidFill xmlns:a="http://schemas.openxmlformats.org/drawingml/2006/main">
            <a:srgbClr val="D0EDFA"/>
          </a:solidFill>
          <a:ln xmlns:a="http://schemas.openxmlformats.org/drawingml/2006/main" w="0">
            <a:solidFill>
              <a:srgbClr val="D0EDFA"/>
            </a:solidFill>
            <a:prstDash val="solid"/>
          </a:ln>
        </p:spPr>
      </p:sp>
      <p:sp>
        <p:nvSpPr>
          <p:cNvPr id="8" name="market-bar-3">
            <a:extLst xmlns:a="http://schemas.openxmlformats.org/drawingml/2006/main">
              <a:ext uri="{FF2B5EF4-FFF2-40B4-BE49-F238E27FC236}">
                <a16:creationId xmlns:a16="http://schemas.microsoft.com/office/drawing/2014/main" id="{52AD1955-1F39-4A04-BF65-313A5E9BECE1}"/>
              </a:ext>
            </a:extLst>
          </p:cNvPr>
          <p:cNvSpPr>
            <a:spLocks xmlns:a="http://schemas.openxmlformats.org/drawingml/2006/main" noGrp="1"/>
          </p:cNvSpPr>
          <p:nvPr/>
        </p:nvSpPr>
        <p:spPr>
          <a:xfrm xmlns:a="http://schemas.openxmlformats.org/drawingml/2006/main">
            <a:off x="9182100" y="4514850"/>
            <a:ext cx="104775" cy="1390650"/>
          </a:xfrm>
          <a:prstGeom xmlns:a="http://schemas.openxmlformats.org/drawingml/2006/main" prst="rect">
            <a:avLst/>
          </a:prstGeom>
          <a:solidFill xmlns:a="http://schemas.openxmlformats.org/drawingml/2006/main">
            <a:srgbClr val="D0EDFA"/>
          </a:solidFill>
          <a:ln xmlns:a="http://schemas.openxmlformats.org/drawingml/2006/main" w="0">
            <a:solidFill>
              <a:srgbClr val="D0EDFA"/>
            </a:solidFill>
            <a:prstDash val="solid"/>
          </a:ln>
        </p:spPr>
      </p:sp>
      <p:sp>
        <p:nvSpPr>
          <p:cNvPr id="9" name="market-bar-4">
            <a:extLst xmlns:a="http://schemas.openxmlformats.org/drawingml/2006/main">
              <a:ext uri="{FF2B5EF4-FFF2-40B4-BE49-F238E27FC236}">
                <a16:creationId xmlns:a16="http://schemas.microsoft.com/office/drawing/2014/main" id="{5ED23982-F0C2-4C87-9848-4A41BA4219A7}"/>
              </a:ext>
            </a:extLst>
          </p:cNvPr>
          <p:cNvSpPr>
            <a:spLocks xmlns:a="http://schemas.openxmlformats.org/drawingml/2006/main" noGrp="1"/>
          </p:cNvSpPr>
          <p:nvPr/>
        </p:nvSpPr>
        <p:spPr>
          <a:xfrm xmlns:a="http://schemas.openxmlformats.org/drawingml/2006/main">
            <a:off x="9401175" y="4305300"/>
            <a:ext cx="104775" cy="1600200"/>
          </a:xfrm>
          <a:prstGeom xmlns:a="http://schemas.openxmlformats.org/drawingml/2006/main" prst="rect">
            <a:avLst/>
          </a:prstGeom>
          <a:solidFill xmlns:a="http://schemas.openxmlformats.org/drawingml/2006/main">
            <a:srgbClr val="D0EDFA"/>
          </a:solidFill>
          <a:ln xmlns:a="http://schemas.openxmlformats.org/drawingml/2006/main" w="0">
            <a:solidFill>
              <a:srgbClr val="D0EDFA"/>
            </a:solidFill>
            <a:prstDash val="solid"/>
          </a:ln>
        </p:spPr>
      </p:sp>
      <p:sp>
        <p:nvSpPr>
          <p:cNvPr id="10" name="market-bar-5">
            <a:extLst xmlns:a="http://schemas.openxmlformats.org/drawingml/2006/main">
              <a:ext uri="{FF2B5EF4-FFF2-40B4-BE49-F238E27FC236}">
                <a16:creationId xmlns:a16="http://schemas.microsoft.com/office/drawing/2014/main" id="{DA5FC885-60EB-4FAB-B2E5-1689D90E1D06}"/>
              </a:ext>
            </a:extLst>
          </p:cNvPr>
          <p:cNvSpPr>
            <a:spLocks xmlns:a="http://schemas.openxmlformats.org/drawingml/2006/main" noGrp="1"/>
          </p:cNvSpPr>
          <p:nvPr/>
        </p:nvSpPr>
        <p:spPr>
          <a:xfrm xmlns:a="http://schemas.openxmlformats.org/drawingml/2006/main">
            <a:off x="9620250" y="4095750"/>
            <a:ext cx="104775" cy="1809750"/>
          </a:xfrm>
          <a:prstGeom xmlns:a="http://schemas.openxmlformats.org/drawingml/2006/main" prst="rect">
            <a:avLst/>
          </a:prstGeom>
          <a:solidFill xmlns:a="http://schemas.openxmlformats.org/drawingml/2006/main">
            <a:srgbClr val="D0EDFA"/>
          </a:solidFill>
          <a:ln xmlns:a="http://schemas.openxmlformats.org/drawingml/2006/main" w="0">
            <a:solidFill>
              <a:srgbClr val="D0EDFA"/>
            </a:solidFill>
            <a:prstDash val="solid"/>
          </a:ln>
        </p:spPr>
      </p:sp>
      <p:sp>
        <p:nvSpPr>
          <p:cNvPr id="11" name="market-bar-6">
            <a:extLst xmlns:a="http://schemas.openxmlformats.org/drawingml/2006/main">
              <a:ext uri="{FF2B5EF4-FFF2-40B4-BE49-F238E27FC236}">
                <a16:creationId xmlns:a16="http://schemas.microsoft.com/office/drawing/2014/main" id="{44F22880-AC50-4994-835C-232175FF31FD}"/>
              </a:ext>
            </a:extLst>
          </p:cNvPr>
          <p:cNvSpPr>
            <a:spLocks xmlns:a="http://schemas.openxmlformats.org/drawingml/2006/main" noGrp="1"/>
          </p:cNvSpPr>
          <p:nvPr/>
        </p:nvSpPr>
        <p:spPr>
          <a:xfrm xmlns:a="http://schemas.openxmlformats.org/drawingml/2006/main">
            <a:off x="9839325" y="3886200"/>
            <a:ext cx="104775" cy="2019300"/>
          </a:xfrm>
          <a:prstGeom xmlns:a="http://schemas.openxmlformats.org/drawingml/2006/main" prst="rect">
            <a:avLst/>
          </a:prstGeom>
          <a:solidFill xmlns:a="http://schemas.openxmlformats.org/drawingml/2006/main">
            <a:srgbClr val="D0EDFA"/>
          </a:solidFill>
          <a:ln xmlns:a="http://schemas.openxmlformats.org/drawingml/2006/main" w="0">
            <a:solidFill>
              <a:srgbClr val="D0EDFA"/>
            </a:solidFill>
            <a:prstDash val="solid"/>
          </a:ln>
        </p:spPr>
      </p:sp>
      <p:sp>
        <p:nvSpPr>
          <p:cNvPr id="12" name="market-bar-7">
            <a:extLst xmlns:a="http://schemas.openxmlformats.org/drawingml/2006/main">
              <a:ext uri="{FF2B5EF4-FFF2-40B4-BE49-F238E27FC236}">
                <a16:creationId xmlns:a16="http://schemas.microsoft.com/office/drawing/2014/main" id="{01B31B5F-37EB-4DB2-8576-56C1015F462C}"/>
              </a:ext>
            </a:extLst>
          </p:cNvPr>
          <p:cNvSpPr>
            <a:spLocks xmlns:a="http://schemas.openxmlformats.org/drawingml/2006/main" noGrp="1"/>
          </p:cNvSpPr>
          <p:nvPr/>
        </p:nvSpPr>
        <p:spPr>
          <a:xfrm xmlns:a="http://schemas.openxmlformats.org/drawingml/2006/main">
            <a:off x="10058400" y="3676650"/>
            <a:ext cx="104775" cy="22288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3" name="market-bar-8">
            <a:extLst xmlns:a="http://schemas.openxmlformats.org/drawingml/2006/main">
              <a:ext uri="{FF2B5EF4-FFF2-40B4-BE49-F238E27FC236}">
                <a16:creationId xmlns:a16="http://schemas.microsoft.com/office/drawing/2014/main" id="{3116F339-8061-4884-9CC3-DA7903378618}"/>
              </a:ext>
            </a:extLst>
          </p:cNvPr>
          <p:cNvSpPr>
            <a:spLocks xmlns:a="http://schemas.openxmlformats.org/drawingml/2006/main" noGrp="1"/>
          </p:cNvSpPr>
          <p:nvPr/>
        </p:nvSpPr>
        <p:spPr>
          <a:xfrm xmlns:a="http://schemas.openxmlformats.org/drawingml/2006/main">
            <a:off x="10277475" y="3467100"/>
            <a:ext cx="104775" cy="24384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4" name="market-bar-9">
            <a:extLst xmlns:a="http://schemas.openxmlformats.org/drawingml/2006/main">
              <a:ext uri="{FF2B5EF4-FFF2-40B4-BE49-F238E27FC236}">
                <a16:creationId xmlns:a16="http://schemas.microsoft.com/office/drawing/2014/main" id="{7D9C039A-A2C0-434F-A9CB-69CD401F3431}"/>
              </a:ext>
            </a:extLst>
          </p:cNvPr>
          <p:cNvSpPr>
            <a:spLocks xmlns:a="http://schemas.openxmlformats.org/drawingml/2006/main" noGrp="1"/>
          </p:cNvSpPr>
          <p:nvPr/>
        </p:nvSpPr>
        <p:spPr>
          <a:xfrm xmlns:a="http://schemas.openxmlformats.org/drawingml/2006/main">
            <a:off x="10496550" y="3257550"/>
            <a:ext cx="104775" cy="26479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5" name="market-bar-10">
            <a:extLst xmlns:a="http://schemas.openxmlformats.org/drawingml/2006/main">
              <a:ext uri="{FF2B5EF4-FFF2-40B4-BE49-F238E27FC236}">
                <a16:creationId xmlns:a16="http://schemas.microsoft.com/office/drawing/2014/main" id="{F08BE4BF-9042-4477-A5BB-9CB3030B5AA7}"/>
              </a:ext>
            </a:extLst>
          </p:cNvPr>
          <p:cNvSpPr>
            <a:spLocks xmlns:a="http://schemas.openxmlformats.org/drawingml/2006/main" noGrp="1"/>
          </p:cNvSpPr>
          <p:nvPr/>
        </p:nvSpPr>
        <p:spPr>
          <a:xfrm xmlns:a="http://schemas.openxmlformats.org/drawingml/2006/main">
            <a:off x="10715625" y="3048000"/>
            <a:ext cx="104775" cy="28575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6" name="text">
            <a:extLst xmlns:a="http://schemas.openxmlformats.org/drawingml/2006/main">
              <a:ext uri="{FF2B5EF4-FFF2-40B4-BE49-F238E27FC236}">
                <a16:creationId xmlns:a16="http://schemas.microsoft.com/office/drawing/2014/main" id="{F7215A59-CD07-45AE-B56B-FF6433EED384}"/>
              </a:ext>
            </a:extLst>
          </p:cNvPr>
          <p:cNvSpPr>
            <a:spLocks xmlns:a="http://schemas.openxmlformats.org/drawingml/2006/main" noGrp="1"/>
          </p:cNvSpPr>
          <p:nvPr/>
        </p:nvSpPr>
        <p:spPr>
          <a:xfrm xmlns:a="http://schemas.openxmlformats.org/drawingml/2006/main">
            <a:off x="8524875" y="609600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LIVE MARKET</a:t>
            </a:r>
          </a:p>
        </p:txBody>
      </p:sp>
    </p:spTree>
    <p:extLst>
      <p:ext uri="{BB962C8B-B14F-4D97-AF65-F5344CB8AC3E}">
        <p14:creationId xmlns:p14="http://schemas.microsoft.com/office/powerpoint/2010/main" val="2408832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ection-label">
            <a:extLst xmlns:a="http://schemas.openxmlformats.org/drawingml/2006/main">
              <a:ext uri="{FF2B5EF4-FFF2-40B4-BE49-F238E27FC236}">
                <a16:creationId xmlns:a16="http://schemas.microsoft.com/office/drawing/2014/main" id="{96B6956A-0E8B-4D38-8FA1-310A16F9C108}"/>
              </a:ext>
            </a:extLst>
          </p:cNvPr>
          <p:cNvSpPr>
            <a:spLocks xmlns:a="http://schemas.openxmlformats.org/drawingml/2006/main" noGrp="1"/>
          </p:cNvSpPr>
          <p:nvPr/>
        </p:nvSpPr>
        <p:spPr>
          <a:xfrm xmlns:a="http://schemas.openxmlformats.org/drawingml/2006/main">
            <a:off x="400050" y="2667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KIVA NARRATIVE ATTENTION</a:t>
            </a:r>
          </a:p>
        </p:txBody>
      </p:sp>
      <p:sp>
        <p:nvSpPr>
          <p:cNvPr id="2" name="slide-title">
            <a:extLst xmlns:a="http://schemas.openxmlformats.org/drawingml/2006/main">
              <a:ext uri="{FF2B5EF4-FFF2-40B4-BE49-F238E27FC236}">
                <a16:creationId xmlns:a16="http://schemas.microsoft.com/office/drawing/2014/main" id="{9690C2AA-A187-4344-B695-3E3D9F317128}"/>
              </a:ext>
            </a:extLst>
          </p:cNvPr>
          <p:cNvSpPr>
            <a:spLocks xmlns:a="http://schemas.openxmlformats.org/drawingml/2006/main" noGrp="1"/>
          </p:cNvSpPr>
          <p:nvPr/>
        </p:nvSpPr>
        <p:spPr>
          <a:xfrm xmlns:a="http://schemas.openxmlformats.org/drawingml/2006/main">
            <a:off x="400050" y="59055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Two candidate channels imply two different tests</a:t>
            </a:r>
          </a:p>
        </p:txBody>
      </p:sp>
      <p:sp>
        <p:nvSpPr>
          <p:cNvPr id="3" name="page-number">
            <a:extLst xmlns:a="http://schemas.openxmlformats.org/drawingml/2006/main">
              <a:ext uri="{FF2B5EF4-FFF2-40B4-BE49-F238E27FC236}">
                <a16:creationId xmlns:a16="http://schemas.microsoft.com/office/drawing/2014/main" id="{2F266DB1-536A-46AE-877D-67A06B02E38F}"/>
              </a:ext>
            </a:extLst>
          </p:cNvPr>
          <p:cNvSpPr>
            <a:spLocks xmlns:a="http://schemas.openxmlformats.org/drawingml/2006/main" noGrp="1"/>
          </p:cNvSpPr>
          <p:nvPr/>
        </p:nvSpPr>
        <p:spPr>
          <a:xfrm xmlns:a="http://schemas.openxmlformats.org/drawingml/2006/main">
            <a:off x="11277600" y="2667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02</a:t>
            </a:r>
          </a:p>
        </p:txBody>
      </p:sp>
      <p:sp>
        <p:nvSpPr>
          <p:cNvPr id="4" name="rule">
            <a:extLst xmlns:a="http://schemas.openxmlformats.org/drawingml/2006/main">
              <a:ext uri="{FF2B5EF4-FFF2-40B4-BE49-F238E27FC236}">
                <a16:creationId xmlns:a16="http://schemas.microsoft.com/office/drawing/2014/main" id="{FE6973A7-B4EE-4BDE-BF2D-B4D84C923419}"/>
              </a:ext>
            </a:extLst>
          </p:cNvPr>
          <p:cNvSpPr>
            <a:spLocks xmlns:a="http://schemas.openxmlformats.org/drawingml/2006/main" noGrp="1"/>
          </p:cNvSpPr>
          <p:nvPr/>
        </p:nvSpPr>
        <p:spPr>
          <a:xfrm xmlns:a="http://schemas.openxmlformats.org/drawingml/2006/main">
            <a:off x="6096000" y="1581150"/>
            <a:ext cx="9525" cy="422910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text">
            <a:extLst xmlns:a="http://schemas.openxmlformats.org/drawingml/2006/main">
              <a:ext uri="{FF2B5EF4-FFF2-40B4-BE49-F238E27FC236}">
                <a16:creationId xmlns:a16="http://schemas.microsoft.com/office/drawing/2014/main" id="{65D1740F-004A-4764-902F-6953D83BF726}"/>
              </a:ext>
            </a:extLst>
          </p:cNvPr>
          <p:cNvSpPr>
            <a:spLocks xmlns:a="http://schemas.openxmlformats.org/drawingml/2006/main" noGrp="1"/>
          </p:cNvSpPr>
          <p:nvPr/>
        </p:nvSpPr>
        <p:spPr>
          <a:xfrm xmlns:a="http://schemas.openxmlformats.org/drawingml/2006/main">
            <a:off x="400050" y="16192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CURRENT</a:t>
            </a:r>
          </a:p>
        </p:txBody>
      </p:sp>
      <p:sp>
        <p:nvSpPr>
          <p:cNvPr id="6" name="text">
            <a:extLst xmlns:a="http://schemas.openxmlformats.org/drawingml/2006/main">
              <a:ext uri="{FF2B5EF4-FFF2-40B4-BE49-F238E27FC236}">
                <a16:creationId xmlns:a16="http://schemas.microsoft.com/office/drawing/2014/main" id="{8B9C6FC2-A754-471C-B980-DA05AB40F904}"/>
              </a:ext>
            </a:extLst>
          </p:cNvPr>
          <p:cNvSpPr>
            <a:spLocks xmlns:a="http://schemas.openxmlformats.org/drawingml/2006/main" noGrp="1"/>
          </p:cNvSpPr>
          <p:nvPr/>
        </p:nvSpPr>
        <p:spPr>
          <a:xfrm xmlns:a="http://schemas.openxmlformats.org/drawingml/2006/main">
            <a:off x="400050" y="2000250"/>
            <a:ext cx="4476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550" b="1">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Many live alternatives</a:t>
            </a:r>
          </a:p>
          <a:p xmlns:a="http://schemas.openxmlformats.org/drawingml/2006/main">
            <a:pPr algn="l">
              <a:defRPr sz="2550" b="1">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 similar stories</a:t>
            </a:r>
          </a:p>
        </p:txBody>
      </p:sp>
      <p:sp>
        <p:nvSpPr>
          <p:cNvPr id="7" name="text">
            <a:extLst xmlns:a="http://schemas.openxmlformats.org/drawingml/2006/main">
              <a:ext uri="{FF2B5EF4-FFF2-40B4-BE49-F238E27FC236}">
                <a16:creationId xmlns:a16="http://schemas.microsoft.com/office/drawing/2014/main" id="{B2E4D235-6C43-44C1-9EEC-802137E260C4}"/>
              </a:ext>
            </a:extLst>
          </p:cNvPr>
          <p:cNvSpPr>
            <a:spLocks xmlns:a="http://schemas.openxmlformats.org/drawingml/2006/main" noGrp="1"/>
          </p:cNvSpPr>
          <p:nvPr/>
        </p:nvSpPr>
        <p:spPr>
          <a:xfrm xmlns:a="http://schemas.openxmlformats.org/drawingml/2006/main">
            <a:off x="400050" y="3219450"/>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334155"/>
                </a:solidFill>
                <a:latin typeface="Helvetica Neue"/>
                <a:ea typeface="Helvetica Neue"/>
                <a:cs typeface="Helvetica Neue"/>
              </a:defRPr>
            </a:pPr>
            <a:r>
              <a:rPr sz="1425" b="0">
                <a:solidFill>
                  <a:srgbClr val="334155"/>
                </a:solidFill>
                <a:latin typeface="Helvetica Neue"/>
                <a:ea typeface="Helvetica Neue"/>
                <a:cs typeface="Helvetica Neue"/>
              </a:rPr>
              <a:t>Active saturation asks what a lender could choose at the focal loan’s posting moment.</a:t>
            </a:r>
          </a:p>
        </p:txBody>
      </p:sp>
      <p:sp>
        <p:nvSpPr>
          <p:cNvPr id="8" name="current-action">
            <a:extLst xmlns:a="http://schemas.openxmlformats.org/drawingml/2006/main">
              <a:ext uri="{FF2B5EF4-FFF2-40B4-BE49-F238E27FC236}">
                <a16:creationId xmlns:a16="http://schemas.microsoft.com/office/drawing/2014/main" id="{5A170DCE-982F-431C-81D4-CCB974A41E2C}"/>
              </a:ext>
            </a:extLst>
          </p:cNvPr>
          <p:cNvSpPr>
            <a:spLocks xmlns:a="http://schemas.openxmlformats.org/drawingml/2006/main" noGrp="1"/>
          </p:cNvSpPr>
          <p:nvPr/>
        </p:nvSpPr>
        <p:spPr>
          <a:xfrm xmlns:a="http://schemas.openxmlformats.org/drawingml/2006/main">
            <a:off x="400050" y="4362450"/>
            <a:ext cx="4914900" cy="1123950"/>
          </a:xfrm>
          <a:prstGeom xmlns:a="http://schemas.openxmlformats.org/drawingml/2006/main" prst="rect">
            <a:avLst/>
          </a:prstGeom>
          <a:solidFill xmlns:a="http://schemas.openxmlformats.org/drawingml/2006/main">
            <a:srgbClr val="D0EDFA"/>
          </a:solidFill>
          <a:ln xmlns:a="http://schemas.openxmlformats.org/drawingml/2006/main" w="0">
            <a:solidFill>
              <a:srgbClr val="D0EDFA"/>
            </a:solidFill>
            <a:prstDash val="solid"/>
          </a:ln>
        </p:spPr>
      </p:sp>
      <p:sp>
        <p:nvSpPr>
          <p:cNvPr id="9" name="text">
            <a:extLst xmlns:a="http://schemas.openxmlformats.org/drawingml/2006/main">
              <a:ext uri="{FF2B5EF4-FFF2-40B4-BE49-F238E27FC236}">
                <a16:creationId xmlns:a16="http://schemas.microsoft.com/office/drawing/2014/main" id="{89078800-0ACF-4C9D-B790-123BF77467E7}"/>
              </a:ext>
            </a:extLst>
          </p:cNvPr>
          <p:cNvSpPr>
            <a:spLocks xmlns:a="http://schemas.openxmlformats.org/drawingml/2006/main" noGrp="1"/>
          </p:cNvSpPr>
          <p:nvPr/>
        </p:nvSpPr>
        <p:spPr>
          <a:xfrm xmlns:a="http://schemas.openxmlformats.org/drawingml/2006/main">
            <a:off x="628650" y="4562475"/>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TEST</a:t>
            </a:r>
          </a:p>
        </p:txBody>
      </p:sp>
      <p:sp>
        <p:nvSpPr>
          <p:cNvPr id="10" name="text">
            <a:extLst xmlns:a="http://schemas.openxmlformats.org/drawingml/2006/main">
              <a:ext uri="{FF2B5EF4-FFF2-40B4-BE49-F238E27FC236}">
                <a16:creationId xmlns:a16="http://schemas.microsoft.com/office/drawing/2014/main" id="{D4C1288B-7BF7-4425-9562-1FEC2D997B91}"/>
              </a:ext>
            </a:extLst>
          </p:cNvPr>
          <p:cNvSpPr>
            <a:spLocks xmlns:a="http://schemas.openxmlformats.org/drawingml/2006/main" noGrp="1"/>
          </p:cNvSpPr>
          <p:nvPr/>
        </p:nvSpPr>
        <p:spPr>
          <a:xfrm xmlns:a="http://schemas.openxmlformats.org/drawingml/2006/main">
            <a:off x="628650" y="4886325"/>
            <a:ext cx="419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00"/>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Listing cadence + exposure mix</a:t>
            </a:r>
          </a:p>
        </p:txBody>
      </p:sp>
      <p:sp>
        <p:nvSpPr>
          <p:cNvPr id="11" name="text">
            <a:extLst xmlns:a="http://schemas.openxmlformats.org/drawingml/2006/main">
              <a:ext uri="{FF2B5EF4-FFF2-40B4-BE49-F238E27FC236}">
                <a16:creationId xmlns:a16="http://schemas.microsoft.com/office/drawing/2014/main" id="{50D24E3E-F701-4660-8569-E2361AFC5D6F}"/>
              </a:ext>
            </a:extLst>
          </p:cNvPr>
          <p:cNvSpPr>
            <a:spLocks xmlns:a="http://schemas.openxmlformats.org/drawingml/2006/main" noGrp="1"/>
          </p:cNvSpPr>
          <p:nvPr/>
        </p:nvSpPr>
        <p:spPr>
          <a:xfrm xmlns:a="http://schemas.openxmlformats.org/drawingml/2006/main">
            <a:off x="6553200" y="16192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E5A93D"/>
                </a:solidFill>
                <a:latin typeface="Helvetica Neue"/>
                <a:ea typeface="Helvetica Neue"/>
                <a:cs typeface="Helvetica Neue"/>
              </a:defRPr>
            </a:pPr>
            <a:r>
              <a:rPr sz="1200" b="1">
                <a:solidFill>
                  <a:srgbClr val="E5A93D"/>
                </a:solidFill>
                <a:latin typeface="Helvetica Neue"/>
                <a:ea typeface="Helvetica Neue"/>
                <a:cs typeface="Helvetica Neue"/>
              </a:rPr>
              <a:t>RECENT-LISTING PROXY</a:t>
            </a:r>
          </a:p>
        </p:txBody>
      </p:sp>
      <p:sp>
        <p:nvSpPr>
          <p:cNvPr id="12" name="text">
            <a:extLst xmlns:a="http://schemas.openxmlformats.org/drawingml/2006/main">
              <a:ext uri="{FF2B5EF4-FFF2-40B4-BE49-F238E27FC236}">
                <a16:creationId xmlns:a16="http://schemas.microsoft.com/office/drawing/2014/main" id="{7D2987F7-2454-495C-BA67-46EE4939173C}"/>
              </a:ext>
            </a:extLst>
          </p:cNvPr>
          <p:cNvSpPr>
            <a:spLocks xmlns:a="http://schemas.openxmlformats.org/drawingml/2006/main" noGrp="1"/>
          </p:cNvSpPr>
          <p:nvPr/>
        </p:nvSpPr>
        <p:spPr>
          <a:xfrm xmlns:a="http://schemas.openxmlformats.org/drawingml/2006/main">
            <a:off x="6553200" y="2000250"/>
            <a:ext cx="4476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550" b="1">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Similar same-sector posts</a:t>
            </a:r>
          </a:p>
          <a:p xmlns:a="http://schemas.openxmlformats.org/drawingml/2006/main">
            <a:pPr algn="l">
              <a:defRPr sz="2550" b="1">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35–65 days earlier</a:t>
            </a:r>
          </a:p>
        </p:txBody>
      </p:sp>
      <p:sp>
        <p:nvSpPr>
          <p:cNvPr id="13" name="text">
            <a:extLst xmlns:a="http://schemas.openxmlformats.org/drawingml/2006/main">
              <a:ext uri="{FF2B5EF4-FFF2-40B4-BE49-F238E27FC236}">
                <a16:creationId xmlns:a16="http://schemas.microsoft.com/office/drawing/2014/main" id="{1210E05C-ECD5-4B32-9ACA-105A855B3A9E}"/>
              </a:ext>
            </a:extLst>
          </p:cNvPr>
          <p:cNvSpPr>
            <a:spLocks xmlns:a="http://schemas.openxmlformats.org/drawingml/2006/main" noGrp="1"/>
          </p:cNvSpPr>
          <p:nvPr/>
        </p:nvSpPr>
        <p:spPr>
          <a:xfrm xmlns:a="http://schemas.openxmlformats.org/drawingml/2006/main">
            <a:off x="6553200" y="3219450"/>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334155"/>
                </a:solidFill>
                <a:latin typeface="Helvetica Neue"/>
                <a:ea typeface="Helvetica Neue"/>
                <a:cs typeface="Helvetica Neue"/>
              </a:defRPr>
            </a:pPr>
            <a:r>
              <a:rPr sz="1425" b="0">
                <a:solidFill>
                  <a:srgbClr val="334155"/>
                </a:solidFill>
                <a:latin typeface="Helvetica Neue"/>
                <a:ea typeface="Helvetica Neue"/>
                <a:cs typeface="Helvetica Neue"/>
              </a:rPr>
              <a:t>A posting-age lexical proxy tests wear-out without observing exposure, page exit or memory.</a:t>
            </a:r>
          </a:p>
        </p:txBody>
      </p:sp>
      <p:sp>
        <p:nvSpPr>
          <p:cNvPr id="14" name="recent-action">
            <a:extLst xmlns:a="http://schemas.openxmlformats.org/drawingml/2006/main">
              <a:ext uri="{FF2B5EF4-FFF2-40B4-BE49-F238E27FC236}">
                <a16:creationId xmlns:a16="http://schemas.microsoft.com/office/drawing/2014/main" id="{80794AEA-6FF7-4E80-8A7D-9BE8D77BF2B9}"/>
              </a:ext>
            </a:extLst>
          </p:cNvPr>
          <p:cNvSpPr>
            <a:spLocks xmlns:a="http://schemas.openxmlformats.org/drawingml/2006/main" noGrp="1"/>
          </p:cNvSpPr>
          <p:nvPr/>
        </p:nvSpPr>
        <p:spPr>
          <a:xfrm xmlns:a="http://schemas.openxmlformats.org/drawingml/2006/main">
            <a:off x="6553200" y="4362450"/>
            <a:ext cx="4914900" cy="1123950"/>
          </a:xfrm>
          <a:prstGeom xmlns:a="http://schemas.openxmlformats.org/drawingml/2006/main" prst="rect">
            <a:avLst/>
          </a:prstGeom>
          <a:solidFill xmlns:a="http://schemas.openxmlformats.org/drawingml/2006/main">
            <a:srgbClr val="F8EED8"/>
          </a:solidFill>
          <a:ln xmlns:a="http://schemas.openxmlformats.org/drawingml/2006/main" w="0">
            <a:solidFill>
              <a:srgbClr val="F8EED8"/>
            </a:solidFill>
            <a:prstDash val="solid"/>
          </a:ln>
        </p:spPr>
      </p:sp>
      <p:sp>
        <p:nvSpPr>
          <p:cNvPr id="15" name="text">
            <a:extLst xmlns:a="http://schemas.openxmlformats.org/drawingml/2006/main">
              <a:ext uri="{FF2B5EF4-FFF2-40B4-BE49-F238E27FC236}">
                <a16:creationId xmlns:a16="http://schemas.microsoft.com/office/drawing/2014/main" id="{AF2918BB-5AC0-45AB-A0DD-90477D881D3E}"/>
              </a:ext>
            </a:extLst>
          </p:cNvPr>
          <p:cNvSpPr>
            <a:spLocks xmlns:a="http://schemas.openxmlformats.org/drawingml/2006/main" noGrp="1"/>
          </p:cNvSpPr>
          <p:nvPr/>
        </p:nvSpPr>
        <p:spPr>
          <a:xfrm xmlns:a="http://schemas.openxmlformats.org/drawingml/2006/main">
            <a:off x="6781800" y="4562475"/>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p xmlns:a="http://schemas.openxmlformats.org/drawingml/2006/main">
            <a:pPr algn="l">
              <a:defRPr sz="1125" b="1">
                <a:solidFill>
                  <a:srgbClr val="E5A93D"/>
                </a:solidFill>
                <a:latin typeface="Helvetica Neue"/>
                <a:ea typeface="Helvetica Neue"/>
                <a:cs typeface="Helvetica Neue"/>
              </a:defRPr>
            </a:pPr>
            <a:r>
              <a:rPr sz="1125" b="1">
                <a:solidFill>
                  <a:srgbClr val="E5A93D"/>
                </a:solidFill>
                <a:latin typeface="Helvetica Neue"/>
                <a:ea typeface="Helvetica Neue"/>
                <a:cs typeface="Helvetica Neue"/>
              </a:rPr>
              <a:t>TEST</a:t>
            </a:r>
          </a:p>
        </p:txBody>
      </p:sp>
      <p:sp>
        <p:nvSpPr>
          <p:cNvPr id="16" name="text">
            <a:extLst xmlns:a="http://schemas.openxmlformats.org/drawingml/2006/main">
              <a:ext uri="{FF2B5EF4-FFF2-40B4-BE49-F238E27FC236}">
                <a16:creationId xmlns:a16="http://schemas.microsoft.com/office/drawing/2014/main" id="{E87AD703-9835-4DAA-8E70-A73DB172C926}"/>
              </a:ext>
            </a:extLst>
          </p:cNvPr>
          <p:cNvSpPr>
            <a:spLocks xmlns:a="http://schemas.openxmlformats.org/drawingml/2006/main" noGrp="1"/>
          </p:cNvSpPr>
          <p:nvPr/>
        </p:nvSpPr>
        <p:spPr>
          <a:xfrm xmlns:a="http://schemas.openxmlformats.org/drawingml/2006/main">
            <a:off x="6781800" y="4886325"/>
            <a:ext cx="419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00"/>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Editorial refresh + templates</a:t>
            </a:r>
          </a:p>
        </p:txBody>
      </p:sp>
      <p:sp>
        <p:nvSpPr>
          <p:cNvPr id="17" name="rule">
            <a:extLst xmlns:a="http://schemas.openxmlformats.org/drawingml/2006/main">
              <a:ext uri="{FF2B5EF4-FFF2-40B4-BE49-F238E27FC236}">
                <a16:creationId xmlns:a16="http://schemas.microsoft.com/office/drawing/2014/main" id="{7CB56A47-4CFB-4FEF-9377-6FD6A9A98DE3}"/>
              </a:ext>
            </a:extLst>
          </p:cNvPr>
          <p:cNvSpPr>
            <a:spLocks xmlns:a="http://schemas.openxmlformats.org/drawingml/2006/main" noGrp="1"/>
          </p:cNvSpPr>
          <p:nvPr/>
        </p:nvSpPr>
        <p:spPr>
          <a:xfrm xmlns:a="http://schemas.openxmlformats.org/drawingml/2006/main">
            <a:off x="400050" y="643890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8" name="source-footer">
            <a:extLst xmlns:a="http://schemas.openxmlformats.org/drawingml/2006/main">
              <a:ext uri="{FF2B5EF4-FFF2-40B4-BE49-F238E27FC236}">
                <a16:creationId xmlns:a16="http://schemas.microsoft.com/office/drawing/2014/main" id="{5257B4EA-5170-4DE3-B52E-121D38859DC9}"/>
              </a:ext>
            </a:extLst>
          </p:cNvPr>
          <p:cNvSpPr>
            <a:spLocks xmlns:a="http://schemas.openxmlformats.org/drawingml/2006/main" noGrp="1"/>
          </p:cNvSpPr>
          <p:nvPr/>
        </p:nvSpPr>
        <p:spPr>
          <a:xfrm xmlns:a="http://schemas.openxmlformats.org/drawingml/2006/main">
            <a:off x="400050" y="651510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l">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Research design from the finalist proposal; definitions frozen before outcome modelling.</a:t>
            </a:r>
          </a:p>
        </p:txBody>
      </p:sp>
      <p:sp>
        <p:nvSpPr>
          <p:cNvPr id="19" name="team-footer">
            <a:extLst xmlns:a="http://schemas.openxmlformats.org/drawingml/2006/main">
              <a:ext uri="{FF2B5EF4-FFF2-40B4-BE49-F238E27FC236}">
                <a16:creationId xmlns:a16="http://schemas.microsoft.com/office/drawing/2014/main" id="{DC515C9A-EF01-4C2D-9B91-46C05013292E}"/>
              </a:ext>
            </a:extLst>
          </p:cNvPr>
          <p:cNvSpPr>
            <a:spLocks xmlns:a="http://schemas.openxmlformats.org/drawingml/2006/main" noGrp="1"/>
          </p:cNvSpPr>
          <p:nvPr/>
        </p:nvSpPr>
        <p:spPr>
          <a:xfrm xmlns:a="http://schemas.openxmlformats.org/drawingml/2006/main">
            <a:off x="10325100" y="651510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r">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5 GUYS · 02</a:t>
            </a:r>
          </a:p>
        </p:txBody>
      </p:sp>
    </p:spTree>
    <p:extLst>
      <p:ext uri="{BB962C8B-B14F-4D97-AF65-F5344CB8AC3E}">
        <p14:creationId xmlns:p14="http://schemas.microsoft.com/office/powerpoint/2010/main" val="20044127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26903F50-FE01-41DA-8CCC-55055A6D80F0}"/>
              </a:ext>
            </a:extLst>
          </p:cNvPr>
          <p:cNvSpPr>
            <a:spLocks xmlns:a="http://schemas.openxmlformats.org/drawingml/2006/main" noGrp="1"/>
          </p:cNvSpPr>
          <p:nvPr/>
        </p:nvSpPr>
        <p:spPr>
          <a:xfrm xmlns:a="http://schemas.openxmlformats.org/drawingml/2006/main">
            <a:off x="400050" y="2667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KIVA NARRATIVE ATTENTION</a:t>
            </a:r>
          </a:p>
        </p:txBody>
      </p:sp>
      <p:sp>
        <p:nvSpPr>
          <p:cNvPr id="2" name="slide-title">
            <a:extLst xmlns:a="http://schemas.openxmlformats.org/drawingml/2006/main">
              <a:ext uri="{FF2B5EF4-FFF2-40B4-BE49-F238E27FC236}">
                <a16:creationId xmlns:a16="http://schemas.microsoft.com/office/drawing/2014/main" id="{D3AC9D56-E2BC-4E8A-B492-AC16D47BC860}"/>
              </a:ext>
            </a:extLst>
          </p:cNvPr>
          <p:cNvSpPr>
            <a:spLocks xmlns:a="http://schemas.openxmlformats.org/drawingml/2006/main" noGrp="1"/>
          </p:cNvSpPr>
          <p:nvPr/>
        </p:nvSpPr>
        <p:spPr>
          <a:xfrm xmlns:a="http://schemas.openxmlformats.org/drawingml/2006/main">
            <a:off x="400050" y="59055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271"/>
          </a:bodyPr>
          <a:lstStyle xmlns:a="http://schemas.openxmlformats.org/drawingml/2006/main"/>
          <a:p xmlns:a="http://schemas.openxmlformats.org/drawingml/2006/main">
            <a:pPr algn="l">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1.23 million training loans reconstruct each listing’s market at posting</a:t>
            </a:r>
          </a:p>
        </p:txBody>
      </p:sp>
      <p:sp>
        <p:nvSpPr>
          <p:cNvPr id="3" name="page-number">
            <a:extLst xmlns:a="http://schemas.openxmlformats.org/drawingml/2006/main">
              <a:ext uri="{FF2B5EF4-FFF2-40B4-BE49-F238E27FC236}">
                <a16:creationId xmlns:a16="http://schemas.microsoft.com/office/drawing/2014/main" id="{4F6132C4-D513-442B-8E57-0C740A8ACA5D}"/>
              </a:ext>
            </a:extLst>
          </p:cNvPr>
          <p:cNvSpPr>
            <a:spLocks xmlns:a="http://schemas.openxmlformats.org/drawingml/2006/main" noGrp="1"/>
          </p:cNvSpPr>
          <p:nvPr/>
        </p:nvSpPr>
        <p:spPr>
          <a:xfrm xmlns:a="http://schemas.openxmlformats.org/drawingml/2006/main">
            <a:off x="11277600" y="2667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03</a:t>
            </a:r>
          </a:p>
        </p:txBody>
      </p:sp>
      <p:sp>
        <p:nvSpPr>
          <p:cNvPr id="4" name="text">
            <a:extLst xmlns:a="http://schemas.openxmlformats.org/drawingml/2006/main">
              <a:ext uri="{FF2B5EF4-FFF2-40B4-BE49-F238E27FC236}">
                <a16:creationId xmlns:a16="http://schemas.microsoft.com/office/drawing/2014/main" id="{C8203B70-0F45-4092-BCDA-005769553FA4}"/>
              </a:ext>
            </a:extLst>
          </p:cNvPr>
          <p:cNvSpPr>
            <a:spLocks xmlns:a="http://schemas.openxmlformats.org/drawingml/2006/main" noGrp="1"/>
          </p:cNvSpPr>
          <p:nvPr/>
        </p:nvSpPr>
        <p:spPr>
          <a:xfrm xmlns:a="http://schemas.openxmlformats.org/drawingml/2006/main">
            <a:off x="552450" y="17335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2016</a:t>
            </a:r>
          </a:p>
        </p:txBody>
      </p:sp>
      <p:sp>
        <p:nvSpPr>
          <p:cNvPr id="5" name="text">
            <a:extLst xmlns:a="http://schemas.openxmlformats.org/drawingml/2006/main">
              <a:ext uri="{FF2B5EF4-FFF2-40B4-BE49-F238E27FC236}">
                <a16:creationId xmlns:a16="http://schemas.microsoft.com/office/drawing/2014/main" id="{642B5220-E34B-48AF-83D7-3409E16B4396}"/>
              </a:ext>
            </a:extLst>
          </p:cNvPr>
          <p:cNvSpPr>
            <a:spLocks xmlns:a="http://schemas.openxmlformats.org/drawingml/2006/main" noGrp="1"/>
          </p:cNvSpPr>
          <p:nvPr/>
        </p:nvSpPr>
        <p:spPr>
          <a:xfrm xmlns:a="http://schemas.openxmlformats.org/drawingml/2006/main">
            <a:off x="7429500" y="17335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r">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2024</a:t>
            </a:r>
          </a:p>
        </p:txBody>
      </p:sp>
      <p:sp>
        <p:nvSpPr>
          <p:cNvPr id="6" name="rule">
            <a:extLst xmlns:a="http://schemas.openxmlformats.org/drawingml/2006/main">
              <a:ext uri="{FF2B5EF4-FFF2-40B4-BE49-F238E27FC236}">
                <a16:creationId xmlns:a16="http://schemas.microsoft.com/office/drawing/2014/main" id="{1F6A0AAA-617A-40C8-83B6-9852DB276A14}"/>
              </a:ext>
            </a:extLst>
          </p:cNvPr>
          <p:cNvSpPr>
            <a:spLocks xmlns:a="http://schemas.openxmlformats.org/drawingml/2006/main" noGrp="1"/>
          </p:cNvSpPr>
          <p:nvPr/>
        </p:nvSpPr>
        <p:spPr>
          <a:xfrm xmlns:a="http://schemas.openxmlformats.org/drawingml/2006/main">
            <a:off x="876300" y="2133600"/>
            <a:ext cx="6667500" cy="28575"/>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7" name="panel">
            <a:extLst xmlns:a="http://schemas.openxmlformats.org/drawingml/2006/main">
              <a:ext uri="{FF2B5EF4-FFF2-40B4-BE49-F238E27FC236}">
                <a16:creationId xmlns:a16="http://schemas.microsoft.com/office/drawing/2014/main" id="{B9D1F4AE-A4C3-44B8-BC12-884319E6DB8E}"/>
              </a:ext>
            </a:extLst>
          </p:cNvPr>
          <p:cNvSpPr>
            <a:spLocks xmlns:a="http://schemas.openxmlformats.org/drawingml/2006/main" noGrp="1"/>
          </p:cNvSpPr>
          <p:nvPr/>
        </p:nvSpPr>
        <p:spPr>
          <a:xfrm xmlns:a="http://schemas.openxmlformats.org/drawingml/2006/main">
            <a:off x="857250" y="2057400"/>
            <a:ext cx="152400" cy="1524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8" name="panel">
            <a:extLst xmlns:a="http://schemas.openxmlformats.org/drawingml/2006/main">
              <a:ext uri="{FF2B5EF4-FFF2-40B4-BE49-F238E27FC236}">
                <a16:creationId xmlns:a16="http://schemas.microsoft.com/office/drawing/2014/main" id="{85167407-B853-4E73-8456-D43C06A62AF8}"/>
              </a:ext>
            </a:extLst>
          </p:cNvPr>
          <p:cNvSpPr>
            <a:spLocks xmlns:a="http://schemas.openxmlformats.org/drawingml/2006/main" noGrp="1"/>
          </p:cNvSpPr>
          <p:nvPr/>
        </p:nvSpPr>
        <p:spPr>
          <a:xfrm xmlns:a="http://schemas.openxmlformats.org/drawingml/2006/main">
            <a:off x="1690688" y="2057400"/>
            <a:ext cx="152400" cy="1524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9" name="panel">
            <a:extLst xmlns:a="http://schemas.openxmlformats.org/drawingml/2006/main">
              <a:ext uri="{FF2B5EF4-FFF2-40B4-BE49-F238E27FC236}">
                <a16:creationId xmlns:a16="http://schemas.microsoft.com/office/drawing/2014/main" id="{460890DC-12C5-4231-9C72-DDE60DC8DFDC}"/>
              </a:ext>
            </a:extLst>
          </p:cNvPr>
          <p:cNvSpPr>
            <a:spLocks xmlns:a="http://schemas.openxmlformats.org/drawingml/2006/main" noGrp="1"/>
          </p:cNvSpPr>
          <p:nvPr/>
        </p:nvSpPr>
        <p:spPr>
          <a:xfrm xmlns:a="http://schemas.openxmlformats.org/drawingml/2006/main">
            <a:off x="2524125" y="2057400"/>
            <a:ext cx="152400" cy="1524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0" name="panel">
            <a:extLst xmlns:a="http://schemas.openxmlformats.org/drawingml/2006/main">
              <a:ext uri="{FF2B5EF4-FFF2-40B4-BE49-F238E27FC236}">
                <a16:creationId xmlns:a16="http://schemas.microsoft.com/office/drawing/2014/main" id="{A03C234A-5866-4209-93B9-0AB850FD721B}"/>
              </a:ext>
            </a:extLst>
          </p:cNvPr>
          <p:cNvSpPr>
            <a:spLocks xmlns:a="http://schemas.openxmlformats.org/drawingml/2006/main" noGrp="1"/>
          </p:cNvSpPr>
          <p:nvPr/>
        </p:nvSpPr>
        <p:spPr>
          <a:xfrm xmlns:a="http://schemas.openxmlformats.org/drawingml/2006/main">
            <a:off x="3357563" y="2057400"/>
            <a:ext cx="152400" cy="1524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1" name="panel">
            <a:extLst xmlns:a="http://schemas.openxmlformats.org/drawingml/2006/main">
              <a:ext uri="{FF2B5EF4-FFF2-40B4-BE49-F238E27FC236}">
                <a16:creationId xmlns:a16="http://schemas.microsoft.com/office/drawing/2014/main" id="{13265B7D-DD5B-4760-916D-610E47F6BC61}"/>
              </a:ext>
            </a:extLst>
          </p:cNvPr>
          <p:cNvSpPr>
            <a:spLocks xmlns:a="http://schemas.openxmlformats.org/drawingml/2006/main" noGrp="1"/>
          </p:cNvSpPr>
          <p:nvPr/>
        </p:nvSpPr>
        <p:spPr>
          <a:xfrm xmlns:a="http://schemas.openxmlformats.org/drawingml/2006/main">
            <a:off x="4191000" y="2057400"/>
            <a:ext cx="152400" cy="1524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2" name="panel">
            <a:extLst xmlns:a="http://schemas.openxmlformats.org/drawingml/2006/main">
              <a:ext uri="{FF2B5EF4-FFF2-40B4-BE49-F238E27FC236}">
                <a16:creationId xmlns:a16="http://schemas.microsoft.com/office/drawing/2014/main" id="{624BCEDB-FCF7-443D-A34F-17E5700A80CD}"/>
              </a:ext>
            </a:extLst>
          </p:cNvPr>
          <p:cNvSpPr>
            <a:spLocks xmlns:a="http://schemas.openxmlformats.org/drawingml/2006/main" noGrp="1"/>
          </p:cNvSpPr>
          <p:nvPr/>
        </p:nvSpPr>
        <p:spPr>
          <a:xfrm xmlns:a="http://schemas.openxmlformats.org/drawingml/2006/main">
            <a:off x="5024438" y="2057400"/>
            <a:ext cx="152400" cy="1524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3" name="panel">
            <a:extLst xmlns:a="http://schemas.openxmlformats.org/drawingml/2006/main">
              <a:ext uri="{FF2B5EF4-FFF2-40B4-BE49-F238E27FC236}">
                <a16:creationId xmlns:a16="http://schemas.microsoft.com/office/drawing/2014/main" id="{878E844C-F905-4E14-B620-73C1B0943A02}"/>
              </a:ext>
            </a:extLst>
          </p:cNvPr>
          <p:cNvSpPr>
            <a:spLocks xmlns:a="http://schemas.openxmlformats.org/drawingml/2006/main" noGrp="1"/>
          </p:cNvSpPr>
          <p:nvPr/>
        </p:nvSpPr>
        <p:spPr>
          <a:xfrm xmlns:a="http://schemas.openxmlformats.org/drawingml/2006/main">
            <a:off x="5857875" y="2057400"/>
            <a:ext cx="152400" cy="1524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4" name="panel">
            <a:extLst xmlns:a="http://schemas.openxmlformats.org/drawingml/2006/main">
              <a:ext uri="{FF2B5EF4-FFF2-40B4-BE49-F238E27FC236}">
                <a16:creationId xmlns:a16="http://schemas.microsoft.com/office/drawing/2014/main" id="{615C673D-F685-4428-BE99-79AF3323BFD7}"/>
              </a:ext>
            </a:extLst>
          </p:cNvPr>
          <p:cNvSpPr>
            <a:spLocks xmlns:a="http://schemas.openxmlformats.org/drawingml/2006/main" noGrp="1"/>
          </p:cNvSpPr>
          <p:nvPr/>
        </p:nvSpPr>
        <p:spPr>
          <a:xfrm xmlns:a="http://schemas.openxmlformats.org/drawingml/2006/main">
            <a:off x="6691313" y="2057400"/>
            <a:ext cx="152400" cy="1524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5" name="panel">
            <a:extLst xmlns:a="http://schemas.openxmlformats.org/drawingml/2006/main">
              <a:ext uri="{FF2B5EF4-FFF2-40B4-BE49-F238E27FC236}">
                <a16:creationId xmlns:a16="http://schemas.microsoft.com/office/drawing/2014/main" id="{C8D94E15-01BE-416F-BE83-DE76CE053D7F}"/>
              </a:ext>
            </a:extLst>
          </p:cNvPr>
          <p:cNvSpPr>
            <a:spLocks xmlns:a="http://schemas.openxmlformats.org/drawingml/2006/main" noGrp="1"/>
          </p:cNvSpPr>
          <p:nvPr/>
        </p:nvSpPr>
        <p:spPr>
          <a:xfrm xmlns:a="http://schemas.openxmlformats.org/drawingml/2006/main">
            <a:off x="7524750" y="2057400"/>
            <a:ext cx="152400" cy="1524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6" name="text">
            <a:extLst xmlns:a="http://schemas.openxmlformats.org/drawingml/2006/main">
              <a:ext uri="{FF2B5EF4-FFF2-40B4-BE49-F238E27FC236}">
                <a16:creationId xmlns:a16="http://schemas.microsoft.com/office/drawing/2014/main" id="{48AD3757-F0E2-44D1-8B37-0BFE6C586CCC}"/>
              </a:ext>
            </a:extLst>
          </p:cNvPr>
          <p:cNvSpPr>
            <a:spLocks xmlns:a="http://schemas.openxmlformats.org/drawingml/2006/main" noGrp="1"/>
          </p:cNvSpPr>
          <p:nvPr/>
        </p:nvSpPr>
        <p:spPr>
          <a:xfrm xmlns:a="http://schemas.openxmlformats.org/drawingml/2006/main">
            <a:off x="876300" y="24193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619"/>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FIT</a:t>
            </a:r>
          </a:p>
        </p:txBody>
      </p:sp>
      <p:sp>
        <p:nvSpPr>
          <p:cNvPr id="17" name="text">
            <a:extLst xmlns:a="http://schemas.openxmlformats.org/drawingml/2006/main">
              <a:ext uri="{FF2B5EF4-FFF2-40B4-BE49-F238E27FC236}">
                <a16:creationId xmlns:a16="http://schemas.microsoft.com/office/drawing/2014/main" id="{FB7E397C-F250-48C3-9172-17C67BE0FF4A}"/>
              </a:ext>
            </a:extLst>
          </p:cNvPr>
          <p:cNvSpPr>
            <a:spLocks xmlns:a="http://schemas.openxmlformats.org/drawingml/2006/main" noGrp="1"/>
          </p:cNvSpPr>
          <p:nvPr/>
        </p:nvSpPr>
        <p:spPr>
          <a:xfrm xmlns:a="http://schemas.openxmlformats.org/drawingml/2006/main">
            <a:off x="876300" y="2667000"/>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Text IDF · scalers · HDFE</a:t>
            </a:r>
          </a:p>
        </p:txBody>
      </p:sp>
      <p:sp>
        <p:nvSpPr>
          <p:cNvPr id="18" name="holdout-panel">
            <a:extLst xmlns:a="http://schemas.openxmlformats.org/drawingml/2006/main">
              <a:ext uri="{FF2B5EF4-FFF2-40B4-BE49-F238E27FC236}">
                <a16:creationId xmlns:a16="http://schemas.microsoft.com/office/drawing/2014/main" id="{AAD4CF8D-13DB-4B85-B2DB-A7BE762A342F}"/>
              </a:ext>
            </a:extLst>
          </p:cNvPr>
          <p:cNvSpPr>
            <a:spLocks xmlns:a="http://schemas.openxmlformats.org/drawingml/2006/main" noGrp="1"/>
          </p:cNvSpPr>
          <p:nvPr/>
        </p:nvSpPr>
        <p:spPr>
          <a:xfrm xmlns:a="http://schemas.openxmlformats.org/drawingml/2006/main">
            <a:off x="8172450" y="1619250"/>
            <a:ext cx="3295650" cy="161925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9" name="text">
            <a:extLst xmlns:a="http://schemas.openxmlformats.org/drawingml/2006/main">
              <a:ext uri="{FF2B5EF4-FFF2-40B4-BE49-F238E27FC236}">
                <a16:creationId xmlns:a16="http://schemas.microsoft.com/office/drawing/2014/main" id="{1B42FEDC-48A3-42D2-9A4E-C41FE971471D}"/>
              </a:ext>
            </a:extLst>
          </p:cNvPr>
          <p:cNvSpPr>
            <a:spLocks xmlns:a="http://schemas.openxmlformats.org/drawingml/2006/main" noGrp="1"/>
          </p:cNvSpPr>
          <p:nvPr/>
        </p:nvSpPr>
        <p:spPr>
          <a:xfrm xmlns:a="http://schemas.openxmlformats.org/drawingml/2006/main">
            <a:off x="8420100" y="1847850"/>
            <a:ext cx="28003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p xmlns:a="http://schemas.openxmlformats.org/drawingml/2006/main">
            <a:pPr algn="l">
              <a:defRPr sz="1125" b="1">
                <a:solidFill>
                  <a:srgbClr val="10A7A0"/>
                </a:solidFill>
                <a:latin typeface="Helvetica Neue"/>
                <a:ea typeface="Helvetica Neue"/>
                <a:cs typeface="Helvetica Neue"/>
              </a:defRPr>
            </a:pPr>
            <a:r>
              <a:rPr sz="1125" b="1">
                <a:solidFill>
                  <a:srgbClr val="10A7A0"/>
                </a:solidFill>
                <a:latin typeface="Helvetica Neue"/>
                <a:ea typeface="Helvetica Neue"/>
                <a:cs typeface="Helvetica Neue"/>
              </a:rPr>
              <a:t>2025 HOLDOUT</a:t>
            </a:r>
          </a:p>
        </p:txBody>
      </p:sp>
      <p:sp>
        <p:nvSpPr>
          <p:cNvPr id="20" name="text">
            <a:extLst xmlns:a="http://schemas.openxmlformats.org/drawingml/2006/main">
              <a:ext uri="{FF2B5EF4-FFF2-40B4-BE49-F238E27FC236}">
                <a16:creationId xmlns:a16="http://schemas.microsoft.com/office/drawing/2014/main" id="{CCB05BF2-D1DF-45BF-B7F8-01491FCFB2DC}"/>
              </a:ext>
            </a:extLst>
          </p:cNvPr>
          <p:cNvSpPr>
            <a:spLocks xmlns:a="http://schemas.openxmlformats.org/drawingml/2006/main" noGrp="1"/>
          </p:cNvSpPr>
          <p:nvPr/>
        </p:nvSpPr>
        <p:spPr>
          <a:xfrm xmlns:a="http://schemas.openxmlformats.org/drawingml/2006/main">
            <a:off x="8420100" y="2171700"/>
            <a:ext cx="2800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047"/>
          </a:bodyPr>
          <a:lstStyle xmlns:a="http://schemas.openxmlformats.org/drawingml/2006/main"/>
          <a:p xmlns:a="http://schemas.openxmlformats.org/drawingml/2006/main">
            <a:pPr algn="l">
              <a:defRPr sz="3225" b="1">
                <a:solidFill>
                  <a:srgbClr val="10A7A0"/>
                </a:solidFill>
                <a:latin typeface="Helvetica Neue"/>
                <a:ea typeface="Helvetica Neue"/>
                <a:cs typeface="Helvetica Neue"/>
              </a:defRPr>
            </a:pPr>
            <a:r>
              <a:rPr sz="3225" b="1">
                <a:solidFill>
                  <a:srgbClr val="10A7A0"/>
                </a:solidFill>
                <a:latin typeface="Helvetica Neue"/>
                <a:ea typeface="Helvetica Neue"/>
                <a:cs typeface="Helvetica Neue"/>
              </a:rPr>
              <a:t>133,409</a:t>
            </a:r>
          </a:p>
        </p:txBody>
      </p:sp>
      <p:sp>
        <p:nvSpPr>
          <p:cNvPr id="21" name="text">
            <a:extLst xmlns:a="http://schemas.openxmlformats.org/drawingml/2006/main">
              <a:ext uri="{FF2B5EF4-FFF2-40B4-BE49-F238E27FC236}">
                <a16:creationId xmlns:a16="http://schemas.microsoft.com/office/drawing/2014/main" id="{9A4FB108-3381-43FD-B5C4-F5614FE8E795}"/>
              </a:ext>
            </a:extLst>
          </p:cNvPr>
          <p:cNvSpPr>
            <a:spLocks xmlns:a="http://schemas.openxmlformats.org/drawingml/2006/main" noGrp="1"/>
          </p:cNvSpPr>
          <p:nvPr/>
        </p:nvSpPr>
        <p:spPr>
          <a:xfrm xmlns:a="http://schemas.openxmlformats.org/drawingml/2006/main">
            <a:off x="8420100" y="2724150"/>
            <a:ext cx="2800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No refit · out-of-time evaluation</a:t>
            </a:r>
          </a:p>
        </p:txBody>
      </p:sp>
      <p:sp>
        <p:nvSpPr>
          <p:cNvPr id="22" name="stat-Main training loans">
            <a:extLst xmlns:a="http://schemas.openxmlformats.org/drawingml/2006/main">
              <a:ext uri="{FF2B5EF4-FFF2-40B4-BE49-F238E27FC236}">
                <a16:creationId xmlns:a16="http://schemas.microsoft.com/office/drawing/2014/main" id="{BEC105C0-50F6-4EB9-A620-F8663CF2D44F}"/>
              </a:ext>
            </a:extLst>
          </p:cNvPr>
          <p:cNvSpPr>
            <a:spLocks xmlns:a="http://schemas.openxmlformats.org/drawingml/2006/main" noGrp="1"/>
          </p:cNvSpPr>
          <p:nvPr/>
        </p:nvSpPr>
        <p:spPr>
          <a:xfrm xmlns:a="http://schemas.openxmlformats.org/drawingml/2006/main">
            <a:off x="400050" y="3790950"/>
            <a:ext cx="276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3600" b="1">
                <a:solidFill>
                  <a:srgbClr val="3D8DFF"/>
                </a:solidFill>
                <a:latin typeface="Helvetica Neue"/>
                <a:ea typeface="Helvetica Neue"/>
                <a:cs typeface="Helvetica Neue"/>
              </a:defRPr>
            </a:pPr>
            <a:r>
              <a:rPr sz="3600" b="1">
                <a:solidFill>
                  <a:srgbClr val="3D8DFF"/>
                </a:solidFill>
                <a:latin typeface="Helvetica Neue"/>
                <a:ea typeface="Helvetica Neue"/>
                <a:cs typeface="Helvetica Neue"/>
              </a:rPr>
              <a:t>1,234,131</a:t>
            </a:r>
          </a:p>
        </p:txBody>
      </p:sp>
      <p:sp>
        <p:nvSpPr>
          <p:cNvPr id="23" name="text">
            <a:extLst xmlns:a="http://schemas.openxmlformats.org/drawingml/2006/main">
              <a:ext uri="{FF2B5EF4-FFF2-40B4-BE49-F238E27FC236}">
                <a16:creationId xmlns:a16="http://schemas.microsoft.com/office/drawing/2014/main" id="{6E7BF601-4DB9-4B95-AC50-58A9E6FC2E8D}"/>
              </a:ext>
            </a:extLst>
          </p:cNvPr>
          <p:cNvSpPr>
            <a:spLocks xmlns:a="http://schemas.openxmlformats.org/drawingml/2006/main" noGrp="1"/>
          </p:cNvSpPr>
          <p:nvPr/>
        </p:nvSpPr>
        <p:spPr>
          <a:xfrm xmlns:a="http://schemas.openxmlformats.org/drawingml/2006/main">
            <a:off x="400050" y="4429125"/>
            <a:ext cx="276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Main training loans</a:t>
            </a:r>
          </a:p>
        </p:txBody>
      </p:sp>
      <p:sp>
        <p:nvSpPr>
          <p:cNvPr id="24" name="stat-Exact pool identity checks">
            <a:extLst xmlns:a="http://schemas.openxmlformats.org/drawingml/2006/main">
              <a:ext uri="{FF2B5EF4-FFF2-40B4-BE49-F238E27FC236}">
                <a16:creationId xmlns:a16="http://schemas.microsoft.com/office/drawing/2014/main" id="{8FD46D29-DB5E-47AC-AE5E-92E71365752B}"/>
              </a:ext>
            </a:extLst>
          </p:cNvPr>
          <p:cNvSpPr>
            <a:spLocks xmlns:a="http://schemas.openxmlformats.org/drawingml/2006/main" noGrp="1"/>
          </p:cNvSpPr>
          <p:nvPr/>
        </p:nvSpPr>
        <p:spPr>
          <a:xfrm xmlns:a="http://schemas.openxmlformats.org/drawingml/2006/main">
            <a:off x="3390900" y="3790950"/>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600</a:t>
            </a:r>
          </a:p>
        </p:txBody>
      </p:sp>
      <p:sp>
        <p:nvSpPr>
          <p:cNvPr id="25" name="text">
            <a:extLst xmlns:a="http://schemas.openxmlformats.org/drawingml/2006/main">
              <a:ext uri="{FF2B5EF4-FFF2-40B4-BE49-F238E27FC236}">
                <a16:creationId xmlns:a16="http://schemas.microsoft.com/office/drawing/2014/main" id="{61E120EC-5DC9-48ED-B25E-43A0E6AB2026}"/>
              </a:ext>
            </a:extLst>
          </p:cNvPr>
          <p:cNvSpPr>
            <a:spLocks xmlns:a="http://schemas.openxmlformats.org/drawingml/2006/main" noGrp="1"/>
          </p:cNvSpPr>
          <p:nvPr/>
        </p:nvSpPr>
        <p:spPr>
          <a:xfrm xmlns:a="http://schemas.openxmlformats.org/drawingml/2006/main">
            <a:off x="3390900" y="4429125"/>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Exact pool identity checks</a:t>
            </a:r>
          </a:p>
        </p:txBody>
      </p:sp>
      <p:sp>
        <p:nvSpPr>
          <p:cNvPr id="26" name="stat-Funding time + 72 hours">
            <a:extLst xmlns:a="http://schemas.openxmlformats.org/drawingml/2006/main">
              <a:ext uri="{FF2B5EF4-FFF2-40B4-BE49-F238E27FC236}">
                <a16:creationId xmlns:a16="http://schemas.microsoft.com/office/drawing/2014/main" id="{A4777A45-1AF9-4432-9486-05C6799D65C3}"/>
              </a:ext>
            </a:extLst>
          </p:cNvPr>
          <p:cNvSpPr>
            <a:spLocks xmlns:a="http://schemas.openxmlformats.org/drawingml/2006/main" noGrp="1"/>
          </p:cNvSpPr>
          <p:nvPr/>
        </p:nvSpPr>
        <p:spPr>
          <a:xfrm xmlns:a="http://schemas.openxmlformats.org/drawingml/2006/main">
            <a:off x="6191250" y="3790950"/>
            <a:ext cx="238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034"/>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2 outcomes</a:t>
            </a:r>
          </a:p>
        </p:txBody>
      </p:sp>
      <p:sp>
        <p:nvSpPr>
          <p:cNvPr id="27" name="text">
            <a:extLst xmlns:a="http://schemas.openxmlformats.org/drawingml/2006/main">
              <a:ext uri="{FF2B5EF4-FFF2-40B4-BE49-F238E27FC236}">
                <a16:creationId xmlns:a16="http://schemas.microsoft.com/office/drawing/2014/main" id="{AFEA0CC1-F892-417A-B230-37EB3FCAD8A5}"/>
              </a:ext>
            </a:extLst>
          </p:cNvPr>
          <p:cNvSpPr>
            <a:spLocks xmlns:a="http://schemas.openxmlformats.org/drawingml/2006/main" noGrp="1"/>
          </p:cNvSpPr>
          <p:nvPr/>
        </p:nvSpPr>
        <p:spPr>
          <a:xfrm xmlns:a="http://schemas.openxmlformats.org/drawingml/2006/main">
            <a:off x="6191250" y="4429125"/>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Funding time + 72 hours</a:t>
            </a:r>
          </a:p>
        </p:txBody>
      </p:sp>
      <p:sp>
        <p:nvSpPr>
          <p:cNvPr id="28" name="stat-One frozen time basis">
            <a:extLst xmlns:a="http://schemas.openxmlformats.org/drawingml/2006/main">
              <a:ext uri="{FF2B5EF4-FFF2-40B4-BE49-F238E27FC236}">
                <a16:creationId xmlns:a16="http://schemas.microsoft.com/office/drawing/2014/main" id="{160E7A14-0DD6-4842-A7FC-2154D27B3DE5}"/>
              </a:ext>
            </a:extLst>
          </p:cNvPr>
          <p:cNvSpPr>
            <a:spLocks xmlns:a="http://schemas.openxmlformats.org/drawingml/2006/main" noGrp="1"/>
          </p:cNvSpPr>
          <p:nvPr/>
        </p:nvSpPr>
        <p:spPr>
          <a:xfrm xmlns:a="http://schemas.openxmlformats.org/drawingml/2006/main">
            <a:off x="8915400" y="379095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UTC</a:t>
            </a:r>
          </a:p>
        </p:txBody>
      </p:sp>
      <p:sp>
        <p:nvSpPr>
          <p:cNvPr id="29" name="text">
            <a:extLst xmlns:a="http://schemas.openxmlformats.org/drawingml/2006/main">
              <a:ext uri="{FF2B5EF4-FFF2-40B4-BE49-F238E27FC236}">
                <a16:creationId xmlns:a16="http://schemas.microsoft.com/office/drawing/2014/main" id="{78354FA2-7E65-4E77-B4EE-2267E622F3BC}"/>
              </a:ext>
            </a:extLst>
          </p:cNvPr>
          <p:cNvSpPr>
            <a:spLocks xmlns:a="http://schemas.openxmlformats.org/drawingml/2006/main" noGrp="1"/>
          </p:cNvSpPr>
          <p:nvPr/>
        </p:nvSpPr>
        <p:spPr>
          <a:xfrm xmlns:a="http://schemas.openxmlformats.org/drawingml/2006/main">
            <a:off x="8915400" y="4429125"/>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One frozen time basis</a:t>
            </a:r>
          </a:p>
        </p:txBody>
      </p:sp>
      <p:sp>
        <p:nvSpPr>
          <p:cNvPr id="30" name="text">
            <a:extLst xmlns:a="http://schemas.openxmlformats.org/drawingml/2006/main">
              <a:ext uri="{FF2B5EF4-FFF2-40B4-BE49-F238E27FC236}">
                <a16:creationId xmlns:a16="http://schemas.microsoft.com/office/drawing/2014/main" id="{44E112A1-9C35-4FC3-B02A-629DED513EEE}"/>
              </a:ext>
            </a:extLst>
          </p:cNvPr>
          <p:cNvSpPr>
            <a:spLocks xmlns:a="http://schemas.openxmlformats.org/drawingml/2006/main" noGrp="1"/>
          </p:cNvSpPr>
          <p:nvPr/>
        </p:nvSpPr>
        <p:spPr>
          <a:xfrm xmlns:a="http://schemas.openxmlformats.org/drawingml/2006/main">
            <a:off x="400050" y="5562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334155"/>
                </a:solidFill>
                <a:latin typeface="Helvetica Neue"/>
                <a:ea typeface="Helvetica Neue"/>
                <a:cs typeface="Helvetica Neue"/>
              </a:defRPr>
            </a:pPr>
            <a:r>
              <a:rPr sz="1350" b="0">
                <a:solidFill>
                  <a:srgbClr val="334155"/>
                </a:solidFill>
                <a:latin typeface="Helvetica Neue"/>
                <a:ea typeface="Helvetica Neue"/>
                <a:cs typeface="Helvetica Neue"/>
              </a:rPr>
              <a:t>Country + activity + week fixed effects · country/week two-way clustered standard errors</a:t>
            </a:r>
          </a:p>
        </p:txBody>
      </p:sp>
      <p:sp>
        <p:nvSpPr>
          <p:cNvPr id="31" name="rule">
            <a:extLst xmlns:a="http://schemas.openxmlformats.org/drawingml/2006/main">
              <a:ext uri="{FF2B5EF4-FFF2-40B4-BE49-F238E27FC236}">
                <a16:creationId xmlns:a16="http://schemas.microsoft.com/office/drawing/2014/main" id="{A42A4B32-55BB-4644-A07B-370BE0ABF6F8}"/>
              </a:ext>
            </a:extLst>
          </p:cNvPr>
          <p:cNvSpPr>
            <a:spLocks xmlns:a="http://schemas.openxmlformats.org/drawingml/2006/main" noGrp="1"/>
          </p:cNvSpPr>
          <p:nvPr/>
        </p:nvSpPr>
        <p:spPr>
          <a:xfrm xmlns:a="http://schemas.openxmlformats.org/drawingml/2006/main">
            <a:off x="400050" y="643890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32" name="source-footer">
            <a:extLst xmlns:a="http://schemas.openxmlformats.org/drawingml/2006/main">
              <a:ext uri="{FF2B5EF4-FFF2-40B4-BE49-F238E27FC236}">
                <a16:creationId xmlns:a16="http://schemas.microsoft.com/office/drawing/2014/main" id="{E91399A9-5C97-4220-9D09-AD89F55834DE}"/>
              </a:ext>
            </a:extLst>
          </p:cNvPr>
          <p:cNvSpPr>
            <a:spLocks xmlns:a="http://schemas.openxmlformats.org/drawingml/2006/main" noGrp="1"/>
          </p:cNvSpPr>
          <p:nvPr/>
        </p:nvSpPr>
        <p:spPr>
          <a:xfrm xmlns:a="http://schemas.openxmlformats.org/drawingml/2006/main">
            <a:off x="400050" y="651510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l">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Sources: outputs/model_sample_flow.csv; outputs/frozen_spec.csv; outputs/pool_identity_summary.csv</a:t>
            </a:r>
          </a:p>
        </p:txBody>
      </p:sp>
      <p:sp>
        <p:nvSpPr>
          <p:cNvPr id="33" name="team-footer">
            <a:extLst xmlns:a="http://schemas.openxmlformats.org/drawingml/2006/main">
              <a:ext uri="{FF2B5EF4-FFF2-40B4-BE49-F238E27FC236}">
                <a16:creationId xmlns:a16="http://schemas.microsoft.com/office/drawing/2014/main" id="{466E083D-EA6D-4C71-9FC7-E3B18FBA5AC7}"/>
              </a:ext>
            </a:extLst>
          </p:cNvPr>
          <p:cNvSpPr>
            <a:spLocks xmlns:a="http://schemas.openxmlformats.org/drawingml/2006/main" noGrp="1"/>
          </p:cNvSpPr>
          <p:nvPr/>
        </p:nvSpPr>
        <p:spPr>
          <a:xfrm xmlns:a="http://schemas.openxmlformats.org/drawingml/2006/main">
            <a:off x="10325100" y="651510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r">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5 GUYS · 03</a:t>
            </a:r>
          </a:p>
        </p:txBody>
      </p:sp>
    </p:spTree>
    <p:extLst>
      <p:ext uri="{BB962C8B-B14F-4D97-AF65-F5344CB8AC3E}">
        <p14:creationId xmlns:p14="http://schemas.microsoft.com/office/powerpoint/2010/main" val="17108006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d79da3650a848de"/>
          <a:stretch xmlns:a="http://schemas.openxmlformats.org/drawingml/2006/main"/>
        </p:blipFill>
        <p:spPr>
          <a:xfrm xmlns:a="http://schemas.openxmlformats.org/drawingml/2006/main">
            <a:off x="171450" y="233380"/>
            <a:ext cx="11849100" cy="5076791"/>
          </a:xfrm>
          <a:prstGeom xmlns:a="http://schemas.openxmlformats.org/drawingml/2006/main" prst="rect">
            <a:avLst/>
          </a:prstGeom>
        </p:spPr>
      </p:pic>
      <p:sp>
        <p:nvSpPr>
          <p:cNvPr id="2" name="association-warning">
            <a:extLst xmlns:a="http://schemas.openxmlformats.org/drawingml/2006/main">
              <a:ext uri="{FF2B5EF4-FFF2-40B4-BE49-F238E27FC236}">
                <a16:creationId xmlns:a16="http://schemas.microsoft.com/office/drawing/2014/main" id="{555E3FB9-6F10-4B3A-A1C7-FD7F4FABDD9F}"/>
              </a:ext>
            </a:extLst>
          </p:cNvPr>
          <p:cNvSpPr>
            <a:spLocks xmlns:a="http://schemas.openxmlformats.org/drawingml/2006/main" noGrp="1"/>
          </p:cNvSpPr>
          <p:nvPr/>
        </p:nvSpPr>
        <p:spPr>
          <a:xfrm xmlns:a="http://schemas.openxmlformats.org/drawingml/2006/main">
            <a:off x="400050" y="5562600"/>
            <a:ext cx="11391900" cy="59055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3" name="text">
            <a:extLst xmlns:a="http://schemas.openxmlformats.org/drawingml/2006/main">
              <a:ext uri="{FF2B5EF4-FFF2-40B4-BE49-F238E27FC236}">
                <a16:creationId xmlns:a16="http://schemas.microsoft.com/office/drawing/2014/main" id="{9AA34503-AE4F-4A5A-9C0F-FA06013E7FEF}"/>
              </a:ext>
            </a:extLst>
          </p:cNvPr>
          <p:cNvSpPr>
            <a:spLocks xmlns:a="http://schemas.openxmlformats.org/drawingml/2006/main" noGrp="1"/>
          </p:cNvSpPr>
          <p:nvPr/>
        </p:nvSpPr>
        <p:spPr>
          <a:xfrm xmlns:a="http://schemas.openxmlformats.org/drawingml/2006/main">
            <a:off x="628650" y="57531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1">
                <a:solidFill>
                  <a:srgbClr val="F0655B"/>
                </a:solidFill>
                <a:latin typeface="Helvetica Neue"/>
                <a:ea typeface="Helvetica Neue"/>
                <a:cs typeface="Helvetica Neue"/>
              </a:defRPr>
            </a:pPr>
            <a:r>
              <a:rPr sz="1200" b="1">
                <a:solidFill>
                  <a:srgbClr val="F0655B"/>
                </a:solidFill>
                <a:latin typeface="Helvetica Neue"/>
                <a:ea typeface="Helvetica Neue"/>
                <a:cs typeface="Helvetica Neue"/>
              </a:rPr>
              <a:t>ASSOCIATION · NOT AN INTERVENTION FORECAST</a:t>
            </a:r>
          </a:p>
        </p:txBody>
      </p:sp>
      <p:sp>
        <p:nvSpPr>
          <p:cNvPr id="4" name="text">
            <a:extLst xmlns:a="http://schemas.openxmlformats.org/drawingml/2006/main">
              <a:ext uri="{FF2B5EF4-FFF2-40B4-BE49-F238E27FC236}">
                <a16:creationId xmlns:a16="http://schemas.microsoft.com/office/drawing/2014/main" id="{52A0B83F-2FEF-4758-AE27-3B8A7C39F013}"/>
              </a:ext>
            </a:extLst>
          </p:cNvPr>
          <p:cNvSpPr>
            <a:spLocks xmlns:a="http://schemas.openxmlformats.org/drawingml/2006/main" noGrp="1"/>
          </p:cNvSpPr>
          <p:nvPr/>
        </p:nvSpPr>
        <p:spPr>
          <a:xfrm xmlns:a="http://schemas.openxmlformats.org/drawingml/2006/main">
            <a:off x="6819900" y="5753100"/>
            <a:ext cx="466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r">
              <a:defRPr sz="1200" b="0">
                <a:solidFill>
                  <a:srgbClr val="334155"/>
                </a:solidFill>
                <a:latin typeface="Helvetica Neue"/>
                <a:ea typeface="Helvetica Neue"/>
                <a:cs typeface="Helvetica Neue"/>
              </a:defRPr>
            </a:pPr>
            <a:r>
              <a:rPr sz="1200" b="0">
                <a:solidFill>
                  <a:srgbClr val="334155"/>
                </a:solidFill>
                <a:latin typeface="Helvetica Neue"/>
                <a:ea typeface="Helvetica Neue"/>
                <a:cs typeface="Helvetica Neue"/>
              </a:rPr>
              <a:t>Both scenario endpoints are populated in observed training support.</a:t>
            </a:r>
          </a:p>
        </p:txBody>
      </p:sp>
      <p:sp>
        <p:nvSpPr>
          <p:cNvPr id="5" name="rule">
            <a:extLst xmlns:a="http://schemas.openxmlformats.org/drawingml/2006/main">
              <a:ext uri="{FF2B5EF4-FFF2-40B4-BE49-F238E27FC236}">
                <a16:creationId xmlns:a16="http://schemas.microsoft.com/office/drawing/2014/main" id="{92C3F839-295D-4E03-89E6-33505B273683}"/>
              </a:ext>
            </a:extLst>
          </p:cNvPr>
          <p:cNvSpPr>
            <a:spLocks xmlns:a="http://schemas.openxmlformats.org/drawingml/2006/main" noGrp="1"/>
          </p:cNvSpPr>
          <p:nvPr/>
        </p:nvSpPr>
        <p:spPr>
          <a:xfrm xmlns:a="http://schemas.openxmlformats.org/drawingml/2006/main">
            <a:off x="400050" y="643890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6" name="source-footer">
            <a:extLst xmlns:a="http://schemas.openxmlformats.org/drawingml/2006/main">
              <a:ext uri="{FF2B5EF4-FFF2-40B4-BE49-F238E27FC236}">
                <a16:creationId xmlns:a16="http://schemas.microsoft.com/office/drawing/2014/main" id="{46154C81-6CBD-4A9D-85EA-28E9B3A5B5C3}"/>
              </a:ext>
            </a:extLst>
          </p:cNvPr>
          <p:cNvSpPr>
            <a:spLocks xmlns:a="http://schemas.openxmlformats.org/drawingml/2006/main" noGrp="1"/>
          </p:cNvSpPr>
          <p:nvPr/>
        </p:nvSpPr>
        <p:spPr>
          <a:xfrm xmlns:a="http://schemas.openxmlformats.org/drawingml/2006/main">
            <a:off x="400050" y="651510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l">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Source: outputs/scenario_contrasts.csv; outputs/joint_support_summary.csv</a:t>
            </a:r>
          </a:p>
        </p:txBody>
      </p:sp>
      <p:sp>
        <p:nvSpPr>
          <p:cNvPr id="7" name="team-footer">
            <a:extLst xmlns:a="http://schemas.openxmlformats.org/drawingml/2006/main">
              <a:ext uri="{FF2B5EF4-FFF2-40B4-BE49-F238E27FC236}">
                <a16:creationId xmlns:a16="http://schemas.microsoft.com/office/drawing/2014/main" id="{8CBB33A5-3B55-421B-AA03-445D550937CF}"/>
              </a:ext>
            </a:extLst>
          </p:cNvPr>
          <p:cNvSpPr>
            <a:spLocks xmlns:a="http://schemas.openxmlformats.org/drawingml/2006/main" noGrp="1"/>
          </p:cNvSpPr>
          <p:nvPr/>
        </p:nvSpPr>
        <p:spPr>
          <a:xfrm xmlns:a="http://schemas.openxmlformats.org/drawingml/2006/main">
            <a:off x="10325100" y="651510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r">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5 GUYS · 04</a:t>
            </a:r>
          </a:p>
        </p:txBody>
      </p:sp>
    </p:spTree>
    <p:extLst>
      <p:ext uri="{BB962C8B-B14F-4D97-AF65-F5344CB8AC3E}">
        <p14:creationId xmlns:p14="http://schemas.microsoft.com/office/powerpoint/2010/main" val="4534771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55922787-EE3F-4484-8CB7-CCA62CB43A81}"/>
              </a:ext>
            </a:extLst>
          </p:cNvPr>
          <p:cNvSpPr>
            <a:spLocks xmlns:a="http://schemas.openxmlformats.org/drawingml/2006/main" noGrp="1"/>
          </p:cNvSpPr>
          <p:nvPr/>
        </p:nvSpPr>
        <p:spPr>
          <a:xfrm xmlns:a="http://schemas.openxmlformats.org/drawingml/2006/main">
            <a:off x="400050" y="2667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KIVA NARRATIVE ATTENTION</a:t>
            </a:r>
          </a:p>
        </p:txBody>
      </p:sp>
      <p:sp>
        <p:nvSpPr>
          <p:cNvPr id="2" name="slide-title">
            <a:extLst xmlns:a="http://schemas.openxmlformats.org/drawingml/2006/main">
              <a:ext uri="{FF2B5EF4-FFF2-40B4-BE49-F238E27FC236}">
                <a16:creationId xmlns:a16="http://schemas.microsoft.com/office/drawing/2014/main" id="{FDE63D74-27B9-4189-91D4-5071F39803A0}"/>
              </a:ext>
            </a:extLst>
          </p:cNvPr>
          <p:cNvSpPr>
            <a:spLocks xmlns:a="http://schemas.openxmlformats.org/drawingml/2006/main" noGrp="1"/>
          </p:cNvSpPr>
          <p:nvPr/>
        </p:nvSpPr>
        <p:spPr>
          <a:xfrm xmlns:a="http://schemas.openxmlformats.org/drawingml/2006/main">
            <a:off x="400050" y="59055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550"/>
          </a:bodyPr>
          <a:lstStyle xmlns:a="http://schemas.openxmlformats.org/drawingml/2006/main"/>
          <a:p xmlns:a="http://schemas.openxmlformats.org/drawingml/2006/main">
            <a:pPr algn="l">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The current signal depends partly on how text is represented</a:t>
            </a:r>
          </a:p>
        </p:txBody>
      </p:sp>
      <p:sp>
        <p:nvSpPr>
          <p:cNvPr id="3" name="page-number">
            <a:extLst xmlns:a="http://schemas.openxmlformats.org/drawingml/2006/main">
              <a:ext uri="{FF2B5EF4-FFF2-40B4-BE49-F238E27FC236}">
                <a16:creationId xmlns:a16="http://schemas.microsoft.com/office/drawing/2014/main" id="{19C330B7-A791-4134-98B6-7F4E992FF8B2}"/>
              </a:ext>
            </a:extLst>
          </p:cNvPr>
          <p:cNvSpPr>
            <a:spLocks xmlns:a="http://schemas.openxmlformats.org/drawingml/2006/main" noGrp="1"/>
          </p:cNvSpPr>
          <p:nvPr/>
        </p:nvSpPr>
        <p:spPr>
          <a:xfrm xmlns:a="http://schemas.openxmlformats.org/drawingml/2006/main">
            <a:off x="11277600" y="2667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05</a:t>
            </a:r>
          </a:p>
        </p:txBody>
      </p:sp>
      <p:sp>
        <p:nvSpPr>
          <p:cNvPr id="4" name="text">
            <a:extLst xmlns:a="http://schemas.openxmlformats.org/drawingml/2006/main">
              <a:ext uri="{FF2B5EF4-FFF2-40B4-BE49-F238E27FC236}">
                <a16:creationId xmlns:a16="http://schemas.microsoft.com/office/drawing/2014/main" id="{0551C684-97E8-4259-B3FB-47783A1AE44B}"/>
              </a:ext>
            </a:extLst>
          </p:cNvPr>
          <p:cNvSpPr>
            <a:spLocks xmlns:a="http://schemas.openxmlformats.org/drawingml/2006/main" noGrp="1"/>
          </p:cNvSpPr>
          <p:nvPr/>
        </p:nvSpPr>
        <p:spPr>
          <a:xfrm xmlns:a="http://schemas.openxmlformats.org/drawingml/2006/main">
            <a:off x="400050" y="16192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CURRENT INTERACTION</a:t>
            </a:r>
          </a:p>
        </p:txBody>
      </p:sp>
      <p:sp>
        <p:nvSpPr>
          <p:cNvPr id="5" name="text">
            <a:extLst xmlns:a="http://schemas.openxmlformats.org/drawingml/2006/main">
              <a:ext uri="{FF2B5EF4-FFF2-40B4-BE49-F238E27FC236}">
                <a16:creationId xmlns:a16="http://schemas.microsoft.com/office/drawing/2014/main" id="{18DDF330-DD4D-42A1-9647-E4AAEF9327AF}"/>
              </a:ext>
            </a:extLst>
          </p:cNvPr>
          <p:cNvSpPr>
            <a:spLocks xmlns:a="http://schemas.openxmlformats.org/drawingml/2006/main" noGrp="1"/>
          </p:cNvSpPr>
          <p:nvPr/>
        </p:nvSpPr>
        <p:spPr>
          <a:xfrm xmlns:a="http://schemas.openxmlformats.org/drawingml/2006/main">
            <a:off x="400050" y="21145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Masked use</a:t>
            </a:r>
          </a:p>
        </p:txBody>
      </p:sp>
      <p:sp>
        <p:nvSpPr>
          <p:cNvPr id="6" name="raw-track">
            <a:extLst xmlns:a="http://schemas.openxmlformats.org/drawingml/2006/main">
              <a:ext uri="{FF2B5EF4-FFF2-40B4-BE49-F238E27FC236}">
                <a16:creationId xmlns:a16="http://schemas.microsoft.com/office/drawing/2014/main" id="{BCC7549F-0649-4E1F-AFB9-48CE5782130E}"/>
              </a:ext>
            </a:extLst>
          </p:cNvPr>
          <p:cNvSpPr>
            <a:spLocks xmlns:a="http://schemas.openxmlformats.org/drawingml/2006/main" noGrp="1"/>
          </p:cNvSpPr>
          <p:nvPr/>
        </p:nvSpPr>
        <p:spPr>
          <a:xfrm xmlns:a="http://schemas.openxmlformats.org/drawingml/2006/main">
            <a:off x="2495550" y="2095500"/>
            <a:ext cx="3771900" cy="32385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7" name="raw-bar">
            <a:extLst xmlns:a="http://schemas.openxmlformats.org/drawingml/2006/main">
              <a:ext uri="{FF2B5EF4-FFF2-40B4-BE49-F238E27FC236}">
                <a16:creationId xmlns:a16="http://schemas.microsoft.com/office/drawing/2014/main" id="{0519ABFD-8D5E-4296-95C7-5075B49CACA4}"/>
              </a:ext>
            </a:extLst>
          </p:cNvPr>
          <p:cNvSpPr>
            <a:spLocks xmlns:a="http://schemas.openxmlformats.org/drawingml/2006/main" noGrp="1"/>
          </p:cNvSpPr>
          <p:nvPr/>
        </p:nvSpPr>
        <p:spPr>
          <a:xfrm xmlns:a="http://schemas.openxmlformats.org/drawingml/2006/main">
            <a:off x="2495550" y="2095500"/>
            <a:ext cx="3067050" cy="3238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8" name="text">
            <a:extLst xmlns:a="http://schemas.openxmlformats.org/drawingml/2006/main">
              <a:ext uri="{FF2B5EF4-FFF2-40B4-BE49-F238E27FC236}">
                <a16:creationId xmlns:a16="http://schemas.microsoft.com/office/drawing/2014/main" id="{2CC6733C-D1FB-4B5F-936C-21AFC808152B}"/>
              </a:ext>
            </a:extLst>
          </p:cNvPr>
          <p:cNvSpPr>
            <a:spLocks xmlns:a="http://schemas.openxmlformats.org/drawingml/2006/main" noGrp="1"/>
          </p:cNvSpPr>
          <p:nvPr/>
        </p:nvSpPr>
        <p:spPr>
          <a:xfrm xmlns:a="http://schemas.openxmlformats.org/drawingml/2006/main">
            <a:off x="5676900" y="207645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.1016</a:t>
            </a:r>
          </a:p>
        </p:txBody>
      </p:sp>
      <p:sp>
        <p:nvSpPr>
          <p:cNvPr id="9" name="text">
            <a:extLst xmlns:a="http://schemas.openxmlformats.org/drawingml/2006/main">
              <a:ext uri="{FF2B5EF4-FFF2-40B4-BE49-F238E27FC236}">
                <a16:creationId xmlns:a16="http://schemas.microsoft.com/office/drawing/2014/main" id="{63B63595-504E-4E16-B1D2-7DBFD6CFE700}"/>
              </a:ext>
            </a:extLst>
          </p:cNvPr>
          <p:cNvSpPr>
            <a:spLocks xmlns:a="http://schemas.openxmlformats.org/drawingml/2006/main" noGrp="1"/>
          </p:cNvSpPr>
          <p:nvPr/>
        </p:nvSpPr>
        <p:spPr>
          <a:xfrm xmlns:a="http://schemas.openxmlformats.org/drawingml/2006/main">
            <a:off x="6724650" y="21336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0">
                <a:solidFill>
                  <a:srgbClr val="334155"/>
                </a:solidFill>
                <a:latin typeface="Helvetica Neue"/>
                <a:ea typeface="Helvetica Neue"/>
                <a:cs typeface="Helvetica Neue"/>
              </a:defRPr>
            </a:pPr>
            <a:r>
              <a:rPr sz="1200" b="0">
                <a:solidFill>
                  <a:srgbClr val="334155"/>
                </a:solidFill>
                <a:latin typeface="Helvetica Neue"/>
                <a:ea typeface="Helvetica Neue"/>
                <a:cs typeface="Helvetica Neue"/>
              </a:rPr>
              <a:t>p = .0033</a:t>
            </a:r>
          </a:p>
        </p:txBody>
      </p:sp>
      <p:sp>
        <p:nvSpPr>
          <p:cNvPr id="10" name="text">
            <a:extLst xmlns:a="http://schemas.openxmlformats.org/drawingml/2006/main">
              <a:ext uri="{FF2B5EF4-FFF2-40B4-BE49-F238E27FC236}">
                <a16:creationId xmlns:a16="http://schemas.microsoft.com/office/drawing/2014/main" id="{3AE6AE18-936E-499E-8187-0C2B1BCD1C39}"/>
              </a:ext>
            </a:extLst>
          </p:cNvPr>
          <p:cNvSpPr>
            <a:spLocks xmlns:a="http://schemas.openxmlformats.org/drawingml/2006/main" noGrp="1"/>
          </p:cNvSpPr>
          <p:nvPr/>
        </p:nvSpPr>
        <p:spPr>
          <a:xfrm xmlns:a="http://schemas.openxmlformats.org/drawingml/2006/main">
            <a:off x="400050" y="293370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667"/>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Recurring language removed</a:t>
            </a:r>
          </a:p>
        </p:txBody>
      </p:sp>
      <p:sp>
        <p:nvSpPr>
          <p:cNvPr id="11" name="residual-track">
            <a:extLst xmlns:a="http://schemas.openxmlformats.org/drawingml/2006/main">
              <a:ext uri="{FF2B5EF4-FFF2-40B4-BE49-F238E27FC236}">
                <a16:creationId xmlns:a16="http://schemas.microsoft.com/office/drawing/2014/main" id="{7AA97A00-7582-473B-BA49-6BEC3D1B8749}"/>
              </a:ext>
            </a:extLst>
          </p:cNvPr>
          <p:cNvSpPr>
            <a:spLocks xmlns:a="http://schemas.openxmlformats.org/drawingml/2006/main" noGrp="1"/>
          </p:cNvSpPr>
          <p:nvPr/>
        </p:nvSpPr>
        <p:spPr>
          <a:xfrm xmlns:a="http://schemas.openxmlformats.org/drawingml/2006/main">
            <a:off x="2495550" y="3028950"/>
            <a:ext cx="3771900" cy="32385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2" name="residual-bar">
            <a:extLst xmlns:a="http://schemas.openxmlformats.org/drawingml/2006/main">
              <a:ext uri="{FF2B5EF4-FFF2-40B4-BE49-F238E27FC236}">
                <a16:creationId xmlns:a16="http://schemas.microsoft.com/office/drawing/2014/main" id="{A3088ED3-14B4-43DD-8403-2268A219308C}"/>
              </a:ext>
            </a:extLst>
          </p:cNvPr>
          <p:cNvSpPr>
            <a:spLocks xmlns:a="http://schemas.openxmlformats.org/drawingml/2006/main" noGrp="1"/>
          </p:cNvSpPr>
          <p:nvPr/>
        </p:nvSpPr>
        <p:spPr>
          <a:xfrm xmlns:a="http://schemas.openxmlformats.org/drawingml/2006/main">
            <a:off x="2495550" y="3028950"/>
            <a:ext cx="1581150" cy="323850"/>
          </a:xfrm>
          <a:prstGeom xmlns:a="http://schemas.openxmlformats.org/drawingml/2006/main" prst="rect">
            <a:avLst/>
          </a:prstGeom>
          <a:solidFill xmlns:a="http://schemas.openxmlformats.org/drawingml/2006/main">
            <a:srgbClr val="6DCBF4"/>
          </a:solidFill>
          <a:ln xmlns:a="http://schemas.openxmlformats.org/drawingml/2006/main" w="0">
            <a:solidFill>
              <a:srgbClr val="6DCBF4"/>
            </a:solidFill>
            <a:prstDash val="solid"/>
          </a:ln>
        </p:spPr>
      </p:sp>
      <p:sp>
        <p:nvSpPr>
          <p:cNvPr id="13" name="text">
            <a:extLst xmlns:a="http://schemas.openxmlformats.org/drawingml/2006/main">
              <a:ext uri="{FF2B5EF4-FFF2-40B4-BE49-F238E27FC236}">
                <a16:creationId xmlns:a16="http://schemas.microsoft.com/office/drawing/2014/main" id="{8EEB6D5D-5719-4409-997A-D93BE2EA7197}"/>
              </a:ext>
            </a:extLst>
          </p:cNvPr>
          <p:cNvSpPr>
            <a:spLocks xmlns:a="http://schemas.openxmlformats.org/drawingml/2006/main" noGrp="1"/>
          </p:cNvSpPr>
          <p:nvPr/>
        </p:nvSpPr>
        <p:spPr>
          <a:xfrm xmlns:a="http://schemas.openxmlformats.org/drawingml/2006/main">
            <a:off x="4210050" y="300990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.0523</a:t>
            </a:r>
          </a:p>
        </p:txBody>
      </p:sp>
      <p:sp>
        <p:nvSpPr>
          <p:cNvPr id="14" name="text">
            <a:extLst xmlns:a="http://schemas.openxmlformats.org/drawingml/2006/main">
              <a:ext uri="{FF2B5EF4-FFF2-40B4-BE49-F238E27FC236}">
                <a16:creationId xmlns:a16="http://schemas.microsoft.com/office/drawing/2014/main" id="{C1C9A13E-849D-4F92-ADA9-30AECBCABCE1}"/>
              </a:ext>
            </a:extLst>
          </p:cNvPr>
          <p:cNvSpPr>
            <a:spLocks xmlns:a="http://schemas.openxmlformats.org/drawingml/2006/main" noGrp="1"/>
          </p:cNvSpPr>
          <p:nvPr/>
        </p:nvSpPr>
        <p:spPr>
          <a:xfrm xmlns:a="http://schemas.openxmlformats.org/drawingml/2006/main">
            <a:off x="5257800" y="30670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0">
                <a:solidFill>
                  <a:srgbClr val="334155"/>
                </a:solidFill>
                <a:latin typeface="Helvetica Neue"/>
                <a:ea typeface="Helvetica Neue"/>
                <a:cs typeface="Helvetica Neue"/>
              </a:defRPr>
            </a:pPr>
            <a:r>
              <a:rPr sz="1200" b="0">
                <a:solidFill>
                  <a:srgbClr val="334155"/>
                </a:solidFill>
                <a:latin typeface="Helvetica Neue"/>
                <a:ea typeface="Helvetica Neue"/>
                <a:cs typeface="Helvetica Neue"/>
              </a:rPr>
              <a:t>p = .129</a:t>
            </a:r>
          </a:p>
        </p:txBody>
      </p:sp>
      <p:sp>
        <p:nvSpPr>
          <p:cNvPr id="15" name="text">
            <a:extLst xmlns:a="http://schemas.openxmlformats.org/drawingml/2006/main">
              <a:ext uri="{FF2B5EF4-FFF2-40B4-BE49-F238E27FC236}">
                <a16:creationId xmlns:a16="http://schemas.microsoft.com/office/drawing/2014/main" id="{B1C9615F-EC04-4490-99BC-46A16CC0806C}"/>
              </a:ext>
            </a:extLst>
          </p:cNvPr>
          <p:cNvSpPr>
            <a:spLocks xmlns:a="http://schemas.openxmlformats.org/drawingml/2006/main" noGrp="1"/>
          </p:cNvSpPr>
          <p:nvPr/>
        </p:nvSpPr>
        <p:spPr>
          <a:xfrm xmlns:a="http://schemas.openxmlformats.org/drawingml/2006/main">
            <a:off x="400050" y="39624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Masked description</a:t>
            </a:r>
          </a:p>
        </p:txBody>
      </p:sp>
      <p:sp>
        <p:nvSpPr>
          <p:cNvPr id="16" name="description-track">
            <a:extLst xmlns:a="http://schemas.openxmlformats.org/drawingml/2006/main">
              <a:ext uri="{FF2B5EF4-FFF2-40B4-BE49-F238E27FC236}">
                <a16:creationId xmlns:a16="http://schemas.microsoft.com/office/drawing/2014/main" id="{8C7F1D58-8901-4A20-BC58-30EAB68D0508}"/>
              </a:ext>
            </a:extLst>
          </p:cNvPr>
          <p:cNvSpPr>
            <a:spLocks xmlns:a="http://schemas.openxmlformats.org/drawingml/2006/main" noGrp="1"/>
          </p:cNvSpPr>
          <p:nvPr/>
        </p:nvSpPr>
        <p:spPr>
          <a:xfrm xmlns:a="http://schemas.openxmlformats.org/drawingml/2006/main">
            <a:off x="2495550" y="3943350"/>
            <a:ext cx="3771900" cy="32385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7" name="description-bar">
            <a:extLst xmlns:a="http://schemas.openxmlformats.org/drawingml/2006/main">
              <a:ext uri="{FF2B5EF4-FFF2-40B4-BE49-F238E27FC236}">
                <a16:creationId xmlns:a16="http://schemas.microsoft.com/office/drawing/2014/main" id="{57E90307-DDCE-43BE-842C-494D3D8E934F}"/>
              </a:ext>
            </a:extLst>
          </p:cNvPr>
          <p:cNvSpPr>
            <a:spLocks xmlns:a="http://schemas.openxmlformats.org/drawingml/2006/main" noGrp="1"/>
          </p:cNvSpPr>
          <p:nvPr/>
        </p:nvSpPr>
        <p:spPr>
          <a:xfrm xmlns:a="http://schemas.openxmlformats.org/drawingml/2006/main">
            <a:off x="2495550" y="3943350"/>
            <a:ext cx="3771900" cy="323850"/>
          </a:xfrm>
          <a:prstGeom xmlns:a="http://schemas.openxmlformats.org/drawingml/2006/main" prst="rect">
            <a:avLst/>
          </a:prstGeom>
          <a:solidFill xmlns:a="http://schemas.openxmlformats.org/drawingml/2006/main">
            <a:srgbClr val="10A7A0"/>
          </a:solidFill>
          <a:ln xmlns:a="http://schemas.openxmlformats.org/drawingml/2006/main" w="0">
            <a:solidFill>
              <a:srgbClr val="10A7A0"/>
            </a:solidFill>
            <a:prstDash val="solid"/>
          </a:ln>
        </p:spPr>
      </p:sp>
      <p:sp>
        <p:nvSpPr>
          <p:cNvPr id="18" name="text">
            <a:extLst xmlns:a="http://schemas.openxmlformats.org/drawingml/2006/main">
              <a:ext uri="{FF2B5EF4-FFF2-40B4-BE49-F238E27FC236}">
                <a16:creationId xmlns:a16="http://schemas.microsoft.com/office/drawing/2014/main" id="{49716A0F-58F1-4331-9A3A-0E7E182D4872}"/>
              </a:ext>
            </a:extLst>
          </p:cNvPr>
          <p:cNvSpPr>
            <a:spLocks xmlns:a="http://schemas.openxmlformats.org/drawingml/2006/main" noGrp="1"/>
          </p:cNvSpPr>
          <p:nvPr/>
        </p:nvSpPr>
        <p:spPr>
          <a:xfrm xmlns:a="http://schemas.openxmlformats.org/drawingml/2006/main">
            <a:off x="6400800" y="392430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10A7A0"/>
                </a:solidFill>
                <a:latin typeface="Helvetica Neue"/>
                <a:ea typeface="Helvetica Neue"/>
                <a:cs typeface="Helvetica Neue"/>
              </a:defRPr>
            </a:pPr>
            <a:r>
              <a:rPr sz="1800" b="1">
                <a:solidFill>
                  <a:srgbClr val="10A7A0"/>
                </a:solidFill>
                <a:latin typeface="Helvetica Neue"/>
                <a:ea typeface="Helvetica Neue"/>
                <a:cs typeface="Helvetica Neue"/>
              </a:rPr>
              <a:t>.1323</a:t>
            </a:r>
          </a:p>
        </p:txBody>
      </p:sp>
      <p:sp>
        <p:nvSpPr>
          <p:cNvPr id="19" name="text">
            <a:extLst xmlns:a="http://schemas.openxmlformats.org/drawingml/2006/main">
              <a:ext uri="{FF2B5EF4-FFF2-40B4-BE49-F238E27FC236}">
                <a16:creationId xmlns:a16="http://schemas.microsoft.com/office/drawing/2014/main" id="{C11F0AD0-D6F0-40E0-A596-04C083EA9B3D}"/>
              </a:ext>
            </a:extLst>
          </p:cNvPr>
          <p:cNvSpPr>
            <a:spLocks xmlns:a="http://schemas.openxmlformats.org/drawingml/2006/main" noGrp="1"/>
          </p:cNvSpPr>
          <p:nvPr/>
        </p:nvSpPr>
        <p:spPr>
          <a:xfrm xmlns:a="http://schemas.openxmlformats.org/drawingml/2006/main">
            <a:off x="7448550" y="39814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0">
                <a:solidFill>
                  <a:srgbClr val="334155"/>
                </a:solidFill>
                <a:latin typeface="Helvetica Neue"/>
                <a:ea typeface="Helvetica Neue"/>
                <a:cs typeface="Helvetica Neue"/>
              </a:defRPr>
            </a:pPr>
            <a:r>
              <a:rPr sz="1200" b="0">
                <a:solidFill>
                  <a:srgbClr val="334155"/>
                </a:solidFill>
                <a:latin typeface="Helvetica Neue"/>
                <a:ea typeface="Helvetica Neue"/>
                <a:cs typeface="Helvetica Neue"/>
              </a:rPr>
              <a:t>p &lt; .001</a:t>
            </a:r>
          </a:p>
        </p:txBody>
      </p:sp>
      <p:sp>
        <p:nvSpPr>
          <p:cNvPr id="20" name="rule">
            <a:extLst xmlns:a="http://schemas.openxmlformats.org/drawingml/2006/main">
              <a:ext uri="{FF2B5EF4-FFF2-40B4-BE49-F238E27FC236}">
                <a16:creationId xmlns:a16="http://schemas.microsoft.com/office/drawing/2014/main" id="{A578677A-5CA0-4878-9338-D770F8CD0842}"/>
              </a:ext>
            </a:extLst>
          </p:cNvPr>
          <p:cNvSpPr>
            <a:spLocks xmlns:a="http://schemas.openxmlformats.org/drawingml/2006/main" noGrp="1"/>
          </p:cNvSpPr>
          <p:nvPr/>
        </p:nvSpPr>
        <p:spPr>
          <a:xfrm xmlns:a="http://schemas.openxmlformats.org/drawingml/2006/main">
            <a:off x="8782050" y="1714500"/>
            <a:ext cx="9525" cy="350520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text">
            <a:extLst xmlns:a="http://schemas.openxmlformats.org/drawingml/2006/main">
              <a:ext uri="{FF2B5EF4-FFF2-40B4-BE49-F238E27FC236}">
                <a16:creationId xmlns:a16="http://schemas.microsoft.com/office/drawing/2014/main" id="{A9194A9D-0AF7-45C0-BD55-BD8CDF15A0AA}"/>
              </a:ext>
            </a:extLst>
          </p:cNvPr>
          <p:cNvSpPr>
            <a:spLocks xmlns:a="http://schemas.openxmlformats.org/drawingml/2006/main" noGrp="1"/>
          </p:cNvSpPr>
          <p:nvPr/>
        </p:nvSpPr>
        <p:spPr>
          <a:xfrm xmlns:a="http://schemas.openxmlformats.org/drawingml/2006/main">
            <a:off x="9201150" y="1809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667"/>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What this means</a:t>
            </a:r>
          </a:p>
        </p:txBody>
      </p:sp>
      <p:sp>
        <p:nvSpPr>
          <p:cNvPr id="22" name="panel">
            <a:extLst xmlns:a="http://schemas.openxmlformats.org/drawingml/2006/main">
              <a:ext uri="{FF2B5EF4-FFF2-40B4-BE49-F238E27FC236}">
                <a16:creationId xmlns:a16="http://schemas.microsoft.com/office/drawing/2014/main" id="{84DA303C-AFE8-4B75-938C-D30C867E906E}"/>
              </a:ext>
            </a:extLst>
          </p:cNvPr>
          <p:cNvSpPr>
            <a:spLocks xmlns:a="http://schemas.openxmlformats.org/drawingml/2006/main" noGrp="1"/>
          </p:cNvSpPr>
          <p:nvPr/>
        </p:nvSpPr>
        <p:spPr>
          <a:xfrm xmlns:a="http://schemas.openxmlformats.org/drawingml/2006/main">
            <a:off x="9201150" y="2466975"/>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23" name="text">
            <a:extLst xmlns:a="http://schemas.openxmlformats.org/drawingml/2006/main">
              <a:ext uri="{FF2B5EF4-FFF2-40B4-BE49-F238E27FC236}">
                <a16:creationId xmlns:a16="http://schemas.microsoft.com/office/drawing/2014/main" id="{CF500BF8-9E11-44A2-BBF3-B10A5A9F0C28}"/>
              </a:ext>
            </a:extLst>
          </p:cNvPr>
          <p:cNvSpPr>
            <a:spLocks xmlns:a="http://schemas.openxmlformats.org/drawingml/2006/main" noGrp="1"/>
          </p:cNvSpPr>
          <p:nvPr/>
        </p:nvSpPr>
        <p:spPr>
          <a:xfrm xmlns:a="http://schemas.openxmlformats.org/drawingml/2006/main">
            <a:off x="9429750" y="2400300"/>
            <a:ext cx="2152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333"/>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Signal attenuates</a:t>
            </a:r>
          </a:p>
        </p:txBody>
      </p:sp>
      <p:sp>
        <p:nvSpPr>
          <p:cNvPr id="24" name="text">
            <a:extLst xmlns:a="http://schemas.openxmlformats.org/drawingml/2006/main">
              <a:ext uri="{FF2B5EF4-FFF2-40B4-BE49-F238E27FC236}">
                <a16:creationId xmlns:a16="http://schemas.microsoft.com/office/drawing/2014/main" id="{D1F271FD-2CBC-432D-A5BB-13BF35E85749}"/>
              </a:ext>
            </a:extLst>
          </p:cNvPr>
          <p:cNvSpPr>
            <a:spLocks xmlns:a="http://schemas.openxmlformats.org/drawingml/2006/main" noGrp="1"/>
          </p:cNvSpPr>
          <p:nvPr/>
        </p:nvSpPr>
        <p:spPr>
          <a:xfrm xmlns:a="http://schemas.openxmlformats.org/drawingml/2006/main">
            <a:off x="9429750" y="2686050"/>
            <a:ext cx="2152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579"/>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Recurring language may contribute to the masked-use association.</a:t>
            </a:r>
          </a:p>
        </p:txBody>
      </p:sp>
      <p:sp>
        <p:nvSpPr>
          <p:cNvPr id="25" name="panel">
            <a:extLst xmlns:a="http://schemas.openxmlformats.org/drawingml/2006/main">
              <a:ext uri="{FF2B5EF4-FFF2-40B4-BE49-F238E27FC236}">
                <a16:creationId xmlns:a16="http://schemas.microsoft.com/office/drawing/2014/main" id="{CFCEB114-BC0C-431D-AC49-A6E9534F35C0}"/>
              </a:ext>
            </a:extLst>
          </p:cNvPr>
          <p:cNvSpPr>
            <a:spLocks xmlns:a="http://schemas.openxmlformats.org/drawingml/2006/main" noGrp="1"/>
          </p:cNvSpPr>
          <p:nvPr/>
        </p:nvSpPr>
        <p:spPr>
          <a:xfrm xmlns:a="http://schemas.openxmlformats.org/drawingml/2006/main">
            <a:off x="9201150" y="3552825"/>
            <a:ext cx="95250" cy="95250"/>
          </a:xfrm>
          <a:prstGeom xmlns:a="http://schemas.openxmlformats.org/drawingml/2006/main" prst="ellipse">
            <a:avLst/>
          </a:prstGeom>
          <a:solidFill xmlns:a="http://schemas.openxmlformats.org/drawingml/2006/main">
            <a:srgbClr val="F0655B"/>
          </a:solidFill>
          <a:ln xmlns:a="http://schemas.openxmlformats.org/drawingml/2006/main" w="0">
            <a:solidFill>
              <a:srgbClr val="F0655B"/>
            </a:solidFill>
            <a:prstDash val="solid"/>
          </a:ln>
        </p:spPr>
      </p:sp>
      <p:sp>
        <p:nvSpPr>
          <p:cNvPr id="26" name="text">
            <a:extLst xmlns:a="http://schemas.openxmlformats.org/drawingml/2006/main">
              <a:ext uri="{FF2B5EF4-FFF2-40B4-BE49-F238E27FC236}">
                <a16:creationId xmlns:a16="http://schemas.microsoft.com/office/drawing/2014/main" id="{F3525E74-7AFE-4173-97B6-543FA4C37B8E}"/>
              </a:ext>
            </a:extLst>
          </p:cNvPr>
          <p:cNvSpPr>
            <a:spLocks xmlns:a="http://schemas.openxmlformats.org/drawingml/2006/main" noGrp="1"/>
          </p:cNvSpPr>
          <p:nvPr/>
        </p:nvSpPr>
        <p:spPr>
          <a:xfrm xmlns:a="http://schemas.openxmlformats.org/drawingml/2006/main">
            <a:off x="9429750" y="3486150"/>
            <a:ext cx="2152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333"/>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Not a decomposition</a:t>
            </a:r>
          </a:p>
        </p:txBody>
      </p:sp>
      <p:sp>
        <p:nvSpPr>
          <p:cNvPr id="27" name="text">
            <a:extLst xmlns:a="http://schemas.openxmlformats.org/drawingml/2006/main">
              <a:ext uri="{FF2B5EF4-FFF2-40B4-BE49-F238E27FC236}">
                <a16:creationId xmlns:a16="http://schemas.microsoft.com/office/drawing/2014/main" id="{3D857514-08D1-4204-AC56-E9E0A19B4684}"/>
              </a:ext>
            </a:extLst>
          </p:cNvPr>
          <p:cNvSpPr>
            <a:spLocks xmlns:a="http://schemas.openxmlformats.org/drawingml/2006/main" noGrp="1"/>
          </p:cNvSpPr>
          <p:nvPr/>
        </p:nvSpPr>
        <p:spPr>
          <a:xfrm xmlns:a="http://schemas.openxmlformats.org/drawingml/2006/main">
            <a:off x="9429750" y="3771900"/>
            <a:ext cx="2152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144"/>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The coefficient difference itself was not formally tested.</a:t>
            </a:r>
          </a:p>
        </p:txBody>
      </p:sp>
      <p:sp>
        <p:nvSpPr>
          <p:cNvPr id="28" name="panel">
            <a:extLst xmlns:a="http://schemas.openxmlformats.org/drawingml/2006/main">
              <a:ext uri="{FF2B5EF4-FFF2-40B4-BE49-F238E27FC236}">
                <a16:creationId xmlns:a16="http://schemas.microsoft.com/office/drawing/2014/main" id="{8450DDAE-E2E0-4967-87BD-24155DC12FAD}"/>
              </a:ext>
            </a:extLst>
          </p:cNvPr>
          <p:cNvSpPr>
            <a:spLocks xmlns:a="http://schemas.openxmlformats.org/drawingml/2006/main" noGrp="1"/>
          </p:cNvSpPr>
          <p:nvPr/>
        </p:nvSpPr>
        <p:spPr>
          <a:xfrm xmlns:a="http://schemas.openxmlformats.org/drawingml/2006/main">
            <a:off x="9201150" y="4638675"/>
            <a:ext cx="95250" cy="95250"/>
          </a:xfrm>
          <a:prstGeom xmlns:a="http://schemas.openxmlformats.org/drawingml/2006/main" prst="ellipse">
            <a:avLst/>
          </a:prstGeom>
          <a:solidFill xmlns:a="http://schemas.openxmlformats.org/drawingml/2006/main">
            <a:srgbClr val="10A7A0"/>
          </a:solidFill>
          <a:ln xmlns:a="http://schemas.openxmlformats.org/drawingml/2006/main" w="0">
            <a:solidFill>
              <a:srgbClr val="10A7A0"/>
            </a:solidFill>
            <a:prstDash val="solid"/>
          </a:ln>
        </p:spPr>
      </p:sp>
      <p:sp>
        <p:nvSpPr>
          <p:cNvPr id="29" name="text">
            <a:extLst xmlns:a="http://schemas.openxmlformats.org/drawingml/2006/main">
              <a:ext uri="{FF2B5EF4-FFF2-40B4-BE49-F238E27FC236}">
                <a16:creationId xmlns:a16="http://schemas.microsoft.com/office/drawing/2014/main" id="{B72A3BC3-D16A-4311-B6C7-7C5BC5A2838F}"/>
              </a:ext>
            </a:extLst>
          </p:cNvPr>
          <p:cNvSpPr>
            <a:spLocks xmlns:a="http://schemas.openxmlformats.org/drawingml/2006/main" noGrp="1"/>
          </p:cNvSpPr>
          <p:nvPr/>
        </p:nvSpPr>
        <p:spPr>
          <a:xfrm xmlns:a="http://schemas.openxmlformats.org/drawingml/2006/main">
            <a:off x="9429750" y="4572000"/>
            <a:ext cx="2152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333"/>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Shift the burden</a:t>
            </a:r>
          </a:p>
        </p:txBody>
      </p:sp>
      <p:sp>
        <p:nvSpPr>
          <p:cNvPr id="30" name="text">
            <a:extLst xmlns:a="http://schemas.openxmlformats.org/drawingml/2006/main">
              <a:ext uri="{FF2B5EF4-FFF2-40B4-BE49-F238E27FC236}">
                <a16:creationId xmlns:a16="http://schemas.microsoft.com/office/drawing/2014/main" id="{ABC47932-D38A-4780-9A39-0B9227B04A2A}"/>
              </a:ext>
            </a:extLst>
          </p:cNvPr>
          <p:cNvSpPr>
            <a:spLocks xmlns:a="http://schemas.openxmlformats.org/drawingml/2006/main" noGrp="1"/>
          </p:cNvSpPr>
          <p:nvPr/>
        </p:nvSpPr>
        <p:spPr>
          <a:xfrm xmlns:a="http://schemas.openxmlformats.org/drawingml/2006/main">
            <a:off x="9429750" y="4857750"/>
            <a:ext cx="2152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549"/>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Test platform and partner processes—not louder borrower stories.</a:t>
            </a:r>
          </a:p>
        </p:txBody>
      </p:sp>
      <p:sp>
        <p:nvSpPr>
          <p:cNvPr id="31" name="rule">
            <a:extLst xmlns:a="http://schemas.openxmlformats.org/drawingml/2006/main">
              <a:ext uri="{FF2B5EF4-FFF2-40B4-BE49-F238E27FC236}">
                <a16:creationId xmlns:a16="http://schemas.microsoft.com/office/drawing/2014/main" id="{645A4108-0B6C-4F6C-80E0-9923A605E08A}"/>
              </a:ext>
            </a:extLst>
          </p:cNvPr>
          <p:cNvSpPr>
            <a:spLocks xmlns:a="http://schemas.openxmlformats.org/drawingml/2006/main" noGrp="1"/>
          </p:cNvSpPr>
          <p:nvPr/>
        </p:nvSpPr>
        <p:spPr>
          <a:xfrm xmlns:a="http://schemas.openxmlformats.org/drawingml/2006/main">
            <a:off x="400050" y="643890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32" name="source-footer">
            <a:extLst xmlns:a="http://schemas.openxmlformats.org/drawingml/2006/main">
              <a:ext uri="{FF2B5EF4-FFF2-40B4-BE49-F238E27FC236}">
                <a16:creationId xmlns:a16="http://schemas.microsoft.com/office/drawing/2014/main" id="{E8CBEFE3-1EC5-4BA1-9DC1-600C5F140BF7}"/>
              </a:ext>
            </a:extLst>
          </p:cNvPr>
          <p:cNvSpPr>
            <a:spLocks xmlns:a="http://schemas.openxmlformats.org/drawingml/2006/main" noGrp="1"/>
          </p:cNvSpPr>
          <p:nvPr/>
        </p:nvSpPr>
        <p:spPr>
          <a:xfrm xmlns:a="http://schemas.openxmlformats.org/drawingml/2006/main">
            <a:off x="400050" y="651510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l">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Sources: outputs/robustness.csv; outputs/description_robustness.csv</a:t>
            </a:r>
          </a:p>
        </p:txBody>
      </p:sp>
      <p:sp>
        <p:nvSpPr>
          <p:cNvPr id="33" name="team-footer">
            <a:extLst xmlns:a="http://schemas.openxmlformats.org/drawingml/2006/main">
              <a:ext uri="{FF2B5EF4-FFF2-40B4-BE49-F238E27FC236}">
                <a16:creationId xmlns:a16="http://schemas.microsoft.com/office/drawing/2014/main" id="{D86F9A31-18CE-4E67-97C4-788C4B328142}"/>
              </a:ext>
            </a:extLst>
          </p:cNvPr>
          <p:cNvSpPr>
            <a:spLocks xmlns:a="http://schemas.openxmlformats.org/drawingml/2006/main" noGrp="1"/>
          </p:cNvSpPr>
          <p:nvPr/>
        </p:nvSpPr>
        <p:spPr>
          <a:xfrm xmlns:a="http://schemas.openxmlformats.org/drawingml/2006/main">
            <a:off x="10325100" y="651510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r">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5 GUYS · 05</a:t>
            </a:r>
          </a:p>
        </p:txBody>
      </p:sp>
    </p:spTree>
    <p:extLst>
      <p:ext uri="{BB962C8B-B14F-4D97-AF65-F5344CB8AC3E}">
        <p14:creationId xmlns:p14="http://schemas.microsoft.com/office/powerpoint/2010/main" val="21425538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ection-label">
            <a:extLst xmlns:a="http://schemas.openxmlformats.org/drawingml/2006/main">
              <a:ext uri="{FF2B5EF4-FFF2-40B4-BE49-F238E27FC236}">
                <a16:creationId xmlns:a16="http://schemas.microsoft.com/office/drawing/2014/main" id="{3ACF8F67-41DD-474A-95B6-156B524A84BB}"/>
              </a:ext>
            </a:extLst>
          </p:cNvPr>
          <p:cNvSpPr>
            <a:spLocks xmlns:a="http://schemas.openxmlformats.org/drawingml/2006/main" noGrp="1"/>
          </p:cNvSpPr>
          <p:nvPr/>
        </p:nvSpPr>
        <p:spPr>
          <a:xfrm xmlns:a="http://schemas.openxmlformats.org/drawingml/2006/main">
            <a:off x="400050" y="2667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KIVA NARRATIVE ATTENTION</a:t>
            </a:r>
          </a:p>
        </p:txBody>
      </p:sp>
      <p:sp>
        <p:nvSpPr>
          <p:cNvPr id="2" name="slide-title">
            <a:extLst xmlns:a="http://schemas.openxmlformats.org/drawingml/2006/main">
              <a:ext uri="{FF2B5EF4-FFF2-40B4-BE49-F238E27FC236}">
                <a16:creationId xmlns:a16="http://schemas.microsoft.com/office/drawing/2014/main" id="{00FE835F-1A48-4345-A504-F4947465EFD5}"/>
              </a:ext>
            </a:extLst>
          </p:cNvPr>
          <p:cNvSpPr>
            <a:spLocks xmlns:a="http://schemas.openxmlformats.org/drawingml/2006/main" noGrp="1"/>
          </p:cNvSpPr>
          <p:nvPr/>
        </p:nvSpPr>
        <p:spPr>
          <a:xfrm xmlns:a="http://schemas.openxmlformats.org/drawingml/2006/main">
            <a:off x="400050" y="59055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The recent-listing proxy shows no detectable joint penalty</a:t>
            </a:r>
          </a:p>
        </p:txBody>
      </p:sp>
      <p:sp>
        <p:nvSpPr>
          <p:cNvPr id="3" name="page-number">
            <a:extLst xmlns:a="http://schemas.openxmlformats.org/drawingml/2006/main">
              <a:ext uri="{FF2B5EF4-FFF2-40B4-BE49-F238E27FC236}">
                <a16:creationId xmlns:a16="http://schemas.microsoft.com/office/drawing/2014/main" id="{75D4AC04-69D7-44C0-931D-1B5DAA1C0DFD}"/>
              </a:ext>
            </a:extLst>
          </p:cNvPr>
          <p:cNvSpPr>
            <a:spLocks xmlns:a="http://schemas.openxmlformats.org/drawingml/2006/main" noGrp="1"/>
          </p:cNvSpPr>
          <p:nvPr/>
        </p:nvSpPr>
        <p:spPr>
          <a:xfrm xmlns:a="http://schemas.openxmlformats.org/drawingml/2006/main">
            <a:off x="11277600" y="2667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06</a:t>
            </a:r>
          </a:p>
        </p:txBody>
      </p:sp>
      <p:sp>
        <p:nvSpPr>
          <p:cNvPr id="4" name="text">
            <a:extLst xmlns:a="http://schemas.openxmlformats.org/drawingml/2006/main">
              <a:ext uri="{FF2B5EF4-FFF2-40B4-BE49-F238E27FC236}">
                <a16:creationId xmlns:a16="http://schemas.microsoft.com/office/drawing/2014/main" id="{3A859C76-4123-484A-AE54-B572755D9916}"/>
              </a:ext>
            </a:extLst>
          </p:cNvPr>
          <p:cNvSpPr>
            <a:spLocks xmlns:a="http://schemas.openxmlformats.org/drawingml/2006/main" noGrp="1"/>
          </p:cNvSpPr>
          <p:nvPr/>
        </p:nvSpPr>
        <p:spPr>
          <a:xfrm xmlns:a="http://schemas.openxmlformats.org/drawingml/2006/main">
            <a:off x="400050" y="1790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LOG-TIME BACK-TRANSFORM</a:t>
            </a:r>
          </a:p>
        </p:txBody>
      </p:sp>
      <p:sp>
        <p:nvSpPr>
          <p:cNvPr id="5" name="text">
            <a:extLst xmlns:a="http://schemas.openxmlformats.org/drawingml/2006/main">
              <a:ext uri="{FF2B5EF4-FFF2-40B4-BE49-F238E27FC236}">
                <a16:creationId xmlns:a16="http://schemas.microsoft.com/office/drawing/2014/main" id="{BE20E6D1-01E4-4DF6-A772-4F777D438FF6}"/>
              </a:ext>
            </a:extLst>
          </p:cNvPr>
          <p:cNvSpPr>
            <a:spLocks xmlns:a="http://schemas.openxmlformats.org/drawingml/2006/main" noGrp="1"/>
          </p:cNvSpPr>
          <p:nvPr/>
        </p:nvSpPr>
        <p:spPr>
          <a:xfrm xmlns:a="http://schemas.openxmlformats.org/drawingml/2006/main">
            <a:off x="400050" y="215265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529"/>
          </a:bodyPr>
          <a:lstStyle xmlns:a="http://schemas.openxmlformats.org/drawingml/2006/main"/>
          <a:p xmlns:a="http://schemas.openxmlformats.org/drawingml/2006/main">
            <a:pPr algn="l">
              <a:defRPr sz="5100" b="1">
                <a:solidFill>
                  <a:srgbClr val="E5A93D"/>
                </a:solidFill>
                <a:latin typeface="Helvetica Neue"/>
                <a:ea typeface="Helvetica Neue"/>
                <a:cs typeface="Helvetica Neue"/>
              </a:defRPr>
            </a:pPr>
            <a:r>
              <a:rPr sz="5100" b="1">
                <a:solidFill>
                  <a:srgbClr val="E5A93D"/>
                </a:solidFill>
                <a:latin typeface="Helvetica Neue"/>
                <a:ea typeface="Helvetica Neue"/>
                <a:cs typeface="Helvetica Neue"/>
              </a:rPr>
              <a:t>−1.43%</a:t>
            </a:r>
          </a:p>
        </p:txBody>
      </p:sp>
      <p:sp>
        <p:nvSpPr>
          <p:cNvPr id="6" name="text">
            <a:extLst xmlns:a="http://schemas.openxmlformats.org/drawingml/2006/main">
              <a:ext uri="{FF2B5EF4-FFF2-40B4-BE49-F238E27FC236}">
                <a16:creationId xmlns:a16="http://schemas.microsoft.com/office/drawing/2014/main" id="{D6C23A0D-01EF-41C6-9A7E-AAE58071464E}"/>
              </a:ext>
            </a:extLst>
          </p:cNvPr>
          <p:cNvSpPr>
            <a:spLocks xmlns:a="http://schemas.openxmlformats.org/drawingml/2006/main" noGrp="1"/>
          </p:cNvSpPr>
          <p:nvPr/>
        </p:nvSpPr>
        <p:spPr>
          <a:xfrm xmlns:a="http://schemas.openxmlformats.org/drawingml/2006/main">
            <a:off x="400050" y="30670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334155"/>
                </a:solidFill>
                <a:latin typeface="Helvetica Neue"/>
                <a:ea typeface="Helvetica Neue"/>
                <a:cs typeface="Helvetica Neue"/>
              </a:defRPr>
            </a:pPr>
            <a:r>
              <a:rPr sz="1500" b="0">
                <a:solidFill>
                  <a:srgbClr val="334155"/>
                </a:solidFill>
                <a:latin typeface="Helvetica Neue"/>
                <a:ea typeface="Helvetica Neue"/>
                <a:cs typeface="Helvetica Neue"/>
              </a:rPr>
              <a:t>95% CI  −15.82%  to  +15.43%</a:t>
            </a:r>
          </a:p>
        </p:txBody>
      </p:sp>
      <p:sp>
        <p:nvSpPr>
          <p:cNvPr id="7" name="rule">
            <a:extLst xmlns:a="http://schemas.openxmlformats.org/drawingml/2006/main">
              <a:ext uri="{FF2B5EF4-FFF2-40B4-BE49-F238E27FC236}">
                <a16:creationId xmlns:a16="http://schemas.microsoft.com/office/drawing/2014/main" id="{94F5E5D2-EEEB-4C84-9C57-BCBE53E1FC80}"/>
              </a:ext>
            </a:extLst>
          </p:cNvPr>
          <p:cNvSpPr>
            <a:spLocks xmlns:a="http://schemas.openxmlformats.org/drawingml/2006/main" noGrp="1"/>
          </p:cNvSpPr>
          <p:nvPr/>
        </p:nvSpPr>
        <p:spPr>
          <a:xfrm xmlns:a="http://schemas.openxmlformats.org/drawingml/2006/main">
            <a:off x="400050" y="3771900"/>
            <a:ext cx="5010150" cy="2857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8" name="rule">
            <a:extLst xmlns:a="http://schemas.openxmlformats.org/drawingml/2006/main">
              <a:ext uri="{FF2B5EF4-FFF2-40B4-BE49-F238E27FC236}">
                <a16:creationId xmlns:a16="http://schemas.microsoft.com/office/drawing/2014/main" id="{681E3776-9D79-46F8-971D-BA991626DEF8}"/>
              </a:ext>
            </a:extLst>
          </p:cNvPr>
          <p:cNvSpPr>
            <a:spLocks xmlns:a="http://schemas.openxmlformats.org/drawingml/2006/main" noGrp="1"/>
          </p:cNvSpPr>
          <p:nvPr/>
        </p:nvSpPr>
        <p:spPr>
          <a:xfrm xmlns:a="http://schemas.openxmlformats.org/drawingml/2006/main">
            <a:off x="2762250" y="3619500"/>
            <a:ext cx="28575" cy="3429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9" name="recent-ci-time">
            <a:extLst xmlns:a="http://schemas.openxmlformats.org/drawingml/2006/main">
              <a:ext uri="{FF2B5EF4-FFF2-40B4-BE49-F238E27FC236}">
                <a16:creationId xmlns:a16="http://schemas.microsoft.com/office/drawing/2014/main" id="{936E579E-A5AB-4BCE-A9ED-753DBB6693A8}"/>
              </a:ext>
            </a:extLst>
          </p:cNvPr>
          <p:cNvSpPr>
            <a:spLocks xmlns:a="http://schemas.openxmlformats.org/drawingml/2006/main" noGrp="1"/>
          </p:cNvSpPr>
          <p:nvPr/>
        </p:nvSpPr>
        <p:spPr>
          <a:xfrm xmlns:a="http://schemas.openxmlformats.org/drawingml/2006/main">
            <a:off x="1581150" y="3695700"/>
            <a:ext cx="2381250" cy="171450"/>
          </a:xfrm>
          <a:prstGeom xmlns:a="http://schemas.openxmlformats.org/drawingml/2006/main" prst="rect">
            <a:avLst/>
          </a:prstGeom>
          <a:solidFill xmlns:a="http://schemas.openxmlformats.org/drawingml/2006/main">
            <a:srgbClr val="E5A93D"/>
          </a:solidFill>
          <a:ln xmlns:a="http://schemas.openxmlformats.org/drawingml/2006/main" w="0">
            <a:solidFill>
              <a:srgbClr val="E5A93D"/>
            </a:solidFill>
            <a:prstDash val="solid"/>
          </a:ln>
        </p:spPr>
      </p:sp>
      <p:sp>
        <p:nvSpPr>
          <p:cNvPr id="10" name="recent-point-time">
            <a:extLst xmlns:a="http://schemas.openxmlformats.org/drawingml/2006/main">
              <a:ext uri="{FF2B5EF4-FFF2-40B4-BE49-F238E27FC236}">
                <a16:creationId xmlns:a16="http://schemas.microsoft.com/office/drawing/2014/main" id="{CE046051-CC60-436E-AC21-EDDA1CD2AB89}"/>
              </a:ext>
            </a:extLst>
          </p:cNvPr>
          <p:cNvSpPr>
            <a:spLocks xmlns:a="http://schemas.openxmlformats.org/drawingml/2006/main" noGrp="1"/>
          </p:cNvSpPr>
          <p:nvPr/>
        </p:nvSpPr>
        <p:spPr>
          <a:xfrm xmlns:a="http://schemas.openxmlformats.org/drawingml/2006/main">
            <a:off x="2686050" y="3638550"/>
            <a:ext cx="152400" cy="285750"/>
          </a:xfrm>
          <a:prstGeom xmlns:a="http://schemas.openxmlformats.org/drawingml/2006/main" prst="ellipse">
            <a:avLst/>
          </a:prstGeom>
          <a:solidFill xmlns:a="http://schemas.openxmlformats.org/drawingml/2006/main">
            <a:srgbClr val="E5A93D"/>
          </a:solidFill>
          <a:ln xmlns:a="http://schemas.openxmlformats.org/drawingml/2006/main" w="0">
            <a:solidFill>
              <a:srgbClr val="E5A93D"/>
            </a:solidFill>
            <a:prstDash val="solid"/>
          </a:ln>
        </p:spPr>
      </p:sp>
      <p:sp>
        <p:nvSpPr>
          <p:cNvPr id="11" name="text">
            <a:extLst xmlns:a="http://schemas.openxmlformats.org/drawingml/2006/main">
              <a:ext uri="{FF2B5EF4-FFF2-40B4-BE49-F238E27FC236}">
                <a16:creationId xmlns:a16="http://schemas.microsoft.com/office/drawing/2014/main" id="{C1270866-859D-4E93-B9F5-2D8C72E59431}"/>
              </a:ext>
            </a:extLst>
          </p:cNvPr>
          <p:cNvSpPr>
            <a:spLocks xmlns:a="http://schemas.openxmlformats.org/drawingml/2006/main" noGrp="1"/>
          </p:cNvSpPr>
          <p:nvPr/>
        </p:nvSpPr>
        <p:spPr>
          <a:xfrm xmlns:a="http://schemas.openxmlformats.org/drawingml/2006/main">
            <a:off x="2647950" y="40005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defRPr sz="1050" b="0">
                <a:solidFill>
                  <a:srgbClr val="64748B"/>
                </a:solidFill>
                <a:latin typeface="Helvetica Neue"/>
                <a:ea typeface="Helvetica Neue"/>
                <a:cs typeface="Helvetica Neue"/>
              </a:defRPr>
            </a:pPr>
            <a:r>
              <a:rPr sz="1050" b="0">
                <a:solidFill>
                  <a:srgbClr val="64748B"/>
                </a:solidFill>
                <a:latin typeface="Helvetica Neue"/>
                <a:ea typeface="Helvetica Neue"/>
                <a:cs typeface="Helvetica Neue"/>
              </a:rPr>
              <a:t>0</a:t>
            </a:r>
          </a:p>
        </p:txBody>
      </p:sp>
      <p:sp>
        <p:nvSpPr>
          <p:cNvPr id="12" name="text">
            <a:extLst xmlns:a="http://schemas.openxmlformats.org/drawingml/2006/main">
              <a:ext uri="{FF2B5EF4-FFF2-40B4-BE49-F238E27FC236}">
                <a16:creationId xmlns:a16="http://schemas.microsoft.com/office/drawing/2014/main" id="{670B0FD9-87DB-402B-8EA5-F50D971CF766}"/>
              </a:ext>
            </a:extLst>
          </p:cNvPr>
          <p:cNvSpPr>
            <a:spLocks xmlns:a="http://schemas.openxmlformats.org/drawingml/2006/main" noGrp="1"/>
          </p:cNvSpPr>
          <p:nvPr/>
        </p:nvSpPr>
        <p:spPr>
          <a:xfrm xmlns:a="http://schemas.openxmlformats.org/drawingml/2006/main">
            <a:off x="6496050" y="17907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72-HOUR PROBABILITY</a:t>
            </a:r>
          </a:p>
        </p:txBody>
      </p:sp>
      <p:sp>
        <p:nvSpPr>
          <p:cNvPr id="13" name="text">
            <a:extLst xmlns:a="http://schemas.openxmlformats.org/drawingml/2006/main">
              <a:ext uri="{FF2B5EF4-FFF2-40B4-BE49-F238E27FC236}">
                <a16:creationId xmlns:a16="http://schemas.microsoft.com/office/drawing/2014/main" id="{ADF0AB38-AC4B-4421-AA2C-7D2AEE50C9F7}"/>
              </a:ext>
            </a:extLst>
          </p:cNvPr>
          <p:cNvSpPr>
            <a:spLocks xmlns:a="http://schemas.openxmlformats.org/drawingml/2006/main" noGrp="1"/>
          </p:cNvSpPr>
          <p:nvPr/>
        </p:nvSpPr>
        <p:spPr>
          <a:xfrm xmlns:a="http://schemas.openxmlformats.org/drawingml/2006/main">
            <a:off x="6496050" y="2152650"/>
            <a:ext cx="3619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529"/>
          </a:bodyPr>
          <a:lstStyle xmlns:a="http://schemas.openxmlformats.org/drawingml/2006/main"/>
          <a:p xmlns:a="http://schemas.openxmlformats.org/drawingml/2006/main">
            <a:pPr algn="l">
              <a:defRPr sz="5100" b="1">
                <a:solidFill>
                  <a:srgbClr val="E5A93D"/>
                </a:solidFill>
                <a:latin typeface="Helvetica Neue"/>
                <a:ea typeface="Helvetica Neue"/>
                <a:cs typeface="Helvetica Neue"/>
              </a:defRPr>
            </a:pPr>
            <a:r>
              <a:rPr sz="5100" b="1">
                <a:solidFill>
                  <a:srgbClr val="E5A93D"/>
                </a:solidFill>
                <a:latin typeface="Helvetica Neue"/>
                <a:ea typeface="Helvetica Neue"/>
                <a:cs typeface="Helvetica Neue"/>
              </a:rPr>
              <a:t>−0.51pp</a:t>
            </a:r>
          </a:p>
        </p:txBody>
      </p:sp>
      <p:sp>
        <p:nvSpPr>
          <p:cNvPr id="14" name="text">
            <a:extLst xmlns:a="http://schemas.openxmlformats.org/drawingml/2006/main">
              <a:ext uri="{FF2B5EF4-FFF2-40B4-BE49-F238E27FC236}">
                <a16:creationId xmlns:a16="http://schemas.microsoft.com/office/drawing/2014/main" id="{416C51AF-17E7-431E-8AF3-4B021E618A7B}"/>
              </a:ext>
            </a:extLst>
          </p:cNvPr>
          <p:cNvSpPr>
            <a:spLocks xmlns:a="http://schemas.openxmlformats.org/drawingml/2006/main" noGrp="1"/>
          </p:cNvSpPr>
          <p:nvPr/>
        </p:nvSpPr>
        <p:spPr>
          <a:xfrm xmlns:a="http://schemas.openxmlformats.org/drawingml/2006/main">
            <a:off x="6496050" y="30670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334155"/>
                </a:solidFill>
                <a:latin typeface="Helvetica Neue"/>
                <a:ea typeface="Helvetica Neue"/>
                <a:cs typeface="Helvetica Neue"/>
              </a:defRPr>
            </a:pPr>
            <a:r>
              <a:rPr sz="1500" b="0">
                <a:solidFill>
                  <a:srgbClr val="334155"/>
                </a:solidFill>
                <a:latin typeface="Helvetica Neue"/>
                <a:ea typeface="Helvetica Neue"/>
                <a:cs typeface="Helvetica Neue"/>
              </a:rPr>
              <a:t>95% CI  −3.86pp  to  +2.84pp</a:t>
            </a:r>
          </a:p>
        </p:txBody>
      </p:sp>
      <p:sp>
        <p:nvSpPr>
          <p:cNvPr id="15" name="rule">
            <a:extLst xmlns:a="http://schemas.openxmlformats.org/drawingml/2006/main">
              <a:ext uri="{FF2B5EF4-FFF2-40B4-BE49-F238E27FC236}">
                <a16:creationId xmlns:a16="http://schemas.microsoft.com/office/drawing/2014/main" id="{1D777950-081A-47AB-943C-5171689B76E9}"/>
              </a:ext>
            </a:extLst>
          </p:cNvPr>
          <p:cNvSpPr>
            <a:spLocks xmlns:a="http://schemas.openxmlformats.org/drawingml/2006/main" noGrp="1"/>
          </p:cNvSpPr>
          <p:nvPr/>
        </p:nvSpPr>
        <p:spPr>
          <a:xfrm xmlns:a="http://schemas.openxmlformats.org/drawingml/2006/main">
            <a:off x="6496050" y="3771900"/>
            <a:ext cx="5010150" cy="2857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rule">
            <a:extLst xmlns:a="http://schemas.openxmlformats.org/drawingml/2006/main">
              <a:ext uri="{FF2B5EF4-FFF2-40B4-BE49-F238E27FC236}">
                <a16:creationId xmlns:a16="http://schemas.microsoft.com/office/drawing/2014/main" id="{A70F1293-6D2F-4865-8BDF-8F5594768367}"/>
              </a:ext>
            </a:extLst>
          </p:cNvPr>
          <p:cNvSpPr>
            <a:spLocks xmlns:a="http://schemas.openxmlformats.org/drawingml/2006/main" noGrp="1"/>
          </p:cNvSpPr>
          <p:nvPr/>
        </p:nvSpPr>
        <p:spPr>
          <a:xfrm xmlns:a="http://schemas.openxmlformats.org/drawingml/2006/main">
            <a:off x="8858250" y="3619500"/>
            <a:ext cx="28575" cy="3429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7" name="recent-ci-72">
            <a:extLst xmlns:a="http://schemas.openxmlformats.org/drawingml/2006/main">
              <a:ext uri="{FF2B5EF4-FFF2-40B4-BE49-F238E27FC236}">
                <a16:creationId xmlns:a16="http://schemas.microsoft.com/office/drawing/2014/main" id="{B6FD6565-E0C0-46DD-A387-53E810676BC4}"/>
              </a:ext>
            </a:extLst>
          </p:cNvPr>
          <p:cNvSpPr>
            <a:spLocks xmlns:a="http://schemas.openxmlformats.org/drawingml/2006/main" noGrp="1"/>
          </p:cNvSpPr>
          <p:nvPr/>
        </p:nvSpPr>
        <p:spPr>
          <a:xfrm xmlns:a="http://schemas.openxmlformats.org/drawingml/2006/main">
            <a:off x="7658100" y="3695700"/>
            <a:ext cx="2352675" cy="171450"/>
          </a:xfrm>
          <a:prstGeom xmlns:a="http://schemas.openxmlformats.org/drawingml/2006/main" prst="rect">
            <a:avLst/>
          </a:prstGeom>
          <a:solidFill xmlns:a="http://schemas.openxmlformats.org/drawingml/2006/main">
            <a:srgbClr val="E5A93D"/>
          </a:solidFill>
          <a:ln xmlns:a="http://schemas.openxmlformats.org/drawingml/2006/main" w="0">
            <a:solidFill>
              <a:srgbClr val="E5A93D"/>
            </a:solidFill>
            <a:prstDash val="solid"/>
          </a:ln>
        </p:spPr>
      </p:sp>
      <p:sp>
        <p:nvSpPr>
          <p:cNvPr id="18" name="recent-point-72">
            <a:extLst xmlns:a="http://schemas.openxmlformats.org/drawingml/2006/main">
              <a:ext uri="{FF2B5EF4-FFF2-40B4-BE49-F238E27FC236}">
                <a16:creationId xmlns:a16="http://schemas.microsoft.com/office/drawing/2014/main" id="{E8873D05-F4CF-4532-AFC2-D05F59662A40}"/>
              </a:ext>
            </a:extLst>
          </p:cNvPr>
          <p:cNvSpPr>
            <a:spLocks xmlns:a="http://schemas.openxmlformats.org/drawingml/2006/main" noGrp="1"/>
          </p:cNvSpPr>
          <p:nvPr/>
        </p:nvSpPr>
        <p:spPr>
          <a:xfrm xmlns:a="http://schemas.openxmlformats.org/drawingml/2006/main">
            <a:off x="8686800" y="3638550"/>
            <a:ext cx="152400" cy="285750"/>
          </a:xfrm>
          <a:prstGeom xmlns:a="http://schemas.openxmlformats.org/drawingml/2006/main" prst="ellipse">
            <a:avLst/>
          </a:prstGeom>
          <a:solidFill xmlns:a="http://schemas.openxmlformats.org/drawingml/2006/main">
            <a:srgbClr val="E5A93D"/>
          </a:solidFill>
          <a:ln xmlns:a="http://schemas.openxmlformats.org/drawingml/2006/main" w="0">
            <a:solidFill>
              <a:srgbClr val="E5A93D"/>
            </a:solidFill>
            <a:prstDash val="solid"/>
          </a:ln>
        </p:spPr>
      </p:sp>
      <p:sp>
        <p:nvSpPr>
          <p:cNvPr id="19" name="text">
            <a:extLst xmlns:a="http://schemas.openxmlformats.org/drawingml/2006/main">
              <a:ext uri="{FF2B5EF4-FFF2-40B4-BE49-F238E27FC236}">
                <a16:creationId xmlns:a16="http://schemas.microsoft.com/office/drawing/2014/main" id="{E90C06C6-11DF-426F-A766-C8A61166280C}"/>
              </a:ext>
            </a:extLst>
          </p:cNvPr>
          <p:cNvSpPr>
            <a:spLocks xmlns:a="http://schemas.openxmlformats.org/drawingml/2006/main" noGrp="1"/>
          </p:cNvSpPr>
          <p:nvPr/>
        </p:nvSpPr>
        <p:spPr>
          <a:xfrm xmlns:a="http://schemas.openxmlformats.org/drawingml/2006/main">
            <a:off x="8743950" y="40005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defRPr sz="1050" b="0">
                <a:solidFill>
                  <a:srgbClr val="64748B"/>
                </a:solidFill>
                <a:latin typeface="Helvetica Neue"/>
                <a:ea typeface="Helvetica Neue"/>
                <a:cs typeface="Helvetica Neue"/>
              </a:defRPr>
            </a:pPr>
            <a:r>
              <a:rPr sz="1050" b="0">
                <a:solidFill>
                  <a:srgbClr val="64748B"/>
                </a:solidFill>
                <a:latin typeface="Helvetica Neue"/>
                <a:ea typeface="Helvetica Neue"/>
                <a:cs typeface="Helvetica Neue"/>
              </a:rPr>
              <a:t>0</a:t>
            </a:r>
          </a:p>
        </p:txBody>
      </p:sp>
      <p:sp>
        <p:nvSpPr>
          <p:cNvPr id="20" name="recent-conclusion">
            <a:extLst xmlns:a="http://schemas.openxmlformats.org/drawingml/2006/main">
              <a:ext uri="{FF2B5EF4-FFF2-40B4-BE49-F238E27FC236}">
                <a16:creationId xmlns:a16="http://schemas.microsoft.com/office/drawing/2014/main" id="{3FD55026-3A70-49EF-935B-58000AA490C0}"/>
              </a:ext>
            </a:extLst>
          </p:cNvPr>
          <p:cNvSpPr>
            <a:spLocks xmlns:a="http://schemas.openxmlformats.org/drawingml/2006/main" noGrp="1"/>
          </p:cNvSpPr>
          <p:nvPr/>
        </p:nvSpPr>
        <p:spPr>
          <a:xfrm xmlns:a="http://schemas.openxmlformats.org/drawingml/2006/main">
            <a:off x="400050" y="4781550"/>
            <a:ext cx="11106150" cy="93345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21" name="text">
            <a:extLst xmlns:a="http://schemas.openxmlformats.org/drawingml/2006/main">
              <a:ext uri="{FF2B5EF4-FFF2-40B4-BE49-F238E27FC236}">
                <a16:creationId xmlns:a16="http://schemas.microsoft.com/office/drawing/2014/main" id="{DF977F10-639C-4953-8140-EB88E14BFF43}"/>
              </a:ext>
            </a:extLst>
          </p:cNvPr>
          <p:cNvSpPr>
            <a:spLocks xmlns:a="http://schemas.openxmlformats.org/drawingml/2006/main" noGrp="1"/>
          </p:cNvSpPr>
          <p:nvPr/>
        </p:nvSpPr>
        <p:spPr>
          <a:xfrm xmlns:a="http://schemas.openxmlformats.org/drawingml/2006/main">
            <a:off x="647700" y="501015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136"/>
          </a:bodyPr>
          <a:lstStyle xmlns:a="http://schemas.openxmlformats.org/drawingml/2006/main"/>
          <a:p xmlns:a="http://schemas.openxmlformats.org/drawingml/2006/main">
            <a:pPr algn="l">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Intervals cross zero</a:t>
            </a:r>
          </a:p>
        </p:txBody>
      </p:sp>
      <p:sp>
        <p:nvSpPr>
          <p:cNvPr id="22" name="text">
            <a:extLst xmlns:a="http://schemas.openxmlformats.org/drawingml/2006/main">
              <a:ext uri="{FF2B5EF4-FFF2-40B4-BE49-F238E27FC236}">
                <a16:creationId xmlns:a16="http://schemas.microsoft.com/office/drawing/2014/main" id="{2498EFC9-BD5B-4D9C-ADD4-94C5B9E525FA}"/>
              </a:ext>
            </a:extLst>
          </p:cNvPr>
          <p:cNvSpPr>
            <a:spLocks xmlns:a="http://schemas.openxmlformats.org/drawingml/2006/main" noGrp="1"/>
          </p:cNvSpPr>
          <p:nvPr/>
        </p:nvSpPr>
        <p:spPr>
          <a:xfrm xmlns:a="http://schemas.openxmlformats.org/drawingml/2006/main">
            <a:off x="3829050" y="4981575"/>
            <a:ext cx="7334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455"/>
          </a:bodyPr>
          <a:lstStyle xmlns:a="http://schemas.openxmlformats.org/drawingml/2006/main"/>
          <a:p xmlns:a="http://schemas.openxmlformats.org/drawingml/2006/main">
            <a:pPr algn="l">
              <a:defRPr sz="1575" b="0">
                <a:solidFill>
                  <a:srgbClr val="334155"/>
                </a:solidFill>
                <a:latin typeface="Helvetica Neue"/>
                <a:ea typeface="Helvetica Neue"/>
                <a:cs typeface="Helvetica Neue"/>
              </a:defRPr>
            </a:pPr>
            <a:r>
              <a:rPr sz="1575" b="0">
                <a:solidFill>
                  <a:srgbClr val="334155"/>
                </a:solidFill>
                <a:latin typeface="Helvetica Neue"/>
                <a:ea typeface="Helvetica Neue"/>
                <a:cs typeface="Helvetica Neue"/>
              </a:rPr>
              <a:t>A posting-age proxy does not support broad average wear-out—not that wear-out is impossible.</a:t>
            </a:r>
          </a:p>
        </p:txBody>
      </p:sp>
      <p:sp>
        <p:nvSpPr>
          <p:cNvPr id="23" name="rule">
            <a:extLst xmlns:a="http://schemas.openxmlformats.org/drawingml/2006/main">
              <a:ext uri="{FF2B5EF4-FFF2-40B4-BE49-F238E27FC236}">
                <a16:creationId xmlns:a16="http://schemas.microsoft.com/office/drawing/2014/main" id="{CD59DC63-9387-4C94-9D4C-CCC1CF3E92E2}"/>
              </a:ext>
            </a:extLst>
          </p:cNvPr>
          <p:cNvSpPr>
            <a:spLocks xmlns:a="http://schemas.openxmlformats.org/drawingml/2006/main" noGrp="1"/>
          </p:cNvSpPr>
          <p:nvPr/>
        </p:nvSpPr>
        <p:spPr>
          <a:xfrm xmlns:a="http://schemas.openxmlformats.org/drawingml/2006/main">
            <a:off x="400050" y="643890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4" name="source-footer">
            <a:extLst xmlns:a="http://schemas.openxmlformats.org/drawingml/2006/main">
              <a:ext uri="{FF2B5EF4-FFF2-40B4-BE49-F238E27FC236}">
                <a16:creationId xmlns:a16="http://schemas.microsoft.com/office/drawing/2014/main" id="{61C35D15-FB18-451D-A9BE-738B22523813}"/>
              </a:ext>
            </a:extLst>
          </p:cNvPr>
          <p:cNvSpPr>
            <a:spLocks xmlns:a="http://schemas.openxmlformats.org/drawingml/2006/main" noGrp="1"/>
          </p:cNvSpPr>
          <p:nvPr/>
        </p:nvSpPr>
        <p:spPr>
          <a:xfrm xmlns:a="http://schemas.openxmlformats.org/drawingml/2006/main">
            <a:off x="400050" y="651510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l">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Source: outputs/scenario_contrasts.csv</a:t>
            </a:r>
          </a:p>
        </p:txBody>
      </p:sp>
      <p:sp>
        <p:nvSpPr>
          <p:cNvPr id="25" name="team-footer">
            <a:extLst xmlns:a="http://schemas.openxmlformats.org/drawingml/2006/main">
              <a:ext uri="{FF2B5EF4-FFF2-40B4-BE49-F238E27FC236}">
                <a16:creationId xmlns:a16="http://schemas.microsoft.com/office/drawing/2014/main" id="{52D5B4B5-FAD2-4D33-BA99-29766A59104E}"/>
              </a:ext>
            </a:extLst>
          </p:cNvPr>
          <p:cNvSpPr>
            <a:spLocks xmlns:a="http://schemas.openxmlformats.org/drawingml/2006/main" noGrp="1"/>
          </p:cNvSpPr>
          <p:nvPr/>
        </p:nvSpPr>
        <p:spPr>
          <a:xfrm xmlns:a="http://schemas.openxmlformats.org/drawingml/2006/main">
            <a:off x="10325100" y="651510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r">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5 GUYS · 06</a:t>
            </a:r>
          </a:p>
        </p:txBody>
      </p:sp>
    </p:spTree>
    <p:extLst>
      <p:ext uri="{BB962C8B-B14F-4D97-AF65-F5344CB8AC3E}">
        <p14:creationId xmlns:p14="http://schemas.microsoft.com/office/powerpoint/2010/main" val="20817436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3a96d42872e40c0"/>
          <a:stretch xmlns:a="http://schemas.openxmlformats.org/drawingml/2006/main"/>
        </p:blipFill>
        <p:spPr>
          <a:xfrm xmlns:a="http://schemas.openxmlformats.org/drawingml/2006/main">
            <a:off x="233749" y="190500"/>
            <a:ext cx="11724502" cy="5781675"/>
          </a:xfrm>
          <a:prstGeom xmlns:a="http://schemas.openxmlformats.org/drawingml/2006/main" prst="rect">
            <a:avLst/>
          </a:prstGeom>
        </p:spPr>
      </p:pic>
      <p:sp>
        <p:nvSpPr>
          <p:cNvPr id="2" name="text">
            <a:extLst xmlns:a="http://schemas.openxmlformats.org/drawingml/2006/main">
              <a:ext uri="{FF2B5EF4-FFF2-40B4-BE49-F238E27FC236}">
                <a16:creationId xmlns:a16="http://schemas.microsoft.com/office/drawing/2014/main" id="{D2FF1BF7-BAA9-4167-8A3D-DC29E6589B0E}"/>
              </a:ext>
            </a:extLst>
          </p:cNvPr>
          <p:cNvSpPr>
            <a:spLocks xmlns:a="http://schemas.openxmlformats.org/drawingml/2006/main" noGrp="1"/>
          </p:cNvSpPr>
          <p:nvPr/>
        </p:nvSpPr>
        <p:spPr>
          <a:xfrm xmlns:a="http://schemas.openxmlformats.org/drawingml/2006/main">
            <a:off x="571500" y="596265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Current survives 14/16-day windows and description. Recent does not survive the time-based or description checks.</a:t>
            </a:r>
          </a:p>
        </p:txBody>
      </p:sp>
      <p:sp>
        <p:nvSpPr>
          <p:cNvPr id="3" name="rule">
            <a:extLst xmlns:a="http://schemas.openxmlformats.org/drawingml/2006/main">
              <a:ext uri="{FF2B5EF4-FFF2-40B4-BE49-F238E27FC236}">
                <a16:creationId xmlns:a16="http://schemas.microsoft.com/office/drawing/2014/main" id="{26EA3490-A5BB-4CED-964C-20644E6318B1}"/>
              </a:ext>
            </a:extLst>
          </p:cNvPr>
          <p:cNvSpPr>
            <a:spLocks xmlns:a="http://schemas.openxmlformats.org/drawingml/2006/main" noGrp="1"/>
          </p:cNvSpPr>
          <p:nvPr/>
        </p:nvSpPr>
        <p:spPr>
          <a:xfrm xmlns:a="http://schemas.openxmlformats.org/drawingml/2006/main">
            <a:off x="400050" y="643890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source-footer">
            <a:extLst xmlns:a="http://schemas.openxmlformats.org/drawingml/2006/main">
              <a:ext uri="{FF2B5EF4-FFF2-40B4-BE49-F238E27FC236}">
                <a16:creationId xmlns:a16="http://schemas.microsoft.com/office/drawing/2014/main" id="{CE59327E-9582-4054-87A6-8ACE6DB5BD92}"/>
              </a:ext>
            </a:extLst>
          </p:cNvPr>
          <p:cNvSpPr>
            <a:spLocks xmlns:a="http://schemas.openxmlformats.org/drawingml/2006/main" noGrp="1"/>
          </p:cNvSpPr>
          <p:nvPr/>
        </p:nvSpPr>
        <p:spPr>
          <a:xfrm xmlns:a="http://schemas.openxmlformats.org/drawingml/2006/main">
            <a:off x="400050" y="651510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l">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Sources: outputs/robustness.csv; outputs/description_robustness.csv</a:t>
            </a:r>
          </a:p>
        </p:txBody>
      </p:sp>
      <p:sp>
        <p:nvSpPr>
          <p:cNvPr id="5" name="team-footer">
            <a:extLst xmlns:a="http://schemas.openxmlformats.org/drawingml/2006/main">
              <a:ext uri="{FF2B5EF4-FFF2-40B4-BE49-F238E27FC236}">
                <a16:creationId xmlns:a16="http://schemas.microsoft.com/office/drawing/2014/main" id="{28EED1C2-24D0-48C0-8C0B-AE66BB14411A}"/>
              </a:ext>
            </a:extLst>
          </p:cNvPr>
          <p:cNvSpPr>
            <a:spLocks xmlns:a="http://schemas.openxmlformats.org/drawingml/2006/main" noGrp="1"/>
          </p:cNvSpPr>
          <p:nvPr/>
        </p:nvSpPr>
        <p:spPr>
          <a:xfrm xmlns:a="http://schemas.openxmlformats.org/drawingml/2006/main">
            <a:off x="10325100" y="651510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r">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5 GUYS · 07</a:t>
            </a:r>
          </a:p>
        </p:txBody>
      </p:sp>
    </p:spTree>
    <p:extLst>
      <p:ext uri="{BB962C8B-B14F-4D97-AF65-F5344CB8AC3E}">
        <p14:creationId xmlns:p14="http://schemas.microsoft.com/office/powerpoint/2010/main" val="12882226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8258b1c7064a4087"/>
          <a:stretch xmlns:a="http://schemas.openxmlformats.org/drawingml/2006/main"/>
        </p:blipFill>
        <p:spPr>
          <a:xfrm xmlns:a="http://schemas.openxmlformats.org/drawingml/2006/main">
            <a:off x="609600" y="247857"/>
            <a:ext cx="10972800" cy="6190836"/>
          </a:xfrm>
          <a:prstGeom xmlns:a="http://schemas.openxmlformats.org/drawingml/2006/main" prst="rect">
            <a:avLst/>
          </a:prstGeom>
        </p:spPr>
      </p:pic>
      <p:sp>
        <p:nvSpPr>
          <p:cNvPr id="2" name="rule">
            <a:extLst xmlns:a="http://schemas.openxmlformats.org/drawingml/2006/main">
              <a:ext uri="{FF2B5EF4-FFF2-40B4-BE49-F238E27FC236}">
                <a16:creationId xmlns:a16="http://schemas.microsoft.com/office/drawing/2014/main" id="{066F304E-055A-4481-9180-72EF0E885401}"/>
              </a:ext>
            </a:extLst>
          </p:cNvPr>
          <p:cNvSpPr>
            <a:spLocks xmlns:a="http://schemas.openxmlformats.org/drawingml/2006/main" noGrp="1"/>
          </p:cNvSpPr>
          <p:nvPr/>
        </p:nvSpPr>
        <p:spPr>
          <a:xfrm xmlns:a="http://schemas.openxmlformats.org/drawingml/2006/main">
            <a:off x="400050" y="643890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3" name="source-footer">
            <a:extLst xmlns:a="http://schemas.openxmlformats.org/drawingml/2006/main">
              <a:ext uri="{FF2B5EF4-FFF2-40B4-BE49-F238E27FC236}">
                <a16:creationId xmlns:a16="http://schemas.microsoft.com/office/drawing/2014/main" id="{6229A084-BCB1-4C2E-93B5-ADEA5B74C6D1}"/>
              </a:ext>
            </a:extLst>
          </p:cNvPr>
          <p:cNvSpPr>
            <a:spLocks xmlns:a="http://schemas.openxmlformats.org/drawingml/2006/main" noGrp="1"/>
          </p:cNvSpPr>
          <p:nvPr/>
        </p:nvSpPr>
        <p:spPr>
          <a:xfrm xmlns:a="http://schemas.openxmlformats.org/drawingml/2006/main">
            <a:off x="400050" y="651510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l">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Source: outputs/holdout_validation.csv · Differences are descriptive; paired uncertainty not estimated.</a:t>
            </a:r>
          </a:p>
        </p:txBody>
      </p:sp>
      <p:sp>
        <p:nvSpPr>
          <p:cNvPr id="4" name="team-footer">
            <a:extLst xmlns:a="http://schemas.openxmlformats.org/drawingml/2006/main">
              <a:ext uri="{FF2B5EF4-FFF2-40B4-BE49-F238E27FC236}">
                <a16:creationId xmlns:a16="http://schemas.microsoft.com/office/drawing/2014/main" id="{BD7A992C-1DC5-416C-A2A9-233AE7291D60}"/>
              </a:ext>
            </a:extLst>
          </p:cNvPr>
          <p:cNvSpPr>
            <a:spLocks xmlns:a="http://schemas.openxmlformats.org/drawingml/2006/main" noGrp="1"/>
          </p:cNvSpPr>
          <p:nvPr/>
        </p:nvSpPr>
        <p:spPr>
          <a:xfrm xmlns:a="http://schemas.openxmlformats.org/drawingml/2006/main">
            <a:off x="10325100" y="651510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r">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5 GUYS · 08</a:t>
            </a:r>
          </a:p>
        </p:txBody>
      </p:sp>
    </p:spTree>
    <p:extLst>
      <p:ext uri="{BB962C8B-B14F-4D97-AF65-F5344CB8AC3E}">
        <p14:creationId xmlns:p14="http://schemas.microsoft.com/office/powerpoint/2010/main" val="193688615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ection-label">
            <a:extLst xmlns:a="http://schemas.openxmlformats.org/drawingml/2006/main">
              <a:ext uri="{FF2B5EF4-FFF2-40B4-BE49-F238E27FC236}">
                <a16:creationId xmlns:a16="http://schemas.microsoft.com/office/drawing/2014/main" id="{6C72CB56-80B8-4A18-89F0-9DD303B38CB2}"/>
              </a:ext>
            </a:extLst>
          </p:cNvPr>
          <p:cNvSpPr>
            <a:spLocks xmlns:a="http://schemas.openxmlformats.org/drawingml/2006/main" noGrp="1"/>
          </p:cNvSpPr>
          <p:nvPr/>
        </p:nvSpPr>
        <p:spPr>
          <a:xfrm xmlns:a="http://schemas.openxmlformats.org/drawingml/2006/main">
            <a:off x="400050" y="2667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KIVA NARRATIVE ATTENTION</a:t>
            </a:r>
          </a:p>
        </p:txBody>
      </p:sp>
      <p:sp>
        <p:nvSpPr>
          <p:cNvPr id="2" name="slide-title">
            <a:extLst xmlns:a="http://schemas.openxmlformats.org/drawingml/2006/main">
              <a:ext uri="{FF2B5EF4-FFF2-40B4-BE49-F238E27FC236}">
                <a16:creationId xmlns:a16="http://schemas.microsoft.com/office/drawing/2014/main" id="{9359D731-E1F3-4CC0-A2AD-366EAD9D3907}"/>
              </a:ext>
            </a:extLst>
          </p:cNvPr>
          <p:cNvSpPr>
            <a:spLocks xmlns:a="http://schemas.openxmlformats.org/drawingml/2006/main" noGrp="1"/>
          </p:cNvSpPr>
          <p:nvPr/>
        </p:nvSpPr>
        <p:spPr>
          <a:xfrm xmlns:a="http://schemas.openxmlformats.org/drawingml/2006/main">
            <a:off x="400050" y="59055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14"/>
          </a:bodyPr>
          <a:lstStyle xmlns:a="http://schemas.openxmlformats.org/drawingml/2006/main"/>
          <a:p xmlns:a="http://schemas.openxmlformats.org/drawingml/2006/main">
            <a:pPr algn="l">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The evidence supports experiments on the market—not borrower scoring</a:t>
            </a:r>
          </a:p>
        </p:txBody>
      </p:sp>
      <p:sp>
        <p:nvSpPr>
          <p:cNvPr id="3" name="page-number">
            <a:extLst xmlns:a="http://schemas.openxmlformats.org/drawingml/2006/main">
              <a:ext uri="{FF2B5EF4-FFF2-40B4-BE49-F238E27FC236}">
                <a16:creationId xmlns:a16="http://schemas.microsoft.com/office/drawing/2014/main" id="{79349AF4-7757-4D13-9FEF-6AE1E8BB38DD}"/>
              </a:ext>
            </a:extLst>
          </p:cNvPr>
          <p:cNvSpPr>
            <a:spLocks xmlns:a="http://schemas.openxmlformats.org/drawingml/2006/main" noGrp="1"/>
          </p:cNvSpPr>
          <p:nvPr/>
        </p:nvSpPr>
        <p:spPr>
          <a:xfrm xmlns:a="http://schemas.openxmlformats.org/drawingml/2006/main">
            <a:off x="11277600" y="2667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09</a:t>
            </a:r>
          </a:p>
        </p:txBody>
      </p:sp>
      <p:sp>
        <p:nvSpPr>
          <p:cNvPr id="4" name="text">
            <a:extLst xmlns:a="http://schemas.openxmlformats.org/drawingml/2006/main">
              <a:ext uri="{FF2B5EF4-FFF2-40B4-BE49-F238E27FC236}">
                <a16:creationId xmlns:a16="http://schemas.microsoft.com/office/drawing/2014/main" id="{65AF610F-B552-44B8-B3A3-12DDD882AC66}"/>
              </a:ext>
            </a:extLst>
          </p:cNvPr>
          <p:cNvSpPr>
            <a:spLocks xmlns:a="http://schemas.openxmlformats.org/drawingml/2006/main" noGrp="1"/>
          </p:cNvSpPr>
          <p:nvPr/>
        </p:nvSpPr>
        <p:spPr>
          <a:xfrm xmlns:a="http://schemas.openxmlformats.org/drawingml/2006/main">
            <a:off x="400050" y="16192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PILOT A</a:t>
            </a:r>
          </a:p>
        </p:txBody>
      </p:sp>
      <p:sp>
        <p:nvSpPr>
          <p:cNvPr id="5" name="text">
            <a:extLst xmlns:a="http://schemas.openxmlformats.org/drawingml/2006/main">
              <a:ext uri="{FF2B5EF4-FFF2-40B4-BE49-F238E27FC236}">
                <a16:creationId xmlns:a16="http://schemas.microsoft.com/office/drawing/2014/main" id="{66697E01-1275-4A16-BFE1-96089AFA5A9B}"/>
              </a:ext>
            </a:extLst>
          </p:cNvPr>
          <p:cNvSpPr>
            <a:spLocks xmlns:a="http://schemas.openxmlformats.org/drawingml/2006/main" noGrp="1"/>
          </p:cNvSpPr>
          <p:nvPr/>
        </p:nvSpPr>
        <p:spPr>
          <a:xfrm xmlns:a="http://schemas.openxmlformats.org/drawingml/2006/main">
            <a:off x="400050" y="1971675"/>
            <a:ext cx="4000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78"/>
          </a:bodyPr>
          <a:lstStyle xmlns:a="http://schemas.openxmlformats.org/drawingml/2006/main"/>
          <a:p xmlns:a="http://schemas.openxmlformats.org/drawingml/2006/main">
            <a:pPr algn="l">
              <a:defRPr sz="2550" b="1">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Stagger or diversify</a:t>
            </a:r>
          </a:p>
          <a:p xmlns:a="http://schemas.openxmlformats.org/drawingml/2006/main">
            <a:pPr algn="l">
              <a:defRPr sz="2550" b="1">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live exposure</a:t>
            </a:r>
          </a:p>
        </p:txBody>
      </p:sp>
      <p:sp>
        <p:nvSpPr>
          <p:cNvPr id="6" name="text">
            <a:extLst xmlns:a="http://schemas.openxmlformats.org/drawingml/2006/main">
              <a:ext uri="{FF2B5EF4-FFF2-40B4-BE49-F238E27FC236}">
                <a16:creationId xmlns:a16="http://schemas.microsoft.com/office/drawing/2014/main" id="{C41C7D62-0901-42BF-B217-1B0BE012FC66}"/>
              </a:ext>
            </a:extLst>
          </p:cNvPr>
          <p:cNvSpPr>
            <a:spLocks xmlns:a="http://schemas.openxmlformats.org/drawingml/2006/main" noGrp="1"/>
          </p:cNvSpPr>
          <p:nvPr/>
        </p:nvSpPr>
        <p:spPr>
          <a:xfrm xmlns:a="http://schemas.openxmlformats.org/drawingml/2006/main">
            <a:off x="400050" y="2952750"/>
            <a:ext cx="414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334155"/>
                </a:solidFill>
                <a:latin typeface="Helvetica Neue"/>
                <a:ea typeface="Helvetica Neue"/>
                <a:cs typeface="Helvetica Neue"/>
              </a:defRPr>
            </a:pPr>
            <a:r>
              <a:rPr sz="1425" b="0">
                <a:solidFill>
                  <a:srgbClr val="334155"/>
                </a:solidFill>
                <a:latin typeface="Helvetica Neue"/>
                <a:ea typeface="Helvetica Neue"/>
                <a:cs typeface="Helvetica Neue"/>
              </a:rPr>
              <a:t>Randomize inside pre-defined high-current-saturation states.</a:t>
            </a:r>
          </a:p>
        </p:txBody>
      </p:sp>
      <p:sp>
        <p:nvSpPr>
          <p:cNvPr id="7" name="rule">
            <a:extLst xmlns:a="http://schemas.openxmlformats.org/drawingml/2006/main">
              <a:ext uri="{FF2B5EF4-FFF2-40B4-BE49-F238E27FC236}">
                <a16:creationId xmlns:a16="http://schemas.microsoft.com/office/drawing/2014/main" id="{65A75305-8E28-45C4-88B5-A062FCBE30C1}"/>
              </a:ext>
            </a:extLst>
          </p:cNvPr>
          <p:cNvSpPr>
            <a:spLocks xmlns:a="http://schemas.openxmlformats.org/drawingml/2006/main" noGrp="1"/>
          </p:cNvSpPr>
          <p:nvPr/>
        </p:nvSpPr>
        <p:spPr>
          <a:xfrm xmlns:a="http://schemas.openxmlformats.org/drawingml/2006/main">
            <a:off x="400050" y="3810000"/>
            <a:ext cx="4171950" cy="57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8" name="text">
            <a:extLst xmlns:a="http://schemas.openxmlformats.org/drawingml/2006/main">
              <a:ext uri="{FF2B5EF4-FFF2-40B4-BE49-F238E27FC236}">
                <a16:creationId xmlns:a16="http://schemas.microsoft.com/office/drawing/2014/main" id="{D7FA51B6-54FE-483D-B470-1DD9B921ECAE}"/>
              </a:ext>
            </a:extLst>
          </p:cNvPr>
          <p:cNvSpPr>
            <a:spLocks xmlns:a="http://schemas.openxmlformats.org/drawingml/2006/main" noGrp="1"/>
          </p:cNvSpPr>
          <p:nvPr/>
        </p:nvSpPr>
        <p:spPr>
          <a:xfrm xmlns:a="http://schemas.openxmlformats.org/drawingml/2006/main">
            <a:off x="400050" y="40195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000000"/>
                </a:solidFill>
                <a:latin typeface="Helvetica Neue"/>
                <a:ea typeface="Helvetica Neue"/>
                <a:cs typeface="Helvetica Neue"/>
              </a:defRPr>
            </a:pPr>
            <a:r>
              <a:rPr sz="1200" b="1">
                <a:solidFill>
                  <a:srgbClr val="000000"/>
                </a:solidFill>
                <a:latin typeface="Helvetica Neue"/>
                <a:ea typeface="Helvetica Neue"/>
                <a:cs typeface="Helvetica Neue"/>
              </a:rPr>
              <a:t>Business as usual</a:t>
            </a:r>
          </a:p>
        </p:txBody>
      </p:sp>
      <p:sp>
        <p:nvSpPr>
          <p:cNvPr id="9" name="text">
            <a:extLst xmlns:a="http://schemas.openxmlformats.org/drawingml/2006/main">
              <a:ext uri="{FF2B5EF4-FFF2-40B4-BE49-F238E27FC236}">
                <a16:creationId xmlns:a16="http://schemas.microsoft.com/office/drawing/2014/main" id="{1CE63765-3F42-4094-8DBD-76A896F7FA10}"/>
              </a:ext>
            </a:extLst>
          </p:cNvPr>
          <p:cNvSpPr>
            <a:spLocks xmlns:a="http://schemas.openxmlformats.org/drawingml/2006/main" noGrp="1"/>
          </p:cNvSpPr>
          <p:nvPr/>
        </p:nvSpPr>
        <p:spPr>
          <a:xfrm xmlns:a="http://schemas.openxmlformats.org/drawingml/2006/main">
            <a:off x="2209800" y="3914775"/>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958"/>
          </a:bodyPr>
          <a:lstStyle xmlns:a="http://schemas.openxmlformats.org/drawingml/2006/main"/>
          <a:p xmlns:a="http://schemas.openxmlformats.org/drawingml/2006/main">
            <a:pPr algn="ctr">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a:t>
            </a:r>
          </a:p>
        </p:txBody>
      </p:sp>
      <p:sp>
        <p:nvSpPr>
          <p:cNvPr id="10" name="text">
            <a:extLst xmlns:a="http://schemas.openxmlformats.org/drawingml/2006/main">
              <a:ext uri="{FF2B5EF4-FFF2-40B4-BE49-F238E27FC236}">
                <a16:creationId xmlns:a16="http://schemas.microsoft.com/office/drawing/2014/main" id="{C64DD523-E79C-4BD5-8321-13E90FA5C8A9}"/>
              </a:ext>
            </a:extLst>
          </p:cNvPr>
          <p:cNvSpPr>
            <a:spLocks xmlns:a="http://schemas.openxmlformats.org/drawingml/2006/main" noGrp="1"/>
          </p:cNvSpPr>
          <p:nvPr/>
        </p:nvSpPr>
        <p:spPr>
          <a:xfrm xmlns:a="http://schemas.openxmlformats.org/drawingml/2006/main">
            <a:off x="2819400" y="40195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000000"/>
                </a:solidFill>
                <a:latin typeface="Helvetica Neue"/>
                <a:ea typeface="Helvetica Neue"/>
                <a:cs typeface="Helvetica Neue"/>
              </a:defRPr>
            </a:pPr>
            <a:r>
              <a:rPr sz="1200" b="1">
                <a:solidFill>
                  <a:srgbClr val="000000"/>
                </a:solidFill>
                <a:latin typeface="Helvetica Neue"/>
                <a:ea typeface="Helvetica Neue"/>
                <a:cs typeface="Helvetica Neue"/>
              </a:rPr>
              <a:t>Staggered / diversified</a:t>
            </a:r>
          </a:p>
        </p:txBody>
      </p:sp>
      <p:sp>
        <p:nvSpPr>
          <p:cNvPr id="11" name="rule">
            <a:extLst xmlns:a="http://schemas.openxmlformats.org/drawingml/2006/main">
              <a:ext uri="{FF2B5EF4-FFF2-40B4-BE49-F238E27FC236}">
                <a16:creationId xmlns:a16="http://schemas.microsoft.com/office/drawing/2014/main" id="{7C4B0AAB-B5C2-4FE5-A7D3-5E33A6AB0260}"/>
              </a:ext>
            </a:extLst>
          </p:cNvPr>
          <p:cNvSpPr>
            <a:spLocks xmlns:a="http://schemas.openxmlformats.org/drawingml/2006/main" noGrp="1"/>
          </p:cNvSpPr>
          <p:nvPr/>
        </p:nvSpPr>
        <p:spPr>
          <a:xfrm xmlns:a="http://schemas.openxmlformats.org/drawingml/2006/main">
            <a:off x="6096000" y="1581150"/>
            <a:ext cx="9525" cy="36766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2" name="text">
            <a:extLst xmlns:a="http://schemas.openxmlformats.org/drawingml/2006/main">
              <a:ext uri="{FF2B5EF4-FFF2-40B4-BE49-F238E27FC236}">
                <a16:creationId xmlns:a16="http://schemas.microsoft.com/office/drawing/2014/main" id="{44A752A1-51D2-4D11-AF04-7EE81EDE04ED}"/>
              </a:ext>
            </a:extLst>
          </p:cNvPr>
          <p:cNvSpPr>
            <a:spLocks xmlns:a="http://schemas.openxmlformats.org/drawingml/2006/main" noGrp="1"/>
          </p:cNvSpPr>
          <p:nvPr/>
        </p:nvSpPr>
        <p:spPr>
          <a:xfrm xmlns:a="http://schemas.openxmlformats.org/drawingml/2006/main">
            <a:off x="6553200" y="16192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10A7A0"/>
                </a:solidFill>
                <a:latin typeface="Helvetica Neue"/>
                <a:ea typeface="Helvetica Neue"/>
                <a:cs typeface="Helvetica Neue"/>
              </a:defRPr>
            </a:pPr>
            <a:r>
              <a:rPr sz="1050" b="1">
                <a:solidFill>
                  <a:srgbClr val="10A7A0"/>
                </a:solidFill>
                <a:latin typeface="Helvetica Neue"/>
                <a:ea typeface="Helvetica Neue"/>
                <a:cs typeface="Helvetica Neue"/>
              </a:rPr>
              <a:t>PILOT B</a:t>
            </a:r>
          </a:p>
        </p:txBody>
      </p:sp>
      <p:sp>
        <p:nvSpPr>
          <p:cNvPr id="13" name="text">
            <a:extLst xmlns:a="http://schemas.openxmlformats.org/drawingml/2006/main">
              <a:ext uri="{FF2B5EF4-FFF2-40B4-BE49-F238E27FC236}">
                <a16:creationId xmlns:a16="http://schemas.microsoft.com/office/drawing/2014/main" id="{2EF97D71-2E18-4CA6-8686-14C1D69ED3C2}"/>
              </a:ext>
            </a:extLst>
          </p:cNvPr>
          <p:cNvSpPr>
            <a:spLocks xmlns:a="http://schemas.openxmlformats.org/drawingml/2006/main" noGrp="1"/>
          </p:cNvSpPr>
          <p:nvPr/>
        </p:nvSpPr>
        <p:spPr>
          <a:xfrm xmlns:a="http://schemas.openxmlformats.org/drawingml/2006/main">
            <a:off x="6553200" y="1971675"/>
            <a:ext cx="4762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78"/>
          </a:bodyPr>
          <a:lstStyle xmlns:a="http://schemas.openxmlformats.org/drawingml/2006/main"/>
          <a:p xmlns:a="http://schemas.openxmlformats.org/drawingml/2006/main">
            <a:pPr algn="l">
              <a:defRPr sz="2550" b="1">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Test partner-approved</a:t>
            </a:r>
          </a:p>
          <a:p xmlns:a="http://schemas.openxmlformats.org/drawingml/2006/main">
            <a:pPr algn="l">
              <a:defRPr sz="2550" b="1">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template alternatives</a:t>
            </a:r>
          </a:p>
        </p:txBody>
      </p:sp>
      <p:sp>
        <p:nvSpPr>
          <p:cNvPr id="14" name="text">
            <a:extLst xmlns:a="http://schemas.openxmlformats.org/drawingml/2006/main">
              <a:ext uri="{FF2B5EF4-FFF2-40B4-BE49-F238E27FC236}">
                <a16:creationId xmlns:a16="http://schemas.microsoft.com/office/drawing/2014/main" id="{27E4D1C1-E6E5-4C5A-9146-4EF79F2417D3}"/>
              </a:ext>
            </a:extLst>
          </p:cNvPr>
          <p:cNvSpPr>
            <a:spLocks xmlns:a="http://schemas.openxmlformats.org/drawingml/2006/main" noGrp="1"/>
          </p:cNvSpPr>
          <p:nvPr/>
        </p:nvSpPr>
        <p:spPr>
          <a:xfrm xmlns:a="http://schemas.openxmlformats.org/drawingml/2006/main">
            <a:off x="6553200" y="2952750"/>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334155"/>
                </a:solidFill>
                <a:latin typeface="Helvetica Neue"/>
                <a:ea typeface="Helvetica Neue"/>
                <a:cs typeface="Helvetica Neue"/>
              </a:defRPr>
            </a:pPr>
            <a:r>
              <a:rPr sz="1425" b="0">
                <a:solidFill>
                  <a:srgbClr val="334155"/>
                </a:solidFill>
                <a:latin typeface="Helvetica Neue"/>
                <a:ea typeface="Helvetica Neue"/>
                <a:cs typeface="Helvetica Neue"/>
              </a:rPr>
              <a:t>Do not ask borrowers for more sensitive or more burdensome storytelling.</a:t>
            </a:r>
          </a:p>
        </p:txBody>
      </p:sp>
      <p:sp>
        <p:nvSpPr>
          <p:cNvPr id="15" name="rule">
            <a:extLst xmlns:a="http://schemas.openxmlformats.org/drawingml/2006/main">
              <a:ext uri="{FF2B5EF4-FFF2-40B4-BE49-F238E27FC236}">
                <a16:creationId xmlns:a16="http://schemas.microsoft.com/office/drawing/2014/main" id="{0C4F820D-51BD-4C2C-9AD4-E1E6E82DD039}"/>
              </a:ext>
            </a:extLst>
          </p:cNvPr>
          <p:cNvSpPr>
            <a:spLocks xmlns:a="http://schemas.openxmlformats.org/drawingml/2006/main" noGrp="1"/>
          </p:cNvSpPr>
          <p:nvPr/>
        </p:nvSpPr>
        <p:spPr>
          <a:xfrm xmlns:a="http://schemas.openxmlformats.org/drawingml/2006/main">
            <a:off x="6553200" y="3810000"/>
            <a:ext cx="4762500" cy="57150"/>
          </a:xfrm>
          <a:prstGeom xmlns:a="http://schemas.openxmlformats.org/drawingml/2006/main" prst="rect">
            <a:avLst/>
          </a:prstGeom>
          <a:solidFill xmlns:a="http://schemas.openxmlformats.org/drawingml/2006/main">
            <a:srgbClr val="10A7A0"/>
          </a:solidFill>
          <a:ln xmlns:a="http://schemas.openxmlformats.org/drawingml/2006/main" w="0">
            <a:solidFill>
              <a:srgbClr val="10A7A0"/>
            </a:solidFill>
            <a:prstDash val="solid"/>
          </a:ln>
        </p:spPr>
      </p:sp>
      <p:sp>
        <p:nvSpPr>
          <p:cNvPr id="16" name="text">
            <a:extLst xmlns:a="http://schemas.openxmlformats.org/drawingml/2006/main">
              <a:ext uri="{FF2B5EF4-FFF2-40B4-BE49-F238E27FC236}">
                <a16:creationId xmlns:a16="http://schemas.microsoft.com/office/drawing/2014/main" id="{41EF1BBE-86C4-4A77-AB6C-504B9B225B3B}"/>
              </a:ext>
            </a:extLst>
          </p:cNvPr>
          <p:cNvSpPr>
            <a:spLocks xmlns:a="http://schemas.openxmlformats.org/drawingml/2006/main" noGrp="1"/>
          </p:cNvSpPr>
          <p:nvPr/>
        </p:nvSpPr>
        <p:spPr>
          <a:xfrm xmlns:a="http://schemas.openxmlformats.org/drawingml/2006/main">
            <a:off x="6553200" y="40195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000000"/>
                </a:solidFill>
                <a:latin typeface="Helvetica Neue"/>
                <a:ea typeface="Helvetica Neue"/>
                <a:cs typeface="Helvetica Neue"/>
              </a:defRPr>
            </a:pPr>
            <a:r>
              <a:rPr sz="1200" b="1">
                <a:solidFill>
                  <a:srgbClr val="000000"/>
                </a:solidFill>
                <a:latin typeface="Helvetica Neue"/>
                <a:ea typeface="Helvetica Neue"/>
                <a:cs typeface="Helvetica Neue"/>
              </a:rPr>
              <a:t>Current template</a:t>
            </a:r>
          </a:p>
        </p:txBody>
      </p:sp>
      <p:sp>
        <p:nvSpPr>
          <p:cNvPr id="17" name="text">
            <a:extLst xmlns:a="http://schemas.openxmlformats.org/drawingml/2006/main">
              <a:ext uri="{FF2B5EF4-FFF2-40B4-BE49-F238E27FC236}">
                <a16:creationId xmlns:a16="http://schemas.microsoft.com/office/drawing/2014/main" id="{B2DE4F28-1039-418A-99B9-E8ED798E469E}"/>
              </a:ext>
            </a:extLst>
          </p:cNvPr>
          <p:cNvSpPr>
            <a:spLocks xmlns:a="http://schemas.openxmlformats.org/drawingml/2006/main" noGrp="1"/>
          </p:cNvSpPr>
          <p:nvPr/>
        </p:nvSpPr>
        <p:spPr>
          <a:xfrm xmlns:a="http://schemas.openxmlformats.org/drawingml/2006/main">
            <a:off x="8172450" y="3914775"/>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958"/>
          </a:bodyPr>
          <a:lstStyle xmlns:a="http://schemas.openxmlformats.org/drawingml/2006/main"/>
          <a:p xmlns:a="http://schemas.openxmlformats.org/drawingml/2006/main">
            <a:pPr algn="ctr">
              <a:defRPr sz="2400" b="1">
                <a:solidFill>
                  <a:srgbClr val="10A7A0"/>
                </a:solidFill>
                <a:latin typeface="Helvetica Neue"/>
                <a:ea typeface="Helvetica Neue"/>
                <a:cs typeface="Helvetica Neue"/>
              </a:defRPr>
            </a:pPr>
            <a:r>
              <a:rPr sz="2400" b="1">
                <a:solidFill>
                  <a:srgbClr val="10A7A0"/>
                </a:solidFill>
                <a:latin typeface="Helvetica Neue"/>
                <a:ea typeface="Helvetica Neue"/>
                <a:cs typeface="Helvetica Neue"/>
              </a:rPr>
              <a:t>→</a:t>
            </a:r>
          </a:p>
        </p:txBody>
      </p:sp>
      <p:sp>
        <p:nvSpPr>
          <p:cNvPr id="18" name="text">
            <a:extLst xmlns:a="http://schemas.openxmlformats.org/drawingml/2006/main">
              <a:ext uri="{FF2B5EF4-FFF2-40B4-BE49-F238E27FC236}">
                <a16:creationId xmlns:a16="http://schemas.microsoft.com/office/drawing/2014/main" id="{0D137974-B814-4BE8-B3F0-2DB63F1FBA37}"/>
              </a:ext>
            </a:extLst>
          </p:cNvPr>
          <p:cNvSpPr>
            <a:spLocks xmlns:a="http://schemas.openxmlformats.org/drawingml/2006/main" noGrp="1"/>
          </p:cNvSpPr>
          <p:nvPr/>
        </p:nvSpPr>
        <p:spPr>
          <a:xfrm xmlns:a="http://schemas.openxmlformats.org/drawingml/2006/main">
            <a:off x="8782050" y="40195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000000"/>
                </a:solidFill>
                <a:latin typeface="Helvetica Neue"/>
                <a:ea typeface="Helvetica Neue"/>
                <a:cs typeface="Helvetica Neue"/>
              </a:defRPr>
            </a:pPr>
            <a:r>
              <a:rPr sz="1200" b="1">
                <a:solidFill>
                  <a:srgbClr val="000000"/>
                </a:solidFill>
                <a:latin typeface="Helvetica Neue"/>
                <a:ea typeface="Helvetica Neue"/>
                <a:cs typeface="Helvetica Neue"/>
              </a:rPr>
              <a:t>Approved variants</a:t>
            </a:r>
          </a:p>
        </p:txBody>
      </p:sp>
      <p:sp>
        <p:nvSpPr>
          <p:cNvPr id="19" name="guardrail-strip">
            <a:extLst xmlns:a="http://schemas.openxmlformats.org/drawingml/2006/main">
              <a:ext uri="{FF2B5EF4-FFF2-40B4-BE49-F238E27FC236}">
                <a16:creationId xmlns:a16="http://schemas.microsoft.com/office/drawing/2014/main" id="{CF0BBD4B-AD00-4082-87F4-EB5BA5EFBB80}"/>
              </a:ext>
            </a:extLst>
          </p:cNvPr>
          <p:cNvSpPr>
            <a:spLocks xmlns:a="http://schemas.openxmlformats.org/drawingml/2006/main" noGrp="1"/>
          </p:cNvSpPr>
          <p:nvPr/>
        </p:nvSpPr>
        <p:spPr>
          <a:xfrm xmlns:a="http://schemas.openxmlformats.org/drawingml/2006/main">
            <a:off x="400050" y="4857750"/>
            <a:ext cx="11106150" cy="10668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20" name="text">
            <a:extLst xmlns:a="http://schemas.openxmlformats.org/drawingml/2006/main">
              <a:ext uri="{FF2B5EF4-FFF2-40B4-BE49-F238E27FC236}">
                <a16:creationId xmlns:a16="http://schemas.microsoft.com/office/drawing/2014/main" id="{8A835058-2CAA-4BF0-B7CC-F44837B25600}"/>
              </a:ext>
            </a:extLst>
          </p:cNvPr>
          <p:cNvSpPr>
            <a:spLocks xmlns:a="http://schemas.openxmlformats.org/drawingml/2006/main" noGrp="1"/>
          </p:cNvSpPr>
          <p:nvPr/>
        </p:nvSpPr>
        <p:spPr>
          <a:xfrm xmlns:a="http://schemas.openxmlformats.org/drawingml/2006/main">
            <a:off x="628650" y="50673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PRIMARY</a:t>
            </a:r>
          </a:p>
        </p:txBody>
      </p:sp>
      <p:sp>
        <p:nvSpPr>
          <p:cNvPr id="21" name="text">
            <a:extLst xmlns:a="http://schemas.openxmlformats.org/drawingml/2006/main">
              <a:ext uri="{FF2B5EF4-FFF2-40B4-BE49-F238E27FC236}">
                <a16:creationId xmlns:a16="http://schemas.microsoft.com/office/drawing/2014/main" id="{D8F1FA50-7BA2-4DC0-9976-883DF950A080}"/>
              </a:ext>
            </a:extLst>
          </p:cNvPr>
          <p:cNvSpPr>
            <a:spLocks xmlns:a="http://schemas.openxmlformats.org/drawingml/2006/main" noGrp="1"/>
          </p:cNvSpPr>
          <p:nvPr/>
        </p:nvSpPr>
        <p:spPr>
          <a:xfrm xmlns:a="http://schemas.openxmlformats.org/drawingml/2006/main">
            <a:off x="628650" y="5334000"/>
            <a:ext cx="347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Funding time · 72-hour probability</a:t>
            </a:r>
          </a:p>
        </p:txBody>
      </p:sp>
      <p:sp>
        <p:nvSpPr>
          <p:cNvPr id="22" name="text">
            <a:extLst xmlns:a="http://schemas.openxmlformats.org/drawingml/2006/main">
              <a:ext uri="{FF2B5EF4-FFF2-40B4-BE49-F238E27FC236}">
                <a16:creationId xmlns:a16="http://schemas.microsoft.com/office/drawing/2014/main" id="{B6437EE1-3B7C-4499-81B4-2FC22A0A12CA}"/>
              </a:ext>
            </a:extLst>
          </p:cNvPr>
          <p:cNvSpPr>
            <a:spLocks xmlns:a="http://schemas.openxmlformats.org/drawingml/2006/main" noGrp="1"/>
          </p:cNvSpPr>
          <p:nvPr/>
        </p:nvSpPr>
        <p:spPr>
          <a:xfrm xmlns:a="http://schemas.openxmlformats.org/drawingml/2006/main">
            <a:off x="4629150" y="50673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GUARDRAILS</a:t>
            </a:r>
          </a:p>
        </p:txBody>
      </p:sp>
      <p:sp>
        <p:nvSpPr>
          <p:cNvPr id="23" name="text">
            <a:extLst xmlns:a="http://schemas.openxmlformats.org/drawingml/2006/main">
              <a:ext uri="{FF2B5EF4-FFF2-40B4-BE49-F238E27FC236}">
                <a16:creationId xmlns:a16="http://schemas.microsoft.com/office/drawing/2014/main" id="{28330099-D2C3-49E6-8419-45F5082CEAC9}"/>
              </a:ext>
            </a:extLst>
          </p:cNvPr>
          <p:cNvSpPr>
            <a:spLocks xmlns:a="http://schemas.openxmlformats.org/drawingml/2006/main" noGrp="1"/>
          </p:cNvSpPr>
          <p:nvPr/>
        </p:nvSpPr>
        <p:spPr>
          <a:xfrm xmlns:a="http://schemas.openxmlformats.org/drawingml/2006/main">
            <a:off x="4629150" y="533400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Total funding · fairness · borrower workload</a:t>
            </a:r>
          </a:p>
        </p:txBody>
      </p:sp>
      <p:sp>
        <p:nvSpPr>
          <p:cNvPr id="24" name="text">
            <a:extLst xmlns:a="http://schemas.openxmlformats.org/drawingml/2006/main">
              <a:ext uri="{FF2B5EF4-FFF2-40B4-BE49-F238E27FC236}">
                <a16:creationId xmlns:a16="http://schemas.microsoft.com/office/drawing/2014/main" id="{E04C41C2-6F12-4A76-AF5D-9A5BCE4E72ED}"/>
              </a:ext>
            </a:extLst>
          </p:cNvPr>
          <p:cNvSpPr>
            <a:spLocks xmlns:a="http://schemas.openxmlformats.org/drawingml/2006/main" noGrp="1"/>
          </p:cNvSpPr>
          <p:nvPr/>
        </p:nvSpPr>
        <p:spPr>
          <a:xfrm xmlns:a="http://schemas.openxmlformats.org/drawingml/2006/main">
            <a:off x="10096500" y="5143500"/>
            <a:ext cx="1162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361"/>
          </a:bodyPr>
          <a:lstStyle xmlns:a="http://schemas.openxmlformats.org/drawingml/2006/main"/>
          <a:p xmlns:a="http://schemas.openxmlformats.org/drawingml/2006/main">
            <a:pPr algn="r">
              <a:defRPr sz="1650" b="1">
                <a:solidFill>
                  <a:srgbClr val="F0655B"/>
                </a:solidFill>
                <a:latin typeface="Helvetica Neue"/>
                <a:ea typeface="Helvetica Neue"/>
                <a:cs typeface="Helvetica Neue"/>
              </a:defRPr>
            </a:pPr>
            <a:r>
              <a:rPr sz="1650" b="1">
                <a:solidFill>
                  <a:srgbClr val="F0655B"/>
                </a:solidFill>
                <a:latin typeface="Helvetica Neue"/>
                <a:ea typeface="Helvetica Neue"/>
                <a:cs typeface="Helvetica Neue"/>
              </a:rPr>
              <a:t>NO SCORE</a:t>
            </a:r>
          </a:p>
        </p:txBody>
      </p:sp>
      <p:sp>
        <p:nvSpPr>
          <p:cNvPr id="25" name="rule">
            <a:extLst xmlns:a="http://schemas.openxmlformats.org/drawingml/2006/main">
              <a:ext uri="{FF2B5EF4-FFF2-40B4-BE49-F238E27FC236}">
                <a16:creationId xmlns:a16="http://schemas.microsoft.com/office/drawing/2014/main" id="{57B998E7-1E22-42A5-86D0-C46263A92A1C}"/>
              </a:ext>
            </a:extLst>
          </p:cNvPr>
          <p:cNvSpPr>
            <a:spLocks xmlns:a="http://schemas.openxmlformats.org/drawingml/2006/main" noGrp="1"/>
          </p:cNvSpPr>
          <p:nvPr/>
        </p:nvSpPr>
        <p:spPr>
          <a:xfrm xmlns:a="http://schemas.openxmlformats.org/drawingml/2006/main">
            <a:off x="400050" y="643890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6" name="source-footer">
            <a:extLst xmlns:a="http://schemas.openxmlformats.org/drawingml/2006/main">
              <a:ext uri="{FF2B5EF4-FFF2-40B4-BE49-F238E27FC236}">
                <a16:creationId xmlns:a16="http://schemas.microsoft.com/office/drawing/2014/main" id="{6D8C4D1D-7A4F-4C89-A4CB-F0C6FF87888B}"/>
              </a:ext>
            </a:extLst>
          </p:cNvPr>
          <p:cNvSpPr>
            <a:spLocks xmlns:a="http://schemas.openxmlformats.org/drawingml/2006/main" noGrp="1"/>
          </p:cNvSpPr>
          <p:nvPr/>
        </p:nvSpPr>
        <p:spPr>
          <a:xfrm xmlns:a="http://schemas.openxmlformats.org/drawingml/2006/main">
            <a:off x="400050" y="651510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l">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Recommendation derived from scenario, robustness and 2025 holdout evidence.</a:t>
            </a:r>
          </a:p>
        </p:txBody>
      </p:sp>
      <p:sp>
        <p:nvSpPr>
          <p:cNvPr id="27" name="team-footer">
            <a:extLst xmlns:a="http://schemas.openxmlformats.org/drawingml/2006/main">
              <a:ext uri="{FF2B5EF4-FFF2-40B4-BE49-F238E27FC236}">
                <a16:creationId xmlns:a16="http://schemas.microsoft.com/office/drawing/2014/main" id="{03C4C4DA-C0A1-4877-AC98-3C945A55AD7A}"/>
              </a:ext>
            </a:extLst>
          </p:cNvPr>
          <p:cNvSpPr>
            <a:spLocks xmlns:a="http://schemas.openxmlformats.org/drawingml/2006/main" noGrp="1"/>
          </p:cNvSpPr>
          <p:nvPr/>
        </p:nvSpPr>
        <p:spPr>
          <a:xfrm xmlns:a="http://schemas.openxmlformats.org/drawingml/2006/main">
            <a:off x="10325100" y="651510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r">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5 GUYS · 09</a:t>
            </a:r>
          </a:p>
        </p:txBody>
      </p:sp>
    </p:spTree>
    <p:extLst>
      <p:ext uri="{BB962C8B-B14F-4D97-AF65-F5344CB8AC3E}">
        <p14:creationId xmlns:p14="http://schemas.microsoft.com/office/powerpoint/2010/main" val="147792327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
            <a:extLst xmlns:a="http://schemas.openxmlformats.org/drawingml/2006/main">
              <a:ext uri="{FF2B5EF4-FFF2-40B4-BE49-F238E27FC236}">
                <a16:creationId xmlns:a16="http://schemas.microsoft.com/office/drawing/2014/main" id="{51E8AA1D-3B16-4AE3-8875-437FF7AE877F}"/>
              </a:ext>
            </a:extLst>
          </p:cNvPr>
          <p:cNvSpPr>
            <a:spLocks xmlns:a="http://schemas.openxmlformats.org/drawingml/2006/main" noGrp="1"/>
          </p:cNvSpPr>
          <p:nvPr/>
        </p:nvSpPr>
        <p:spPr>
          <a:xfrm xmlns:a="http://schemas.openxmlformats.org/drawingml/2006/main">
            <a:off x="400050" y="4000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WHAT WE LEARNED</a:t>
            </a:r>
          </a:p>
        </p:txBody>
      </p:sp>
      <p:sp>
        <p:nvSpPr>
          <p:cNvPr id="2" name="text">
            <a:extLst xmlns:a="http://schemas.openxmlformats.org/drawingml/2006/main">
              <a:ext uri="{FF2B5EF4-FFF2-40B4-BE49-F238E27FC236}">
                <a16:creationId xmlns:a16="http://schemas.microsoft.com/office/drawing/2014/main" id="{531BA0D5-00C4-4426-9D4E-3C632014E6BA}"/>
              </a:ext>
            </a:extLst>
          </p:cNvPr>
          <p:cNvSpPr>
            <a:spLocks xmlns:a="http://schemas.openxmlformats.org/drawingml/2006/main" noGrp="1"/>
          </p:cNvSpPr>
          <p:nvPr/>
        </p:nvSpPr>
        <p:spPr>
          <a:xfrm xmlns:a="http://schemas.openxmlformats.org/drawingml/2006/main">
            <a:off x="400050" y="1200150"/>
            <a:ext cx="771525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5250" b="1">
                <a:solidFill>
                  <a:srgbClr val="000000"/>
                </a:solidFill>
                <a:latin typeface="Helvetica Neue"/>
                <a:ea typeface="Helvetica Neue"/>
                <a:cs typeface="Helvetica Neue"/>
              </a:defRPr>
            </a:pPr>
            <a:r>
              <a:rPr sz="5250" b="1">
                <a:solidFill>
                  <a:srgbClr val="000000"/>
                </a:solidFill>
                <a:latin typeface="Helvetica Neue"/>
                <a:ea typeface="Helvetica Neue"/>
                <a:cs typeface="Helvetica Neue"/>
              </a:rPr>
              <a:t>Change the market</a:t>
            </a:r>
          </a:p>
          <a:p xmlns:a="http://schemas.openxmlformats.org/drawingml/2006/main">
            <a:pPr algn="l">
              <a:defRPr sz="5250" b="1">
                <a:solidFill>
                  <a:srgbClr val="000000"/>
                </a:solidFill>
                <a:latin typeface="Helvetica Neue"/>
                <a:ea typeface="Helvetica Neue"/>
                <a:cs typeface="Helvetica Neue"/>
              </a:defRPr>
            </a:pPr>
            <a:r>
              <a:rPr sz="5250" b="1">
                <a:solidFill>
                  <a:srgbClr val="000000"/>
                </a:solidFill>
                <a:latin typeface="Helvetica Neue"/>
                <a:ea typeface="Helvetica Neue"/>
                <a:cs typeface="Helvetica Neue"/>
              </a:rPr>
              <a:t>around the story.</a:t>
            </a:r>
          </a:p>
        </p:txBody>
      </p:sp>
      <p:sp>
        <p:nvSpPr>
          <p:cNvPr id="3" name="rule">
            <a:extLst xmlns:a="http://schemas.openxmlformats.org/drawingml/2006/main">
              <a:ext uri="{FF2B5EF4-FFF2-40B4-BE49-F238E27FC236}">
                <a16:creationId xmlns:a16="http://schemas.microsoft.com/office/drawing/2014/main" id="{AE6FAC79-F671-44B0-94FF-1D1628894020}"/>
              </a:ext>
            </a:extLst>
          </p:cNvPr>
          <p:cNvSpPr>
            <a:spLocks xmlns:a="http://schemas.openxmlformats.org/drawingml/2006/main" noGrp="1"/>
          </p:cNvSpPr>
          <p:nvPr/>
        </p:nvSpPr>
        <p:spPr>
          <a:xfrm xmlns:a="http://schemas.openxmlformats.org/drawingml/2006/main">
            <a:off x="400050" y="3409950"/>
            <a:ext cx="11391900" cy="190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4" name="text">
            <a:extLst xmlns:a="http://schemas.openxmlformats.org/drawingml/2006/main">
              <a:ext uri="{FF2B5EF4-FFF2-40B4-BE49-F238E27FC236}">
                <a16:creationId xmlns:a16="http://schemas.microsoft.com/office/drawing/2014/main" id="{2ACD368B-53D7-4DFB-B011-F9509DC4E782}"/>
              </a:ext>
            </a:extLst>
          </p:cNvPr>
          <p:cNvSpPr>
            <a:spLocks xmlns:a="http://schemas.openxmlformats.org/drawingml/2006/main" noGrp="1"/>
          </p:cNvSpPr>
          <p:nvPr/>
        </p:nvSpPr>
        <p:spPr>
          <a:xfrm xmlns:a="http://schemas.openxmlformats.org/drawingml/2006/main">
            <a:off x="400050" y="37909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01</a:t>
            </a:r>
          </a:p>
        </p:txBody>
      </p:sp>
      <p:sp>
        <p:nvSpPr>
          <p:cNvPr id="5" name="text">
            <a:extLst xmlns:a="http://schemas.openxmlformats.org/drawingml/2006/main">
              <a:ext uri="{FF2B5EF4-FFF2-40B4-BE49-F238E27FC236}">
                <a16:creationId xmlns:a16="http://schemas.microsoft.com/office/drawing/2014/main" id="{9685B2DE-A83A-4AFE-91AF-3D16F389B109}"/>
              </a:ext>
            </a:extLst>
          </p:cNvPr>
          <p:cNvSpPr>
            <a:spLocks xmlns:a="http://schemas.openxmlformats.org/drawingml/2006/main" noGrp="1"/>
          </p:cNvSpPr>
          <p:nvPr/>
        </p:nvSpPr>
        <p:spPr>
          <a:xfrm xmlns:a="http://schemas.openxmlformats.org/drawingml/2006/main">
            <a:off x="1066800" y="3752850"/>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Current attention pressure is the strongest practical signal.</a:t>
            </a:r>
          </a:p>
        </p:txBody>
      </p:sp>
      <p:sp>
        <p:nvSpPr>
          <p:cNvPr id="6" name="text">
            <a:extLst xmlns:a="http://schemas.openxmlformats.org/drawingml/2006/main">
              <a:ext uri="{FF2B5EF4-FFF2-40B4-BE49-F238E27FC236}">
                <a16:creationId xmlns:a16="http://schemas.microsoft.com/office/drawing/2014/main" id="{4F43DFAB-14D4-4E59-965E-BD5699027DBE}"/>
              </a:ext>
            </a:extLst>
          </p:cNvPr>
          <p:cNvSpPr>
            <a:spLocks xmlns:a="http://schemas.openxmlformats.org/drawingml/2006/main" noGrp="1"/>
          </p:cNvSpPr>
          <p:nvPr/>
        </p:nvSpPr>
        <p:spPr>
          <a:xfrm xmlns:a="http://schemas.openxmlformats.org/drawingml/2006/main">
            <a:off x="400050" y="457200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E5A93D"/>
                </a:solidFill>
                <a:latin typeface="Helvetica Neue"/>
                <a:ea typeface="Helvetica Neue"/>
                <a:cs typeface="Helvetica Neue"/>
              </a:defRPr>
            </a:pPr>
            <a:r>
              <a:rPr sz="1875" b="1">
                <a:solidFill>
                  <a:srgbClr val="E5A93D"/>
                </a:solidFill>
                <a:latin typeface="Helvetica Neue"/>
                <a:ea typeface="Helvetica Neue"/>
                <a:cs typeface="Helvetica Neue"/>
              </a:rPr>
              <a:t>02</a:t>
            </a:r>
          </a:p>
        </p:txBody>
      </p:sp>
      <p:sp>
        <p:nvSpPr>
          <p:cNvPr id="7" name="text">
            <a:extLst xmlns:a="http://schemas.openxmlformats.org/drawingml/2006/main">
              <a:ext uri="{FF2B5EF4-FFF2-40B4-BE49-F238E27FC236}">
                <a16:creationId xmlns:a16="http://schemas.microsoft.com/office/drawing/2014/main" id="{D1027282-F5C4-4A27-AAF1-AC2F8BD7B6C9}"/>
              </a:ext>
            </a:extLst>
          </p:cNvPr>
          <p:cNvSpPr>
            <a:spLocks xmlns:a="http://schemas.openxmlformats.org/drawingml/2006/main" noGrp="1"/>
          </p:cNvSpPr>
          <p:nvPr/>
        </p:nvSpPr>
        <p:spPr>
          <a:xfrm xmlns:a="http://schemas.openxmlformats.org/drawingml/2006/main">
            <a:off x="1066800" y="4533900"/>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The recent-listing proxy does not support broad wear-out.</a:t>
            </a:r>
          </a:p>
        </p:txBody>
      </p:sp>
      <p:sp>
        <p:nvSpPr>
          <p:cNvPr id="8" name="text">
            <a:extLst xmlns:a="http://schemas.openxmlformats.org/drawingml/2006/main">
              <a:ext uri="{FF2B5EF4-FFF2-40B4-BE49-F238E27FC236}">
                <a16:creationId xmlns:a16="http://schemas.microsoft.com/office/drawing/2014/main" id="{FD067D2B-E1BE-4AAE-A6E4-6E7E996233B2}"/>
              </a:ext>
            </a:extLst>
          </p:cNvPr>
          <p:cNvSpPr>
            <a:spLocks xmlns:a="http://schemas.openxmlformats.org/drawingml/2006/main" noGrp="1"/>
          </p:cNvSpPr>
          <p:nvPr/>
        </p:nvSpPr>
        <p:spPr>
          <a:xfrm xmlns:a="http://schemas.openxmlformats.org/drawingml/2006/main">
            <a:off x="400050" y="53530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0A7A0"/>
                </a:solidFill>
                <a:latin typeface="Helvetica Neue"/>
                <a:ea typeface="Helvetica Neue"/>
                <a:cs typeface="Helvetica Neue"/>
              </a:defRPr>
            </a:pPr>
            <a:r>
              <a:rPr sz="1875" b="1">
                <a:solidFill>
                  <a:srgbClr val="10A7A0"/>
                </a:solidFill>
                <a:latin typeface="Helvetica Neue"/>
                <a:ea typeface="Helvetica Neue"/>
                <a:cs typeface="Helvetica Neue"/>
              </a:rPr>
              <a:t>03</a:t>
            </a:r>
          </a:p>
        </p:txBody>
      </p:sp>
      <p:sp>
        <p:nvSpPr>
          <p:cNvPr id="9" name="text">
            <a:extLst xmlns:a="http://schemas.openxmlformats.org/drawingml/2006/main">
              <a:ext uri="{FF2B5EF4-FFF2-40B4-BE49-F238E27FC236}">
                <a16:creationId xmlns:a16="http://schemas.microsoft.com/office/drawing/2014/main" id="{A62756E8-6EC1-46DD-B42B-7293C8430C6E}"/>
              </a:ext>
            </a:extLst>
          </p:cNvPr>
          <p:cNvSpPr>
            <a:spLocks xmlns:a="http://schemas.openxmlformats.org/drawingml/2006/main" noGrp="1"/>
          </p:cNvSpPr>
          <p:nvPr/>
        </p:nvSpPr>
        <p:spPr>
          <a:xfrm xmlns:a="http://schemas.openxmlformats.org/drawingml/2006/main">
            <a:off x="1066800" y="5314950"/>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Test prospectively; do not deploy a borrower score.</a:t>
            </a:r>
          </a:p>
        </p:txBody>
      </p:sp>
      <p:sp>
        <p:nvSpPr>
          <p:cNvPr id="10" name="text">
            <a:extLst xmlns:a="http://schemas.openxmlformats.org/drawingml/2006/main">
              <a:ext uri="{FF2B5EF4-FFF2-40B4-BE49-F238E27FC236}">
                <a16:creationId xmlns:a16="http://schemas.microsoft.com/office/drawing/2014/main" id="{077D31E8-60DE-4173-AF9E-620CBD4D55D3}"/>
              </a:ext>
            </a:extLst>
          </p:cNvPr>
          <p:cNvSpPr>
            <a:spLocks xmlns:a="http://schemas.openxmlformats.org/drawingml/2006/main" noGrp="1"/>
          </p:cNvSpPr>
          <p:nvPr/>
        </p:nvSpPr>
        <p:spPr>
          <a:xfrm xmlns:a="http://schemas.openxmlformats.org/drawingml/2006/main">
            <a:off x="400050" y="62865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5 GUYS · UNSW 2026</a:t>
            </a:r>
          </a:p>
        </p:txBody>
      </p:sp>
    </p:spTree>
    <p:extLst>
      <p:ext uri="{BB962C8B-B14F-4D97-AF65-F5344CB8AC3E}">
        <p14:creationId xmlns:p14="http://schemas.microsoft.com/office/powerpoint/2010/main" val="208127018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20976F7E-28A4-4CD9-A7C2-9A4A1F446C79}"/>
              </a:ext>
            </a:extLst>
          </p:cNvPr>
          <p:cNvSpPr>
            <a:spLocks xmlns:a="http://schemas.openxmlformats.org/drawingml/2006/main" noGrp="1"/>
          </p:cNvSpPr>
          <p:nvPr/>
        </p:nvSpPr>
        <p:spPr>
          <a:xfrm xmlns:a="http://schemas.openxmlformats.org/drawingml/2006/main">
            <a:off x="400050" y="22860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APPENDIX · DATA</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e4f3d247e964116"/>
          <a:stretch xmlns:a="http://schemas.openxmlformats.org/drawingml/2006/main"/>
        </p:blipFill>
        <p:spPr>
          <a:xfrm xmlns:a="http://schemas.openxmlformats.org/drawingml/2006/main">
            <a:off x="400050" y="736575"/>
            <a:ext cx="7810500" cy="4203749"/>
          </a:xfrm>
          <a:prstGeom xmlns:a="http://schemas.openxmlformats.org/drawingml/2006/main" prst="rect">
            <a:avLst/>
          </a:prstGeom>
        </p:spPr>
      </p:pic>
      <p:sp>
        <p:nvSpPr>
          <p:cNvPr id="3" name="rule">
            <a:extLst xmlns:a="http://schemas.openxmlformats.org/drawingml/2006/main">
              <a:ext uri="{FF2B5EF4-FFF2-40B4-BE49-F238E27FC236}">
                <a16:creationId xmlns:a16="http://schemas.microsoft.com/office/drawing/2014/main" id="{64505521-2CFA-4417-A64D-855014CB9D05}"/>
              </a:ext>
            </a:extLst>
          </p:cNvPr>
          <p:cNvSpPr>
            <a:spLocks xmlns:a="http://schemas.openxmlformats.org/drawingml/2006/main" noGrp="1"/>
          </p:cNvSpPr>
          <p:nvPr/>
        </p:nvSpPr>
        <p:spPr>
          <a:xfrm xmlns:a="http://schemas.openxmlformats.org/drawingml/2006/main">
            <a:off x="8496300" y="685800"/>
            <a:ext cx="9525" cy="46291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anel">
            <a:extLst xmlns:a="http://schemas.openxmlformats.org/drawingml/2006/main">
              <a:ext uri="{FF2B5EF4-FFF2-40B4-BE49-F238E27FC236}">
                <a16:creationId xmlns:a16="http://schemas.microsoft.com/office/drawing/2014/main" id="{7AABD019-B1F8-43EE-B77C-A01A6A51D281}"/>
              </a:ext>
            </a:extLst>
          </p:cNvPr>
          <p:cNvSpPr>
            <a:spLocks xmlns:a="http://schemas.openxmlformats.org/drawingml/2006/main" noGrp="1"/>
          </p:cNvSpPr>
          <p:nvPr/>
        </p:nvSpPr>
        <p:spPr>
          <a:xfrm xmlns:a="http://schemas.openxmlformats.org/drawingml/2006/main">
            <a:off x="8858250" y="1019175"/>
            <a:ext cx="95250" cy="95250"/>
          </a:xfrm>
          <a:prstGeom xmlns:a="http://schemas.openxmlformats.org/drawingml/2006/main" prst="ellipse">
            <a:avLst/>
          </a:prstGeom>
          <a:solidFill xmlns:a="http://schemas.openxmlformats.org/drawingml/2006/main">
            <a:srgbClr val="F0655B"/>
          </a:solidFill>
          <a:ln xmlns:a="http://schemas.openxmlformats.org/drawingml/2006/main" w="0">
            <a:solidFill>
              <a:srgbClr val="F0655B"/>
            </a:solidFill>
            <a:prstDash val="solid"/>
          </a:ln>
        </p:spPr>
      </p:sp>
      <p:sp>
        <p:nvSpPr>
          <p:cNvPr id="5" name="text">
            <a:extLst xmlns:a="http://schemas.openxmlformats.org/drawingml/2006/main">
              <a:ext uri="{FF2B5EF4-FFF2-40B4-BE49-F238E27FC236}">
                <a16:creationId xmlns:a16="http://schemas.microsoft.com/office/drawing/2014/main" id="{7B8D1F0A-DE3E-4D59-A244-F700E6A36AE1}"/>
              </a:ext>
            </a:extLst>
          </p:cNvPr>
          <p:cNvSpPr>
            <a:spLocks xmlns:a="http://schemas.openxmlformats.org/drawingml/2006/main" noGrp="1"/>
          </p:cNvSpPr>
          <p:nvPr/>
        </p:nvSpPr>
        <p:spPr>
          <a:xfrm xmlns:a="http://schemas.openxmlformats.org/drawingml/2006/main">
            <a:off x="9086850" y="9525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333"/>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Raised-only extract</a:t>
            </a:r>
          </a:p>
        </p:txBody>
      </p:sp>
      <p:sp>
        <p:nvSpPr>
          <p:cNvPr id="6" name="text">
            <a:extLst xmlns:a="http://schemas.openxmlformats.org/drawingml/2006/main">
              <a:ext uri="{FF2B5EF4-FFF2-40B4-BE49-F238E27FC236}">
                <a16:creationId xmlns:a16="http://schemas.microsoft.com/office/drawing/2014/main" id="{20925B5F-74F5-49D6-84F3-4D1133209D60}"/>
              </a:ext>
            </a:extLst>
          </p:cNvPr>
          <p:cNvSpPr>
            <a:spLocks xmlns:a="http://schemas.openxmlformats.org/drawingml/2006/main" noGrp="1"/>
          </p:cNvSpPr>
          <p:nvPr/>
        </p:nvSpPr>
        <p:spPr>
          <a:xfrm xmlns:a="http://schemas.openxmlformats.org/drawingml/2006/main">
            <a:off x="9086850" y="123825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326"/>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Every valid row has a raised date; no observable right censoring.</a:t>
            </a:r>
          </a:p>
        </p:txBody>
      </p:sp>
      <p:sp>
        <p:nvSpPr>
          <p:cNvPr id="7" name="panel">
            <a:extLst xmlns:a="http://schemas.openxmlformats.org/drawingml/2006/main">
              <a:ext uri="{FF2B5EF4-FFF2-40B4-BE49-F238E27FC236}">
                <a16:creationId xmlns:a16="http://schemas.microsoft.com/office/drawing/2014/main" id="{2199FBBC-F64C-43EF-8E3E-E8B182F6DE15}"/>
              </a:ext>
            </a:extLst>
          </p:cNvPr>
          <p:cNvSpPr>
            <a:spLocks xmlns:a="http://schemas.openxmlformats.org/drawingml/2006/main" noGrp="1"/>
          </p:cNvSpPr>
          <p:nvPr/>
        </p:nvSpPr>
        <p:spPr>
          <a:xfrm xmlns:a="http://schemas.openxmlformats.org/drawingml/2006/main">
            <a:off x="8858250" y="2219325"/>
            <a:ext cx="95250" cy="95250"/>
          </a:xfrm>
          <a:prstGeom xmlns:a="http://schemas.openxmlformats.org/drawingml/2006/main" prst="ellipse">
            <a:avLst/>
          </a:prstGeom>
          <a:solidFill xmlns:a="http://schemas.openxmlformats.org/drawingml/2006/main">
            <a:srgbClr val="F0655B"/>
          </a:solidFill>
          <a:ln xmlns:a="http://schemas.openxmlformats.org/drawingml/2006/main" w="0">
            <a:solidFill>
              <a:srgbClr val="F0655B"/>
            </a:solidFill>
            <a:prstDash val="solid"/>
          </a:ln>
        </p:spPr>
      </p:sp>
      <p:sp>
        <p:nvSpPr>
          <p:cNvPr id="8" name="text">
            <a:extLst xmlns:a="http://schemas.openxmlformats.org/drawingml/2006/main">
              <a:ext uri="{FF2B5EF4-FFF2-40B4-BE49-F238E27FC236}">
                <a16:creationId xmlns:a16="http://schemas.microsoft.com/office/drawing/2014/main" id="{6384BBC4-C66A-4FA0-B796-5F4413D1FA33}"/>
              </a:ext>
            </a:extLst>
          </p:cNvPr>
          <p:cNvSpPr>
            <a:spLocks xmlns:a="http://schemas.openxmlformats.org/drawingml/2006/main" noGrp="1"/>
          </p:cNvSpPr>
          <p:nvPr/>
        </p:nvSpPr>
        <p:spPr>
          <a:xfrm xmlns:a="http://schemas.openxmlformats.org/drawingml/2006/main">
            <a:off x="9086850" y="21526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333"/>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Six invalid durations</a:t>
            </a:r>
          </a:p>
        </p:txBody>
      </p:sp>
      <p:sp>
        <p:nvSpPr>
          <p:cNvPr id="9" name="text">
            <a:extLst xmlns:a="http://schemas.openxmlformats.org/drawingml/2006/main">
              <a:ext uri="{FF2B5EF4-FFF2-40B4-BE49-F238E27FC236}">
                <a16:creationId xmlns:a16="http://schemas.microsoft.com/office/drawing/2014/main" id="{9972267A-35D0-4FE7-BB07-FFFC6F43AB3A}"/>
              </a:ext>
            </a:extLst>
          </p:cNvPr>
          <p:cNvSpPr>
            <a:spLocks xmlns:a="http://schemas.openxmlformats.org/drawingml/2006/main" noGrp="1"/>
          </p:cNvSpPr>
          <p:nvPr/>
        </p:nvSpPr>
        <p:spPr>
          <a:xfrm xmlns:a="http://schemas.openxmlformats.org/drawingml/2006/main">
            <a:off x="9086850" y="243840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844"/>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Raised timestamp precedes posting; excluded from outcome analysis.</a:t>
            </a:r>
          </a:p>
        </p:txBody>
      </p:sp>
      <p:sp>
        <p:nvSpPr>
          <p:cNvPr id="10" name="panel">
            <a:extLst xmlns:a="http://schemas.openxmlformats.org/drawingml/2006/main">
              <a:ext uri="{FF2B5EF4-FFF2-40B4-BE49-F238E27FC236}">
                <a16:creationId xmlns:a16="http://schemas.microsoft.com/office/drawing/2014/main" id="{E1E9DE4D-CFE8-484A-BE4E-6BB13AD4F678}"/>
              </a:ext>
            </a:extLst>
          </p:cNvPr>
          <p:cNvSpPr>
            <a:spLocks xmlns:a="http://schemas.openxmlformats.org/drawingml/2006/main" noGrp="1"/>
          </p:cNvSpPr>
          <p:nvPr/>
        </p:nvSpPr>
        <p:spPr>
          <a:xfrm xmlns:a="http://schemas.openxmlformats.org/drawingml/2006/main">
            <a:off x="8858250" y="3419475"/>
            <a:ext cx="95250" cy="95250"/>
          </a:xfrm>
          <a:prstGeom xmlns:a="http://schemas.openxmlformats.org/drawingml/2006/main" prst="ellipse">
            <a:avLst/>
          </a:prstGeom>
          <a:solidFill xmlns:a="http://schemas.openxmlformats.org/drawingml/2006/main">
            <a:srgbClr val="10A7A0"/>
          </a:solidFill>
          <a:ln xmlns:a="http://schemas.openxmlformats.org/drawingml/2006/main" w="0">
            <a:solidFill>
              <a:srgbClr val="10A7A0"/>
            </a:solidFill>
            <a:prstDash val="solid"/>
          </a:ln>
        </p:spPr>
      </p:sp>
      <p:sp>
        <p:nvSpPr>
          <p:cNvPr id="11" name="text">
            <a:extLst xmlns:a="http://schemas.openxmlformats.org/drawingml/2006/main">
              <a:ext uri="{FF2B5EF4-FFF2-40B4-BE49-F238E27FC236}">
                <a16:creationId xmlns:a16="http://schemas.microsoft.com/office/drawing/2014/main" id="{AC8BE401-274A-4819-9219-FAFFF89D3746}"/>
              </a:ext>
            </a:extLst>
          </p:cNvPr>
          <p:cNvSpPr>
            <a:spLocks xmlns:a="http://schemas.openxmlformats.org/drawingml/2006/main" noGrp="1"/>
          </p:cNvSpPr>
          <p:nvPr/>
        </p:nvSpPr>
        <p:spPr>
          <a:xfrm xmlns:a="http://schemas.openxmlformats.org/drawingml/2006/main">
            <a:off x="9086850" y="33528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333"/>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Frozen split</a:t>
            </a:r>
          </a:p>
        </p:txBody>
      </p:sp>
      <p:sp>
        <p:nvSpPr>
          <p:cNvPr id="12" name="text">
            <a:extLst xmlns:a="http://schemas.openxmlformats.org/drawingml/2006/main">
              <a:ext uri="{FF2B5EF4-FFF2-40B4-BE49-F238E27FC236}">
                <a16:creationId xmlns:a16="http://schemas.microsoft.com/office/drawing/2014/main" id="{A2D87E7D-216C-4874-84DF-9D89F4E622C9}"/>
              </a:ext>
            </a:extLst>
          </p:cNvPr>
          <p:cNvSpPr>
            <a:spLocks xmlns:a="http://schemas.openxmlformats.org/drawingml/2006/main" noGrp="1"/>
          </p:cNvSpPr>
          <p:nvPr/>
        </p:nvSpPr>
        <p:spPr>
          <a:xfrm xmlns:a="http://schemas.openxmlformats.org/drawingml/2006/main">
            <a:off x="9086850" y="363855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2016–24 fit; 2025 remains out of time.</a:t>
            </a:r>
          </a:p>
        </p:txBody>
      </p:sp>
      <p:sp>
        <p:nvSpPr>
          <p:cNvPr id="13" name="panel">
            <a:extLst xmlns:a="http://schemas.openxmlformats.org/drawingml/2006/main">
              <a:ext uri="{FF2B5EF4-FFF2-40B4-BE49-F238E27FC236}">
                <a16:creationId xmlns:a16="http://schemas.microsoft.com/office/drawing/2014/main" id="{05F08D1B-A07E-496E-A0E9-36C32E578814}"/>
              </a:ext>
            </a:extLst>
          </p:cNvPr>
          <p:cNvSpPr>
            <a:spLocks xmlns:a="http://schemas.openxmlformats.org/drawingml/2006/main" noGrp="1"/>
          </p:cNvSpPr>
          <p:nvPr/>
        </p:nvSpPr>
        <p:spPr>
          <a:xfrm xmlns:a="http://schemas.openxmlformats.org/drawingml/2006/main">
            <a:off x="8858250" y="4619625"/>
            <a:ext cx="95250" cy="95250"/>
          </a:xfrm>
          <a:prstGeom xmlns:a="http://schemas.openxmlformats.org/drawingml/2006/main" prst="ellipse">
            <a:avLst/>
          </a:prstGeom>
          <a:solidFill xmlns:a="http://schemas.openxmlformats.org/drawingml/2006/main">
            <a:srgbClr val="10A7A0"/>
          </a:solidFill>
          <a:ln xmlns:a="http://schemas.openxmlformats.org/drawingml/2006/main" w="0">
            <a:solidFill>
              <a:srgbClr val="10A7A0"/>
            </a:solidFill>
            <a:prstDash val="solid"/>
          </a:ln>
        </p:spPr>
      </p:sp>
      <p:sp>
        <p:nvSpPr>
          <p:cNvPr id="14" name="text">
            <a:extLst xmlns:a="http://schemas.openxmlformats.org/drawingml/2006/main">
              <a:ext uri="{FF2B5EF4-FFF2-40B4-BE49-F238E27FC236}">
                <a16:creationId xmlns:a16="http://schemas.microsoft.com/office/drawing/2014/main" id="{D176D602-7B3B-4ED0-AEB8-10A51AAC116E}"/>
              </a:ext>
            </a:extLst>
          </p:cNvPr>
          <p:cNvSpPr>
            <a:spLocks xmlns:a="http://schemas.openxmlformats.org/drawingml/2006/main" noGrp="1"/>
          </p:cNvSpPr>
          <p:nvPr/>
        </p:nvSpPr>
        <p:spPr>
          <a:xfrm xmlns:a="http://schemas.openxmlformats.org/drawingml/2006/main">
            <a:off x="9086850" y="45529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333"/>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No private text</a:t>
            </a:r>
          </a:p>
        </p:txBody>
      </p:sp>
      <p:sp>
        <p:nvSpPr>
          <p:cNvPr id="15" name="text">
            <a:extLst xmlns:a="http://schemas.openxmlformats.org/drawingml/2006/main">
              <a:ext uri="{FF2B5EF4-FFF2-40B4-BE49-F238E27FC236}">
                <a16:creationId xmlns:a16="http://schemas.microsoft.com/office/drawing/2014/main" id="{01737AC5-FAFC-44F4-8B03-F312A8DA6EA1}"/>
              </a:ext>
            </a:extLst>
          </p:cNvPr>
          <p:cNvSpPr>
            <a:spLocks xmlns:a="http://schemas.openxmlformats.org/drawingml/2006/main" noGrp="1"/>
          </p:cNvSpPr>
          <p:nvPr/>
        </p:nvSpPr>
        <p:spPr>
          <a:xfrm xmlns:a="http://schemas.openxmlformats.org/drawingml/2006/main">
            <a:off x="9086850" y="483870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273"/>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Names, exact locations and full descriptions stay outside the final ZIP.</a:t>
            </a:r>
          </a:p>
        </p:txBody>
      </p:sp>
      <p:sp>
        <p:nvSpPr>
          <p:cNvPr id="16" name="rule">
            <a:extLst xmlns:a="http://schemas.openxmlformats.org/drawingml/2006/main">
              <a:ext uri="{FF2B5EF4-FFF2-40B4-BE49-F238E27FC236}">
                <a16:creationId xmlns:a16="http://schemas.microsoft.com/office/drawing/2014/main" id="{71BE542F-78CA-403C-B463-8AD38AAB9670}"/>
              </a:ext>
            </a:extLst>
          </p:cNvPr>
          <p:cNvSpPr>
            <a:spLocks xmlns:a="http://schemas.openxmlformats.org/drawingml/2006/main" noGrp="1"/>
          </p:cNvSpPr>
          <p:nvPr/>
        </p:nvSpPr>
        <p:spPr>
          <a:xfrm xmlns:a="http://schemas.openxmlformats.org/drawingml/2006/main">
            <a:off x="400050" y="643890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7" name="source-footer">
            <a:extLst xmlns:a="http://schemas.openxmlformats.org/drawingml/2006/main">
              <a:ext uri="{FF2B5EF4-FFF2-40B4-BE49-F238E27FC236}">
                <a16:creationId xmlns:a16="http://schemas.microsoft.com/office/drawing/2014/main" id="{3FD47B49-7E83-4010-896F-8C7FBD63FF83}"/>
              </a:ext>
            </a:extLst>
          </p:cNvPr>
          <p:cNvSpPr>
            <a:spLocks xmlns:a="http://schemas.openxmlformats.org/drawingml/2006/main" noGrp="1"/>
          </p:cNvSpPr>
          <p:nvPr/>
        </p:nvSpPr>
        <p:spPr>
          <a:xfrm xmlns:a="http://schemas.openxmlformats.org/drawingml/2006/main">
            <a:off x="400050" y="651510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l">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Sources: outputs/model_sample_flow.csv; outputs/data_profile_summary.csv; outputs/status_raised_crosstab.csv</a:t>
            </a:r>
          </a:p>
        </p:txBody>
      </p:sp>
      <p:sp>
        <p:nvSpPr>
          <p:cNvPr id="18" name="team-footer">
            <a:extLst xmlns:a="http://schemas.openxmlformats.org/drawingml/2006/main">
              <a:ext uri="{FF2B5EF4-FFF2-40B4-BE49-F238E27FC236}">
                <a16:creationId xmlns:a16="http://schemas.microsoft.com/office/drawing/2014/main" id="{A7FAE9FF-0275-41CB-A974-35854C3E0011}"/>
              </a:ext>
            </a:extLst>
          </p:cNvPr>
          <p:cNvSpPr>
            <a:spLocks xmlns:a="http://schemas.openxmlformats.org/drawingml/2006/main" noGrp="1"/>
          </p:cNvSpPr>
          <p:nvPr/>
        </p:nvSpPr>
        <p:spPr>
          <a:xfrm xmlns:a="http://schemas.openxmlformats.org/drawingml/2006/main">
            <a:off x="10325100" y="651510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r">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5 GUYS · 11</a:t>
            </a:r>
          </a:p>
        </p:txBody>
      </p:sp>
    </p:spTree>
    <p:extLst>
      <p:ext uri="{BB962C8B-B14F-4D97-AF65-F5344CB8AC3E}">
        <p14:creationId xmlns:p14="http://schemas.microsoft.com/office/powerpoint/2010/main" val="13769092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8CF5EF0F-E864-4A0D-BB02-768E578B3757}"/>
              </a:ext>
            </a:extLst>
          </p:cNvPr>
          <p:cNvSpPr>
            <a:spLocks xmlns:a="http://schemas.openxmlformats.org/drawingml/2006/main" noGrp="1"/>
          </p:cNvSpPr>
          <p:nvPr/>
        </p:nvSpPr>
        <p:spPr>
          <a:xfrm xmlns:a="http://schemas.openxmlformats.org/drawingml/2006/main">
            <a:off x="400050" y="2286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APPENDIX · VALIDATION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b50c55e59e54faf"/>
          <a:stretch xmlns:a="http://schemas.openxmlformats.org/drawingml/2006/main"/>
        </p:blipFill>
        <p:spPr>
          <a:xfrm xmlns:a="http://schemas.openxmlformats.org/drawingml/2006/main">
            <a:off x="247650" y="457952"/>
            <a:ext cx="8953500" cy="4713370"/>
          </a:xfrm>
          <a:prstGeom xmlns:a="http://schemas.openxmlformats.org/drawingml/2006/main" prst="rect">
            <a:avLst/>
          </a:prstGeom>
        </p:spPr>
      </p:pic>
      <p:sp>
        <p:nvSpPr>
          <p:cNvPr id="3" name="identity-stat">
            <a:extLst xmlns:a="http://schemas.openxmlformats.org/drawingml/2006/main">
              <a:ext uri="{FF2B5EF4-FFF2-40B4-BE49-F238E27FC236}">
                <a16:creationId xmlns:a16="http://schemas.microsoft.com/office/drawing/2014/main" id="{63CD8D5A-37A1-4145-AA64-0BEFEFC4164B}"/>
              </a:ext>
            </a:extLst>
          </p:cNvPr>
          <p:cNvSpPr>
            <a:spLocks xmlns:a="http://schemas.openxmlformats.org/drawingml/2006/main" noGrp="1"/>
          </p:cNvSpPr>
          <p:nvPr/>
        </p:nvSpPr>
        <p:spPr>
          <a:xfrm xmlns:a="http://schemas.openxmlformats.org/drawingml/2006/main">
            <a:off x="9372600" y="838200"/>
            <a:ext cx="2419350" cy="142875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4" name="text">
            <a:extLst xmlns:a="http://schemas.openxmlformats.org/drawingml/2006/main">
              <a:ext uri="{FF2B5EF4-FFF2-40B4-BE49-F238E27FC236}">
                <a16:creationId xmlns:a16="http://schemas.microsoft.com/office/drawing/2014/main" id="{98AED518-EC6E-4ACA-9D67-81AF06F6EEDA}"/>
              </a:ext>
            </a:extLst>
          </p:cNvPr>
          <p:cNvSpPr>
            <a:spLocks xmlns:a="http://schemas.openxmlformats.org/drawingml/2006/main" noGrp="1"/>
          </p:cNvSpPr>
          <p:nvPr/>
        </p:nvSpPr>
        <p:spPr>
          <a:xfrm xmlns:a="http://schemas.openxmlformats.org/drawingml/2006/main">
            <a:off x="9601200" y="10668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028"/>
          </a:bodyPr>
          <a:lstStyle xmlns:a="http://schemas.openxmlformats.org/drawingml/2006/main"/>
          <a:p xmlns:a="http://schemas.openxmlformats.org/drawingml/2006/main">
            <a:pPr algn="l">
              <a:defRPr sz="3600" b="1">
                <a:solidFill>
                  <a:srgbClr val="3D8DFF"/>
                </a:solidFill>
                <a:latin typeface="Helvetica Neue"/>
                <a:ea typeface="Helvetica Neue"/>
                <a:cs typeface="Helvetica Neue"/>
              </a:defRPr>
            </a:pPr>
            <a:r>
              <a:rPr sz="3600" b="1">
                <a:solidFill>
                  <a:srgbClr val="3D8DFF"/>
                </a:solidFill>
                <a:latin typeface="Helvetica Neue"/>
                <a:ea typeface="Helvetica Neue"/>
                <a:cs typeface="Helvetica Neue"/>
              </a:rPr>
              <a:t>600</a:t>
            </a:r>
          </a:p>
        </p:txBody>
      </p:sp>
      <p:sp>
        <p:nvSpPr>
          <p:cNvPr id="5" name="text">
            <a:extLst xmlns:a="http://schemas.openxmlformats.org/drawingml/2006/main">
              <a:ext uri="{FF2B5EF4-FFF2-40B4-BE49-F238E27FC236}">
                <a16:creationId xmlns:a16="http://schemas.microsoft.com/office/drawing/2014/main" id="{ED7AA796-5456-4926-8EE6-62F1C13C32C6}"/>
              </a:ext>
            </a:extLst>
          </p:cNvPr>
          <p:cNvSpPr>
            <a:spLocks xmlns:a="http://schemas.openxmlformats.org/drawingml/2006/main" noGrp="1"/>
          </p:cNvSpPr>
          <p:nvPr/>
        </p:nvSpPr>
        <p:spPr>
          <a:xfrm xmlns:a="http://schemas.openxmlformats.org/drawingml/2006/main">
            <a:off x="9601200" y="16764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raw + residual</a:t>
            </a:r>
          </a:p>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identity checks</a:t>
            </a:r>
          </a:p>
        </p:txBody>
      </p:sp>
      <p:sp>
        <p:nvSpPr>
          <p:cNvPr id="6" name="error-stat">
            <a:extLst xmlns:a="http://schemas.openxmlformats.org/drawingml/2006/main">
              <a:ext uri="{FF2B5EF4-FFF2-40B4-BE49-F238E27FC236}">
                <a16:creationId xmlns:a16="http://schemas.microsoft.com/office/drawing/2014/main" id="{C5C2F66F-5821-4150-B88F-C71507586FC2}"/>
              </a:ext>
            </a:extLst>
          </p:cNvPr>
          <p:cNvSpPr>
            <a:spLocks xmlns:a="http://schemas.openxmlformats.org/drawingml/2006/main" noGrp="1"/>
          </p:cNvSpPr>
          <p:nvPr/>
        </p:nvSpPr>
        <p:spPr>
          <a:xfrm xmlns:a="http://schemas.openxmlformats.org/drawingml/2006/main">
            <a:off x="9372600" y="2533650"/>
            <a:ext cx="2419350" cy="142875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7" name="text">
            <a:extLst xmlns:a="http://schemas.openxmlformats.org/drawingml/2006/main">
              <a:ext uri="{FF2B5EF4-FFF2-40B4-BE49-F238E27FC236}">
                <a16:creationId xmlns:a16="http://schemas.microsoft.com/office/drawing/2014/main" id="{F1A69CD5-E1B2-46D5-BD44-3F9A8487030F}"/>
              </a:ext>
            </a:extLst>
          </p:cNvPr>
          <p:cNvSpPr>
            <a:spLocks xmlns:a="http://schemas.openxmlformats.org/drawingml/2006/main" noGrp="1"/>
          </p:cNvSpPr>
          <p:nvPr/>
        </p:nvSpPr>
        <p:spPr>
          <a:xfrm xmlns:a="http://schemas.openxmlformats.org/drawingml/2006/main">
            <a:off x="9601200" y="276225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0A7A0"/>
                </a:solidFill>
                <a:latin typeface="Helvetica Neue"/>
                <a:ea typeface="Helvetica Neue"/>
                <a:cs typeface="Helvetica Neue"/>
              </a:defRPr>
            </a:pPr>
            <a:r>
              <a:rPr sz="2850" b="1">
                <a:solidFill>
                  <a:srgbClr val="10A7A0"/>
                </a:solidFill>
                <a:latin typeface="Helvetica Neue"/>
                <a:ea typeface="Helvetica Neue"/>
                <a:cs typeface="Helvetica Neue"/>
              </a:rPr>
              <a:t>2.89e−14</a:t>
            </a:r>
          </a:p>
        </p:txBody>
      </p:sp>
      <p:sp>
        <p:nvSpPr>
          <p:cNvPr id="8" name="text">
            <a:extLst xmlns:a="http://schemas.openxmlformats.org/drawingml/2006/main">
              <a:ext uri="{FF2B5EF4-FFF2-40B4-BE49-F238E27FC236}">
                <a16:creationId xmlns:a16="http://schemas.microsoft.com/office/drawing/2014/main" id="{3A48EC60-E744-49EC-A95B-6F6B2A257B1C}"/>
              </a:ext>
            </a:extLst>
          </p:cNvPr>
          <p:cNvSpPr>
            <a:spLocks xmlns:a="http://schemas.openxmlformats.org/drawingml/2006/main" noGrp="1"/>
          </p:cNvSpPr>
          <p:nvPr/>
        </p:nvSpPr>
        <p:spPr>
          <a:xfrm xmlns:a="http://schemas.openxmlformats.org/drawingml/2006/main">
            <a:off x="9601200" y="337185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maximum raw</a:t>
            </a:r>
          </a:p>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absolute error</a:t>
            </a:r>
          </a:p>
        </p:txBody>
      </p:sp>
      <p:sp>
        <p:nvSpPr>
          <p:cNvPr id="9" name="text">
            <a:extLst xmlns:a="http://schemas.openxmlformats.org/drawingml/2006/main">
              <a:ext uri="{FF2B5EF4-FFF2-40B4-BE49-F238E27FC236}">
                <a16:creationId xmlns:a16="http://schemas.microsoft.com/office/drawing/2014/main" id="{3737A3A0-9AC6-4F4B-A297-813EDAB58C81}"/>
              </a:ext>
            </a:extLst>
          </p:cNvPr>
          <p:cNvSpPr>
            <a:spLocks xmlns:a="http://schemas.openxmlformats.org/drawingml/2006/main" noGrp="1"/>
          </p:cNvSpPr>
          <p:nvPr/>
        </p:nvSpPr>
        <p:spPr>
          <a:xfrm xmlns:a="http://schemas.openxmlformats.org/drawingml/2006/main">
            <a:off x="9525000" y="4381500"/>
            <a:ext cx="2114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a:solidFill>
                  <a:srgbClr val="10A7A0"/>
                </a:solidFill>
                <a:latin typeface="Helvetica Neue"/>
                <a:ea typeface="Helvetica Neue"/>
                <a:cs typeface="Helvetica Neue"/>
              </a:defRPr>
            </a:pPr>
            <a:r>
              <a:rPr sz="1500" b="1">
                <a:solidFill>
                  <a:srgbClr val="10A7A0"/>
                </a:solidFill>
                <a:latin typeface="Helvetica Neue"/>
                <a:ea typeface="Helvetica Neue"/>
                <a:cs typeface="Helvetica Neue"/>
              </a:rPr>
              <a:t>PASS · threshold 1e−9</a:t>
            </a:r>
          </a:p>
        </p:txBody>
      </p:sp>
      <p:sp>
        <p:nvSpPr>
          <p:cNvPr id="10" name="text">
            <a:extLst xmlns:a="http://schemas.openxmlformats.org/drawingml/2006/main">
              <a:ext uri="{FF2B5EF4-FFF2-40B4-BE49-F238E27FC236}">
                <a16:creationId xmlns:a16="http://schemas.microsoft.com/office/drawing/2014/main" id="{1B3AE450-4779-4A13-AB25-65404B94A8D7}"/>
              </a:ext>
            </a:extLst>
          </p:cNvPr>
          <p:cNvSpPr>
            <a:spLocks xmlns:a="http://schemas.openxmlformats.org/drawingml/2006/main" noGrp="1"/>
          </p:cNvSpPr>
          <p:nvPr/>
        </p:nvSpPr>
        <p:spPr>
          <a:xfrm xmlns:a="http://schemas.openxmlformats.org/drawingml/2006/main">
            <a:off x="9525000" y="4876800"/>
            <a:ext cx="2114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792"/>
          </a:bodyPr>
          <a:lstStyle xmlns:a="http://schemas.openxmlformats.org/drawingml/2006/main"/>
          <a:p xmlns:a="http://schemas.openxmlformats.org/drawingml/2006/main">
            <a:pPr algn="ctr">
              <a:defRPr sz="1200" b="0">
                <a:solidFill>
                  <a:srgbClr val="334155"/>
                </a:solidFill>
                <a:latin typeface="Helvetica Neue"/>
                <a:ea typeface="Helvetica Neue"/>
                <a:cs typeface="Helvetica Neue"/>
              </a:defRPr>
            </a:pPr>
            <a:r>
              <a:rPr sz="1200" b="0">
                <a:solidFill>
                  <a:srgbClr val="334155"/>
                </a:solidFill>
                <a:latin typeface="Helvetica Neue"/>
                <a:ea typeface="Helvetica Neue"/>
                <a:cs typeface="Helvetica Neue"/>
              </a:rPr>
              <a:t>Support is descriptive—it does not establish causality.</a:t>
            </a:r>
          </a:p>
        </p:txBody>
      </p:sp>
      <p:sp>
        <p:nvSpPr>
          <p:cNvPr id="11" name="rule">
            <a:extLst xmlns:a="http://schemas.openxmlformats.org/drawingml/2006/main">
              <a:ext uri="{FF2B5EF4-FFF2-40B4-BE49-F238E27FC236}">
                <a16:creationId xmlns:a16="http://schemas.microsoft.com/office/drawing/2014/main" id="{FF4ACFFD-33CC-47C9-ACF0-93006DC81C4C}"/>
              </a:ext>
            </a:extLst>
          </p:cNvPr>
          <p:cNvSpPr>
            <a:spLocks xmlns:a="http://schemas.openxmlformats.org/drawingml/2006/main" noGrp="1"/>
          </p:cNvSpPr>
          <p:nvPr/>
        </p:nvSpPr>
        <p:spPr>
          <a:xfrm xmlns:a="http://schemas.openxmlformats.org/drawingml/2006/main">
            <a:off x="400050" y="643890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2" name="source-footer">
            <a:extLst xmlns:a="http://schemas.openxmlformats.org/drawingml/2006/main">
              <a:ext uri="{FF2B5EF4-FFF2-40B4-BE49-F238E27FC236}">
                <a16:creationId xmlns:a16="http://schemas.microsoft.com/office/drawing/2014/main" id="{796924C4-31F4-471B-A0F1-37722134F4E0}"/>
              </a:ext>
            </a:extLst>
          </p:cNvPr>
          <p:cNvSpPr>
            <a:spLocks xmlns:a="http://schemas.openxmlformats.org/drawingml/2006/main" noGrp="1"/>
          </p:cNvSpPr>
          <p:nvPr/>
        </p:nvSpPr>
        <p:spPr>
          <a:xfrm xmlns:a="http://schemas.openxmlformats.org/drawingml/2006/main">
            <a:off x="400050" y="651510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l">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Sources: outputs/pool_identity_summary.csv; outputs/joint_support_summary.csv</a:t>
            </a:r>
          </a:p>
        </p:txBody>
      </p:sp>
      <p:sp>
        <p:nvSpPr>
          <p:cNvPr id="13" name="team-footer">
            <a:extLst xmlns:a="http://schemas.openxmlformats.org/drawingml/2006/main">
              <a:ext uri="{FF2B5EF4-FFF2-40B4-BE49-F238E27FC236}">
                <a16:creationId xmlns:a16="http://schemas.microsoft.com/office/drawing/2014/main" id="{8FD0B0CC-A38C-4513-9864-572D9464F7CF}"/>
              </a:ext>
            </a:extLst>
          </p:cNvPr>
          <p:cNvSpPr>
            <a:spLocks xmlns:a="http://schemas.openxmlformats.org/drawingml/2006/main" noGrp="1"/>
          </p:cNvSpPr>
          <p:nvPr/>
        </p:nvSpPr>
        <p:spPr>
          <a:xfrm xmlns:a="http://schemas.openxmlformats.org/drawingml/2006/main">
            <a:off x="10325100" y="651510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r">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5 GUYS · 12</a:t>
            </a:r>
          </a:p>
        </p:txBody>
      </p:sp>
    </p:spTree>
    <p:extLst>
      <p:ext uri="{BB962C8B-B14F-4D97-AF65-F5344CB8AC3E}">
        <p14:creationId xmlns:p14="http://schemas.microsoft.com/office/powerpoint/2010/main" val="51623331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ection-label">
            <a:extLst xmlns:a="http://schemas.openxmlformats.org/drawingml/2006/main">
              <a:ext uri="{FF2B5EF4-FFF2-40B4-BE49-F238E27FC236}">
                <a16:creationId xmlns:a16="http://schemas.microsoft.com/office/drawing/2014/main" id="{D6364A4D-A50F-49E6-B341-16B387E6967B}"/>
              </a:ext>
            </a:extLst>
          </p:cNvPr>
          <p:cNvSpPr>
            <a:spLocks xmlns:a="http://schemas.openxmlformats.org/drawingml/2006/main" noGrp="1"/>
          </p:cNvSpPr>
          <p:nvPr/>
        </p:nvSpPr>
        <p:spPr>
          <a:xfrm xmlns:a="http://schemas.openxmlformats.org/drawingml/2006/main">
            <a:off x="400050" y="2667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APPENDIX · MODEL</a:t>
            </a:r>
          </a:p>
        </p:txBody>
      </p:sp>
      <p:sp>
        <p:nvSpPr>
          <p:cNvPr id="2" name="slide-title">
            <a:extLst xmlns:a="http://schemas.openxmlformats.org/drawingml/2006/main">
              <a:ext uri="{FF2B5EF4-FFF2-40B4-BE49-F238E27FC236}">
                <a16:creationId xmlns:a16="http://schemas.microsoft.com/office/drawing/2014/main" id="{AB50169A-A49E-42F3-8535-DB77F95FFB20}"/>
              </a:ext>
            </a:extLst>
          </p:cNvPr>
          <p:cNvSpPr>
            <a:spLocks xmlns:a="http://schemas.openxmlformats.org/drawingml/2006/main" noGrp="1"/>
          </p:cNvSpPr>
          <p:nvPr/>
        </p:nvSpPr>
        <p:spPr>
          <a:xfrm xmlns:a="http://schemas.openxmlformats.org/drawingml/2006/main">
            <a:off x="400050" y="59055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077"/>
          </a:bodyPr>
          <a:lstStyle xmlns:a="http://schemas.openxmlformats.org/drawingml/2006/main"/>
          <a:p xmlns:a="http://schemas.openxmlformats.org/drawingml/2006/main">
            <a:pPr algn="l">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The model separates current and recent environments within a fixed specification</a:t>
            </a:r>
          </a:p>
        </p:txBody>
      </p:sp>
      <p:sp>
        <p:nvSpPr>
          <p:cNvPr id="3" name="page-number">
            <a:extLst xmlns:a="http://schemas.openxmlformats.org/drawingml/2006/main">
              <a:ext uri="{FF2B5EF4-FFF2-40B4-BE49-F238E27FC236}">
                <a16:creationId xmlns:a16="http://schemas.microsoft.com/office/drawing/2014/main" id="{7CF730B3-55EA-409D-9115-E59147770117}"/>
              </a:ext>
            </a:extLst>
          </p:cNvPr>
          <p:cNvSpPr>
            <a:spLocks xmlns:a="http://schemas.openxmlformats.org/drawingml/2006/main" noGrp="1"/>
          </p:cNvSpPr>
          <p:nvPr/>
        </p:nvSpPr>
        <p:spPr>
          <a:xfrm xmlns:a="http://schemas.openxmlformats.org/drawingml/2006/main">
            <a:off x="11277600" y="2667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13</a:t>
            </a:r>
          </a:p>
        </p:txBody>
      </p:sp>
      <p:sp>
        <p:nvSpPr>
          <p:cNvPr id="4" name="formula-band">
            <a:extLst xmlns:a="http://schemas.openxmlformats.org/drawingml/2006/main">
              <a:ext uri="{FF2B5EF4-FFF2-40B4-BE49-F238E27FC236}">
                <a16:creationId xmlns:a16="http://schemas.microsoft.com/office/drawing/2014/main" id="{33FA96D6-C88D-4EBA-91C3-35A18CE2E3B1}"/>
              </a:ext>
            </a:extLst>
          </p:cNvPr>
          <p:cNvSpPr>
            <a:spLocks xmlns:a="http://schemas.openxmlformats.org/drawingml/2006/main" noGrp="1"/>
          </p:cNvSpPr>
          <p:nvPr/>
        </p:nvSpPr>
        <p:spPr>
          <a:xfrm xmlns:a="http://schemas.openxmlformats.org/drawingml/2006/main">
            <a:off x="400050" y="1619250"/>
            <a:ext cx="11391900" cy="93345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5" name="text">
            <a:extLst xmlns:a="http://schemas.openxmlformats.org/drawingml/2006/main">
              <a:ext uri="{FF2B5EF4-FFF2-40B4-BE49-F238E27FC236}">
                <a16:creationId xmlns:a16="http://schemas.microsoft.com/office/drawing/2014/main" id="{20CE5553-41E3-46FE-992C-E60934740F44}"/>
              </a:ext>
            </a:extLst>
          </p:cNvPr>
          <p:cNvSpPr>
            <a:spLocks xmlns:a="http://schemas.openxmlformats.org/drawingml/2006/main" noGrp="1"/>
          </p:cNvSpPr>
          <p:nvPr/>
        </p:nvSpPr>
        <p:spPr>
          <a:xfrm xmlns:a="http://schemas.openxmlformats.org/drawingml/2006/main">
            <a:off x="647700" y="1895475"/>
            <a:ext cx="10896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log(1 + funding hours)  ~  C + H + C×H + V + G + V×G + controls  |  fixed effects</a:t>
            </a:r>
          </a:p>
        </p:txBody>
      </p:sp>
      <p:sp>
        <p:nvSpPr>
          <p:cNvPr id="6" name="text">
            <a:extLst xmlns:a="http://schemas.openxmlformats.org/drawingml/2006/main">
              <a:ext uri="{FF2B5EF4-FFF2-40B4-BE49-F238E27FC236}">
                <a16:creationId xmlns:a16="http://schemas.microsoft.com/office/drawing/2014/main" id="{69384AC7-7CEC-4E5D-B8F2-6175BBD2575F}"/>
              </a:ext>
            </a:extLst>
          </p:cNvPr>
          <p:cNvSpPr>
            <a:spLocks xmlns:a="http://schemas.openxmlformats.org/drawingml/2006/main" noGrp="1"/>
          </p:cNvSpPr>
          <p:nvPr/>
        </p:nvSpPr>
        <p:spPr>
          <a:xfrm xmlns:a="http://schemas.openxmlformats.org/drawingml/2006/main">
            <a:off x="400050" y="30480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CURRENT</a:t>
            </a:r>
          </a:p>
        </p:txBody>
      </p:sp>
      <p:sp>
        <p:nvSpPr>
          <p:cNvPr id="7" name="text">
            <a:extLst xmlns:a="http://schemas.openxmlformats.org/drawingml/2006/main">
              <a:ext uri="{FF2B5EF4-FFF2-40B4-BE49-F238E27FC236}">
                <a16:creationId xmlns:a16="http://schemas.microsoft.com/office/drawing/2014/main" id="{55D6BE55-58F4-42E9-9150-B9B727B994C5}"/>
              </a:ext>
            </a:extLst>
          </p:cNvPr>
          <p:cNvSpPr>
            <a:spLocks xmlns:a="http://schemas.openxmlformats.org/drawingml/2006/main" noGrp="1"/>
          </p:cNvSpPr>
          <p:nvPr/>
        </p:nvSpPr>
        <p:spPr>
          <a:xfrm xmlns:a="http://schemas.openxmlformats.org/drawingml/2006/main">
            <a:off x="400050" y="34099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p xmlns:a="http://schemas.openxmlformats.org/drawingml/2006/main">
            <a:pPr algn="l">
              <a:defRPr sz="2700" b="1">
                <a:solidFill>
                  <a:srgbClr val="3D8DFF"/>
                </a:solidFill>
                <a:latin typeface="Helvetica Neue"/>
                <a:ea typeface="Helvetica Neue"/>
                <a:cs typeface="Helvetica Neue"/>
              </a:defRPr>
            </a:pPr>
            <a:r>
              <a:rPr sz="2700" b="1">
                <a:solidFill>
                  <a:srgbClr val="3D8DFF"/>
                </a:solidFill>
                <a:latin typeface="Helvetica Neue"/>
                <a:ea typeface="Helvetica Neue"/>
                <a:cs typeface="Helvetica Neue"/>
              </a:rPr>
              <a:t>C</a:t>
            </a:r>
          </a:p>
        </p:txBody>
      </p:sp>
      <p:sp>
        <p:nvSpPr>
          <p:cNvPr id="8" name="text">
            <a:extLst xmlns:a="http://schemas.openxmlformats.org/drawingml/2006/main">
              <a:ext uri="{FF2B5EF4-FFF2-40B4-BE49-F238E27FC236}">
                <a16:creationId xmlns:a16="http://schemas.microsoft.com/office/drawing/2014/main" id="{CC1A10A6-18FE-4483-BBFD-D849F5BF2B1E}"/>
              </a:ext>
            </a:extLst>
          </p:cNvPr>
          <p:cNvSpPr>
            <a:spLocks xmlns:a="http://schemas.openxmlformats.org/drawingml/2006/main" noGrp="1"/>
          </p:cNvSpPr>
          <p:nvPr/>
        </p:nvSpPr>
        <p:spPr>
          <a:xfrm xmlns:a="http://schemas.openxmlformats.org/drawingml/2006/main">
            <a:off x="1009650" y="34956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log1p active same-sector count</a:t>
            </a:r>
          </a:p>
        </p:txBody>
      </p:sp>
      <p:sp>
        <p:nvSpPr>
          <p:cNvPr id="9" name="text">
            <a:extLst xmlns:a="http://schemas.openxmlformats.org/drawingml/2006/main">
              <a:ext uri="{FF2B5EF4-FFF2-40B4-BE49-F238E27FC236}">
                <a16:creationId xmlns:a16="http://schemas.microsoft.com/office/drawing/2014/main" id="{886D1091-281E-4D6D-B2A6-5547B9EBE9ED}"/>
              </a:ext>
            </a:extLst>
          </p:cNvPr>
          <p:cNvSpPr>
            <a:spLocks xmlns:a="http://schemas.openxmlformats.org/drawingml/2006/main" noGrp="1"/>
          </p:cNvSpPr>
          <p:nvPr/>
        </p:nvSpPr>
        <p:spPr>
          <a:xfrm xmlns:a="http://schemas.openxmlformats.org/drawingml/2006/main">
            <a:off x="400050" y="403860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p xmlns:a="http://schemas.openxmlformats.org/drawingml/2006/main">
            <a:pPr algn="l">
              <a:defRPr sz="2700" b="1">
                <a:solidFill>
                  <a:srgbClr val="3D8DFF"/>
                </a:solidFill>
                <a:latin typeface="Helvetica Neue"/>
                <a:ea typeface="Helvetica Neue"/>
                <a:cs typeface="Helvetica Neue"/>
              </a:defRPr>
            </a:pPr>
            <a:r>
              <a:rPr sz="2700" b="1">
                <a:solidFill>
                  <a:srgbClr val="3D8DFF"/>
                </a:solidFill>
                <a:latin typeface="Helvetica Neue"/>
                <a:ea typeface="Helvetica Neue"/>
                <a:cs typeface="Helvetica Neue"/>
              </a:rPr>
              <a:t>H</a:t>
            </a:r>
          </a:p>
        </p:txBody>
      </p:sp>
      <p:sp>
        <p:nvSpPr>
          <p:cNvPr id="10" name="text">
            <a:extLst xmlns:a="http://schemas.openxmlformats.org/drawingml/2006/main">
              <a:ext uri="{FF2B5EF4-FFF2-40B4-BE49-F238E27FC236}">
                <a16:creationId xmlns:a16="http://schemas.microsoft.com/office/drawing/2014/main" id="{BEE5E8A3-0260-4E25-90FE-B7ACB3B0A3E3}"/>
              </a:ext>
            </a:extLst>
          </p:cNvPr>
          <p:cNvSpPr>
            <a:spLocks xmlns:a="http://schemas.openxmlformats.org/drawingml/2006/main" noGrp="1"/>
          </p:cNvSpPr>
          <p:nvPr/>
        </p:nvSpPr>
        <p:spPr>
          <a:xfrm xmlns:a="http://schemas.openxmlformats.org/drawingml/2006/main">
            <a:off x="1009650" y="41243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focal-to-active-pool lexical overlap</a:t>
            </a:r>
          </a:p>
        </p:txBody>
      </p:sp>
      <p:sp>
        <p:nvSpPr>
          <p:cNvPr id="11" name="text">
            <a:extLst xmlns:a="http://schemas.openxmlformats.org/drawingml/2006/main">
              <a:ext uri="{FF2B5EF4-FFF2-40B4-BE49-F238E27FC236}">
                <a16:creationId xmlns:a16="http://schemas.microsoft.com/office/drawing/2014/main" id="{4C780B2C-A317-40F8-BD38-0AF97EB4110F}"/>
              </a:ext>
            </a:extLst>
          </p:cNvPr>
          <p:cNvSpPr>
            <a:spLocks xmlns:a="http://schemas.openxmlformats.org/drawingml/2006/main" noGrp="1"/>
          </p:cNvSpPr>
          <p:nvPr/>
        </p:nvSpPr>
        <p:spPr>
          <a:xfrm xmlns:a="http://schemas.openxmlformats.org/drawingml/2006/main">
            <a:off x="400050" y="4667250"/>
            <a:ext cx="800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537"/>
          </a:bodyPr>
          <a:lstStyle xmlns:a="http://schemas.openxmlformats.org/drawingml/2006/main"/>
          <a:p xmlns:a="http://schemas.openxmlformats.org/drawingml/2006/main">
            <a:pPr algn="l">
              <a:defRPr sz="2700" b="1">
                <a:solidFill>
                  <a:srgbClr val="3D8DFF"/>
                </a:solidFill>
                <a:latin typeface="Helvetica Neue"/>
                <a:ea typeface="Helvetica Neue"/>
                <a:cs typeface="Helvetica Neue"/>
              </a:defRPr>
            </a:pPr>
            <a:r>
              <a:rPr sz="2700" b="1">
                <a:solidFill>
                  <a:srgbClr val="3D8DFF"/>
                </a:solidFill>
                <a:latin typeface="Helvetica Neue"/>
                <a:ea typeface="Helvetica Neue"/>
                <a:cs typeface="Helvetica Neue"/>
              </a:rPr>
              <a:t>C×H</a:t>
            </a:r>
          </a:p>
        </p:txBody>
      </p:sp>
      <p:sp>
        <p:nvSpPr>
          <p:cNvPr id="12" name="text">
            <a:extLst xmlns:a="http://schemas.openxmlformats.org/drawingml/2006/main">
              <a:ext uri="{FF2B5EF4-FFF2-40B4-BE49-F238E27FC236}">
                <a16:creationId xmlns:a16="http://schemas.microsoft.com/office/drawing/2014/main" id="{F267DCC3-60CB-4206-971E-53E6A68C1031}"/>
              </a:ext>
            </a:extLst>
          </p:cNvPr>
          <p:cNvSpPr>
            <a:spLocks xmlns:a="http://schemas.openxmlformats.org/drawingml/2006/main" noGrp="1"/>
          </p:cNvSpPr>
          <p:nvPr/>
        </p:nvSpPr>
        <p:spPr>
          <a:xfrm xmlns:a="http://schemas.openxmlformats.org/drawingml/2006/main">
            <a:off x="1200150" y="47529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current saturation interaction</a:t>
            </a:r>
          </a:p>
        </p:txBody>
      </p:sp>
      <p:sp>
        <p:nvSpPr>
          <p:cNvPr id="13" name="text">
            <a:extLst xmlns:a="http://schemas.openxmlformats.org/drawingml/2006/main">
              <a:ext uri="{FF2B5EF4-FFF2-40B4-BE49-F238E27FC236}">
                <a16:creationId xmlns:a16="http://schemas.microsoft.com/office/drawing/2014/main" id="{B8ACCADB-91C7-4964-BEBF-B8CCEF2A83FA}"/>
              </a:ext>
            </a:extLst>
          </p:cNvPr>
          <p:cNvSpPr>
            <a:spLocks xmlns:a="http://schemas.openxmlformats.org/drawingml/2006/main" noGrp="1"/>
          </p:cNvSpPr>
          <p:nvPr/>
        </p:nvSpPr>
        <p:spPr>
          <a:xfrm xmlns:a="http://schemas.openxmlformats.org/drawingml/2006/main">
            <a:off x="4324350" y="30480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E5A93D"/>
                </a:solidFill>
                <a:latin typeface="Helvetica Neue"/>
                <a:ea typeface="Helvetica Neue"/>
                <a:cs typeface="Helvetica Neue"/>
              </a:defRPr>
            </a:pPr>
            <a:r>
              <a:rPr sz="1050" b="1">
                <a:solidFill>
                  <a:srgbClr val="E5A93D"/>
                </a:solidFill>
                <a:latin typeface="Helvetica Neue"/>
                <a:ea typeface="Helvetica Neue"/>
                <a:cs typeface="Helvetica Neue"/>
              </a:rPr>
              <a:t>RECENT</a:t>
            </a:r>
          </a:p>
        </p:txBody>
      </p:sp>
      <p:sp>
        <p:nvSpPr>
          <p:cNvPr id="14" name="text">
            <a:extLst xmlns:a="http://schemas.openxmlformats.org/drawingml/2006/main">
              <a:ext uri="{FF2B5EF4-FFF2-40B4-BE49-F238E27FC236}">
                <a16:creationId xmlns:a16="http://schemas.microsoft.com/office/drawing/2014/main" id="{69577543-3CD3-4C84-A14C-5B0496CB0E72}"/>
              </a:ext>
            </a:extLst>
          </p:cNvPr>
          <p:cNvSpPr>
            <a:spLocks xmlns:a="http://schemas.openxmlformats.org/drawingml/2006/main" noGrp="1"/>
          </p:cNvSpPr>
          <p:nvPr/>
        </p:nvSpPr>
        <p:spPr>
          <a:xfrm xmlns:a="http://schemas.openxmlformats.org/drawingml/2006/main">
            <a:off x="4324350" y="34099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p xmlns:a="http://schemas.openxmlformats.org/drawingml/2006/main">
            <a:pPr algn="l">
              <a:defRPr sz="2700" b="1">
                <a:solidFill>
                  <a:srgbClr val="E5A93D"/>
                </a:solidFill>
                <a:latin typeface="Helvetica Neue"/>
                <a:ea typeface="Helvetica Neue"/>
                <a:cs typeface="Helvetica Neue"/>
              </a:defRPr>
            </a:pPr>
            <a:r>
              <a:rPr sz="2700" b="1">
                <a:solidFill>
                  <a:srgbClr val="E5A93D"/>
                </a:solidFill>
                <a:latin typeface="Helvetica Neue"/>
                <a:ea typeface="Helvetica Neue"/>
                <a:cs typeface="Helvetica Neue"/>
              </a:rPr>
              <a:t>V</a:t>
            </a:r>
          </a:p>
        </p:txBody>
      </p:sp>
      <p:sp>
        <p:nvSpPr>
          <p:cNvPr id="15" name="text">
            <a:extLst xmlns:a="http://schemas.openxmlformats.org/drawingml/2006/main">
              <a:ext uri="{FF2B5EF4-FFF2-40B4-BE49-F238E27FC236}">
                <a16:creationId xmlns:a16="http://schemas.microsoft.com/office/drawing/2014/main" id="{C2F0F56D-D38C-480E-9ECD-DAEB60A636EE}"/>
              </a:ext>
            </a:extLst>
          </p:cNvPr>
          <p:cNvSpPr>
            <a:spLocks xmlns:a="http://schemas.openxmlformats.org/drawingml/2006/main" noGrp="1"/>
          </p:cNvSpPr>
          <p:nvPr/>
        </p:nvSpPr>
        <p:spPr>
          <a:xfrm xmlns:a="http://schemas.openxmlformats.org/drawingml/2006/main">
            <a:off x="4933950" y="34956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log1p [35,65)d decayed posting weight</a:t>
            </a:r>
          </a:p>
        </p:txBody>
      </p:sp>
      <p:sp>
        <p:nvSpPr>
          <p:cNvPr id="16" name="text">
            <a:extLst xmlns:a="http://schemas.openxmlformats.org/drawingml/2006/main">
              <a:ext uri="{FF2B5EF4-FFF2-40B4-BE49-F238E27FC236}">
                <a16:creationId xmlns:a16="http://schemas.microsoft.com/office/drawing/2014/main" id="{990C5759-9AAA-42BE-B9E1-DF90051D81AF}"/>
              </a:ext>
            </a:extLst>
          </p:cNvPr>
          <p:cNvSpPr>
            <a:spLocks xmlns:a="http://schemas.openxmlformats.org/drawingml/2006/main" noGrp="1"/>
          </p:cNvSpPr>
          <p:nvPr/>
        </p:nvSpPr>
        <p:spPr>
          <a:xfrm xmlns:a="http://schemas.openxmlformats.org/drawingml/2006/main">
            <a:off x="4324350" y="403860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p xmlns:a="http://schemas.openxmlformats.org/drawingml/2006/main">
            <a:pPr algn="l">
              <a:defRPr sz="2700" b="1">
                <a:solidFill>
                  <a:srgbClr val="E5A93D"/>
                </a:solidFill>
                <a:latin typeface="Helvetica Neue"/>
                <a:ea typeface="Helvetica Neue"/>
                <a:cs typeface="Helvetica Neue"/>
              </a:defRPr>
            </a:pPr>
            <a:r>
              <a:rPr sz="2700" b="1">
                <a:solidFill>
                  <a:srgbClr val="E5A93D"/>
                </a:solidFill>
                <a:latin typeface="Helvetica Neue"/>
                <a:ea typeface="Helvetica Neue"/>
                <a:cs typeface="Helvetica Neue"/>
              </a:rPr>
              <a:t>G</a:t>
            </a:r>
          </a:p>
        </p:txBody>
      </p:sp>
      <p:sp>
        <p:nvSpPr>
          <p:cNvPr id="17" name="text">
            <a:extLst xmlns:a="http://schemas.openxmlformats.org/drawingml/2006/main">
              <a:ext uri="{FF2B5EF4-FFF2-40B4-BE49-F238E27FC236}">
                <a16:creationId xmlns:a16="http://schemas.microsoft.com/office/drawing/2014/main" id="{222A523E-F5A1-4477-9DB0-C08D79BD3979}"/>
              </a:ext>
            </a:extLst>
          </p:cNvPr>
          <p:cNvSpPr>
            <a:spLocks xmlns:a="http://schemas.openxmlformats.org/drawingml/2006/main" noGrp="1"/>
          </p:cNvSpPr>
          <p:nvPr/>
        </p:nvSpPr>
        <p:spPr>
          <a:xfrm xmlns:a="http://schemas.openxmlformats.org/drawingml/2006/main">
            <a:off x="4933950" y="412432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decayed focal-to-pool lexical overlap</a:t>
            </a:r>
          </a:p>
        </p:txBody>
      </p:sp>
      <p:sp>
        <p:nvSpPr>
          <p:cNvPr id="18" name="text">
            <a:extLst xmlns:a="http://schemas.openxmlformats.org/drawingml/2006/main">
              <a:ext uri="{FF2B5EF4-FFF2-40B4-BE49-F238E27FC236}">
                <a16:creationId xmlns:a16="http://schemas.microsoft.com/office/drawing/2014/main" id="{FFA94FA2-DC73-434A-9F46-0916A72D28AA}"/>
              </a:ext>
            </a:extLst>
          </p:cNvPr>
          <p:cNvSpPr>
            <a:spLocks xmlns:a="http://schemas.openxmlformats.org/drawingml/2006/main" noGrp="1"/>
          </p:cNvSpPr>
          <p:nvPr/>
        </p:nvSpPr>
        <p:spPr>
          <a:xfrm xmlns:a="http://schemas.openxmlformats.org/drawingml/2006/main">
            <a:off x="4324350" y="4667250"/>
            <a:ext cx="800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p xmlns:a="http://schemas.openxmlformats.org/drawingml/2006/main">
            <a:pPr algn="l">
              <a:defRPr sz="2700" b="1">
                <a:solidFill>
                  <a:srgbClr val="E5A93D"/>
                </a:solidFill>
                <a:latin typeface="Helvetica Neue"/>
                <a:ea typeface="Helvetica Neue"/>
                <a:cs typeface="Helvetica Neue"/>
              </a:defRPr>
            </a:pPr>
            <a:r>
              <a:rPr sz="2700" b="1">
                <a:solidFill>
                  <a:srgbClr val="E5A93D"/>
                </a:solidFill>
                <a:latin typeface="Helvetica Neue"/>
                <a:ea typeface="Helvetica Neue"/>
                <a:cs typeface="Helvetica Neue"/>
              </a:rPr>
              <a:t>V×G</a:t>
            </a:r>
          </a:p>
        </p:txBody>
      </p:sp>
      <p:sp>
        <p:nvSpPr>
          <p:cNvPr id="19" name="text">
            <a:extLst xmlns:a="http://schemas.openxmlformats.org/drawingml/2006/main">
              <a:ext uri="{FF2B5EF4-FFF2-40B4-BE49-F238E27FC236}">
                <a16:creationId xmlns:a16="http://schemas.microsoft.com/office/drawing/2014/main" id="{7FF141EC-9C87-4F74-9169-EB3FC0F1723F}"/>
              </a:ext>
            </a:extLst>
          </p:cNvPr>
          <p:cNvSpPr>
            <a:spLocks xmlns:a="http://schemas.openxmlformats.org/drawingml/2006/main" noGrp="1"/>
          </p:cNvSpPr>
          <p:nvPr/>
        </p:nvSpPr>
        <p:spPr>
          <a:xfrm xmlns:a="http://schemas.openxmlformats.org/drawingml/2006/main">
            <a:off x="5124450" y="47529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recent saturation interaction</a:t>
            </a:r>
          </a:p>
        </p:txBody>
      </p:sp>
      <p:sp>
        <p:nvSpPr>
          <p:cNvPr id="20" name="rule">
            <a:extLst xmlns:a="http://schemas.openxmlformats.org/drawingml/2006/main">
              <a:ext uri="{FF2B5EF4-FFF2-40B4-BE49-F238E27FC236}">
                <a16:creationId xmlns:a16="http://schemas.microsoft.com/office/drawing/2014/main" id="{2EC0A88E-7A64-40F6-AFE8-8DB8D55F449D}"/>
              </a:ext>
            </a:extLst>
          </p:cNvPr>
          <p:cNvSpPr>
            <a:spLocks xmlns:a="http://schemas.openxmlformats.org/drawingml/2006/main" noGrp="1"/>
          </p:cNvSpPr>
          <p:nvPr/>
        </p:nvSpPr>
        <p:spPr>
          <a:xfrm xmlns:a="http://schemas.openxmlformats.org/drawingml/2006/main">
            <a:off x="8210550" y="3009900"/>
            <a:ext cx="9525" cy="23812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text">
            <a:extLst xmlns:a="http://schemas.openxmlformats.org/drawingml/2006/main">
              <a:ext uri="{FF2B5EF4-FFF2-40B4-BE49-F238E27FC236}">
                <a16:creationId xmlns:a16="http://schemas.microsoft.com/office/drawing/2014/main" id="{B0554DF0-207E-4F12-9434-4AD93CE06D1A}"/>
              </a:ext>
            </a:extLst>
          </p:cNvPr>
          <p:cNvSpPr>
            <a:spLocks xmlns:a="http://schemas.openxmlformats.org/drawingml/2006/main" noGrp="1"/>
          </p:cNvSpPr>
          <p:nvPr/>
        </p:nvSpPr>
        <p:spPr>
          <a:xfrm xmlns:a="http://schemas.openxmlformats.org/drawingml/2006/main">
            <a:off x="8629650" y="30480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CONTROLS + FE</a:t>
            </a:r>
          </a:p>
        </p:txBody>
      </p:sp>
      <p:sp>
        <p:nvSpPr>
          <p:cNvPr id="22" name="text">
            <a:extLst xmlns:a="http://schemas.openxmlformats.org/drawingml/2006/main">
              <a:ext uri="{FF2B5EF4-FFF2-40B4-BE49-F238E27FC236}">
                <a16:creationId xmlns:a16="http://schemas.microsoft.com/office/drawing/2014/main" id="{69DD24B2-12A4-4158-9B53-23E52431DF8F}"/>
              </a:ext>
            </a:extLst>
          </p:cNvPr>
          <p:cNvSpPr>
            <a:spLocks xmlns:a="http://schemas.openxmlformats.org/drawingml/2006/main" noGrp="1"/>
          </p:cNvSpPr>
          <p:nvPr/>
        </p:nvSpPr>
        <p:spPr>
          <a:xfrm xmlns:a="http://schemas.openxmlformats.org/drawingml/2006/main">
            <a:off x="8629650" y="3429000"/>
            <a:ext cx="266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334155"/>
                </a:solidFill>
                <a:latin typeface="Helvetica Neue"/>
                <a:ea typeface="Helvetica Neue"/>
                <a:cs typeface="Helvetica Neue"/>
              </a:defRPr>
            </a:pPr>
            <a:r>
              <a:rPr sz="1500" b="0">
                <a:solidFill>
                  <a:srgbClr val="334155"/>
                </a:solidFill>
                <a:latin typeface="Helvetica Neue"/>
                <a:ea typeface="Helvetica Neue"/>
                <a:cs typeface="Helvetica Neue"/>
              </a:rPr>
              <a:t>Loan amount</a:t>
            </a:r>
          </a:p>
          <a:p xmlns:a="http://schemas.openxmlformats.org/drawingml/2006/main">
            <a:pPr algn="l">
              <a:defRPr sz="1500" b="0">
                <a:solidFill>
                  <a:srgbClr val="334155"/>
                </a:solidFill>
                <a:latin typeface="Helvetica Neue"/>
                <a:ea typeface="Helvetica Neue"/>
                <a:cs typeface="Helvetica Neue"/>
              </a:defRPr>
            </a:pPr>
            <a:r>
              <a:rPr sz="1500" b="0">
                <a:solidFill>
                  <a:srgbClr val="334155"/>
                </a:solidFill>
                <a:latin typeface="Helvetica Neue"/>
                <a:ea typeface="Helvetica Neue"/>
                <a:cs typeface="Helvetica Neue"/>
              </a:rPr>
              <a:t>Borrower count</a:t>
            </a:r>
          </a:p>
          <a:p xmlns:a="http://schemas.openxmlformats.org/drawingml/2006/main">
            <a:pPr algn="l">
              <a:defRPr sz="1500" b="0">
                <a:solidFill>
                  <a:srgbClr val="334155"/>
                </a:solidFill>
                <a:latin typeface="Helvetica Neue"/>
                <a:ea typeface="Helvetica Neue"/>
                <a:cs typeface="Helvetica Neue"/>
              </a:defRPr>
            </a:pPr>
            <a:r>
              <a:rPr sz="1500" b="0">
                <a:solidFill>
                  <a:srgbClr val="334155"/>
                </a:solidFill>
                <a:latin typeface="Helvetica Neue"/>
                <a:ea typeface="Helvetica Neue"/>
                <a:cs typeface="Helvetica Neue"/>
              </a:rPr>
              <a:t>Repayment term</a:t>
            </a:r>
          </a:p>
          <a:p xmlns:a="http://schemas.openxmlformats.org/drawingml/2006/main">
            <a:pPr algn="l">
              <a:defRPr sz="1500" b="0">
                <a:solidFill>
                  <a:srgbClr val="334155"/>
                </a:solidFill>
                <a:latin typeface="Helvetica Neue"/>
                <a:ea typeface="Helvetica Neue"/>
                <a:cs typeface="Helvetica Neue"/>
              </a:defRPr>
            </a:pPr>
            <a:r>
              <a:rPr sz="1500" b="0">
                <a:solidFill>
                  <a:srgbClr val="334155"/>
                </a:solidFill>
                <a:latin typeface="Helvetica Neue"/>
                <a:ea typeface="Helvetica Neue"/>
                <a:cs typeface="Helvetica Neue"/>
              </a:rPr>
              <a:t>Platform 7-day volume</a:t>
            </a:r>
          </a:p>
        </p:txBody>
      </p:sp>
      <p:sp>
        <p:nvSpPr>
          <p:cNvPr id="23" name="text">
            <a:extLst xmlns:a="http://schemas.openxmlformats.org/drawingml/2006/main">
              <a:ext uri="{FF2B5EF4-FFF2-40B4-BE49-F238E27FC236}">
                <a16:creationId xmlns:a16="http://schemas.microsoft.com/office/drawing/2014/main" id="{1CA6CA75-4F97-422A-B6F3-E296689C7931}"/>
              </a:ext>
            </a:extLst>
          </p:cNvPr>
          <p:cNvSpPr>
            <a:spLocks xmlns:a="http://schemas.openxmlformats.org/drawingml/2006/main" noGrp="1"/>
          </p:cNvSpPr>
          <p:nvPr/>
        </p:nvSpPr>
        <p:spPr>
          <a:xfrm xmlns:a="http://schemas.openxmlformats.org/drawingml/2006/main">
            <a:off x="8629650" y="4857750"/>
            <a:ext cx="276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Country · activity · week</a:t>
            </a:r>
          </a:p>
        </p:txBody>
      </p:sp>
      <p:sp>
        <p:nvSpPr>
          <p:cNvPr id="24" name="rule">
            <a:extLst xmlns:a="http://schemas.openxmlformats.org/drawingml/2006/main">
              <a:ext uri="{FF2B5EF4-FFF2-40B4-BE49-F238E27FC236}">
                <a16:creationId xmlns:a16="http://schemas.microsoft.com/office/drawing/2014/main" id="{84F76811-E704-4D37-84AD-93C48CB95957}"/>
              </a:ext>
            </a:extLst>
          </p:cNvPr>
          <p:cNvSpPr>
            <a:spLocks xmlns:a="http://schemas.openxmlformats.org/drawingml/2006/main" noGrp="1"/>
          </p:cNvSpPr>
          <p:nvPr/>
        </p:nvSpPr>
        <p:spPr>
          <a:xfrm xmlns:a="http://schemas.openxmlformats.org/drawingml/2006/main">
            <a:off x="400050" y="643890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5" name="source-footer">
            <a:extLst xmlns:a="http://schemas.openxmlformats.org/drawingml/2006/main">
              <a:ext uri="{FF2B5EF4-FFF2-40B4-BE49-F238E27FC236}">
                <a16:creationId xmlns:a16="http://schemas.microsoft.com/office/drawing/2014/main" id="{5211A299-1990-4352-9417-1631FF033A7A}"/>
              </a:ext>
            </a:extLst>
          </p:cNvPr>
          <p:cNvSpPr>
            <a:spLocks xmlns:a="http://schemas.openxmlformats.org/drawingml/2006/main" noGrp="1"/>
          </p:cNvSpPr>
          <p:nvPr/>
        </p:nvSpPr>
        <p:spPr>
          <a:xfrm xmlns:a="http://schemas.openxmlformats.org/drawingml/2006/main">
            <a:off x="400050" y="651510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l">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Source: src/fit_main_models.py; outputs/frozen_spec.csv</a:t>
            </a:r>
          </a:p>
        </p:txBody>
      </p:sp>
      <p:sp>
        <p:nvSpPr>
          <p:cNvPr id="26" name="team-footer">
            <a:extLst xmlns:a="http://schemas.openxmlformats.org/drawingml/2006/main">
              <a:ext uri="{FF2B5EF4-FFF2-40B4-BE49-F238E27FC236}">
                <a16:creationId xmlns:a16="http://schemas.microsoft.com/office/drawing/2014/main" id="{2DA5491C-C7BD-46D3-8CC4-B8C3C2FC7DEC}"/>
              </a:ext>
            </a:extLst>
          </p:cNvPr>
          <p:cNvSpPr>
            <a:spLocks xmlns:a="http://schemas.openxmlformats.org/drawingml/2006/main" noGrp="1"/>
          </p:cNvSpPr>
          <p:nvPr/>
        </p:nvSpPr>
        <p:spPr>
          <a:xfrm xmlns:a="http://schemas.openxmlformats.org/drawingml/2006/main">
            <a:off x="10325100" y="651510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r">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5 GUYS · 13</a:t>
            </a:r>
          </a:p>
        </p:txBody>
      </p:sp>
    </p:spTree>
    <p:extLst>
      <p:ext uri="{BB962C8B-B14F-4D97-AF65-F5344CB8AC3E}">
        <p14:creationId xmlns:p14="http://schemas.microsoft.com/office/powerpoint/2010/main" val="174155323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206fcf3fefa4b59"/>
          <a:stretch xmlns:a="http://schemas.openxmlformats.org/drawingml/2006/main"/>
        </p:blipFill>
        <p:spPr>
          <a:xfrm xmlns:a="http://schemas.openxmlformats.org/drawingml/2006/main">
            <a:off x="249934" y="209550"/>
            <a:ext cx="11692133" cy="5686425"/>
          </a:xfrm>
          <a:prstGeom xmlns:a="http://schemas.openxmlformats.org/drawingml/2006/main" prst="rect">
            <a:avLst/>
          </a:prstGeom>
        </p:spPr>
      </p:pic>
      <p:sp>
        <p:nvSpPr>
          <p:cNvPr id="2" name="hetero-boundary">
            <a:extLst xmlns:a="http://schemas.openxmlformats.org/drawingml/2006/main">
              <a:ext uri="{FF2B5EF4-FFF2-40B4-BE49-F238E27FC236}">
                <a16:creationId xmlns:a16="http://schemas.microsoft.com/office/drawing/2014/main" id="{EF4F6387-C14C-49CC-88FF-94DAC6F9A0B6}"/>
              </a:ext>
            </a:extLst>
          </p:cNvPr>
          <p:cNvSpPr>
            <a:spLocks xmlns:a="http://schemas.openxmlformats.org/drawingml/2006/main" noGrp="1"/>
          </p:cNvSpPr>
          <p:nvPr/>
        </p:nvSpPr>
        <p:spPr>
          <a:xfrm xmlns:a="http://schemas.openxmlformats.org/drawingml/2006/main">
            <a:off x="1485900" y="5772150"/>
            <a:ext cx="9220200" cy="43815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3" name="text">
            <a:extLst xmlns:a="http://schemas.openxmlformats.org/drawingml/2006/main">
              <a:ext uri="{FF2B5EF4-FFF2-40B4-BE49-F238E27FC236}">
                <a16:creationId xmlns:a16="http://schemas.microsoft.com/office/drawing/2014/main" id="{F40AA148-6BBC-461E-8A40-DCF2D3DD2BB8}"/>
              </a:ext>
            </a:extLst>
          </p:cNvPr>
          <p:cNvSpPr>
            <a:spLocks xmlns:a="http://schemas.openxmlformats.org/drawingml/2006/main" noGrp="1"/>
          </p:cNvSpPr>
          <p:nvPr/>
        </p:nvSpPr>
        <p:spPr>
          <a:xfrm xmlns:a="http://schemas.openxmlformats.org/drawingml/2006/main">
            <a:off x="1714500" y="58864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ctr">
              <a:defRPr sz="1200" b="1">
                <a:solidFill>
                  <a:srgbClr val="F0655B"/>
                </a:solidFill>
                <a:latin typeface="Helvetica Neue"/>
                <a:ea typeface="Helvetica Neue"/>
                <a:cs typeface="Helvetica Neue"/>
              </a:defRPr>
            </a:pPr>
            <a:r>
              <a:rPr sz="1200" b="1">
                <a:solidFill>
                  <a:srgbClr val="F0655B"/>
                </a:solidFill>
                <a:latin typeface="Helvetica Neue"/>
                <a:ea typeface="Helvetica Neue"/>
                <a:cs typeface="Helvetica Neue"/>
              </a:rPr>
              <a:t>DESCRIPTIVE HETEROGENEITY · NOT A TARGETING RULE</a:t>
            </a:r>
          </a:p>
        </p:txBody>
      </p:sp>
      <p:sp>
        <p:nvSpPr>
          <p:cNvPr id="4" name="rule">
            <a:extLst xmlns:a="http://schemas.openxmlformats.org/drawingml/2006/main">
              <a:ext uri="{FF2B5EF4-FFF2-40B4-BE49-F238E27FC236}">
                <a16:creationId xmlns:a16="http://schemas.microsoft.com/office/drawing/2014/main" id="{698C1513-8DE9-473F-A9C2-42FABF02426E}"/>
              </a:ext>
            </a:extLst>
          </p:cNvPr>
          <p:cNvSpPr>
            <a:spLocks xmlns:a="http://schemas.openxmlformats.org/drawingml/2006/main" noGrp="1"/>
          </p:cNvSpPr>
          <p:nvPr/>
        </p:nvSpPr>
        <p:spPr>
          <a:xfrm xmlns:a="http://schemas.openxmlformats.org/drawingml/2006/main">
            <a:off x="400050" y="643890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source-footer">
            <a:extLst xmlns:a="http://schemas.openxmlformats.org/drawingml/2006/main">
              <a:ext uri="{FF2B5EF4-FFF2-40B4-BE49-F238E27FC236}">
                <a16:creationId xmlns:a16="http://schemas.microsoft.com/office/drawing/2014/main" id="{9B4214EB-B6F9-4B6D-A6BB-A0A70C17746F}"/>
              </a:ext>
            </a:extLst>
          </p:cNvPr>
          <p:cNvSpPr>
            <a:spLocks xmlns:a="http://schemas.openxmlformats.org/drawingml/2006/main" noGrp="1"/>
          </p:cNvSpPr>
          <p:nvPr/>
        </p:nvSpPr>
        <p:spPr>
          <a:xfrm xmlns:a="http://schemas.openxmlformats.org/drawingml/2006/main">
            <a:off x="400050" y="651510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l">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Source: outputs/rq3_year_effects.csv; outputs/rq3_global_tests.csv</a:t>
            </a:r>
          </a:p>
        </p:txBody>
      </p:sp>
      <p:sp>
        <p:nvSpPr>
          <p:cNvPr id="6" name="team-footer">
            <a:extLst xmlns:a="http://schemas.openxmlformats.org/drawingml/2006/main">
              <a:ext uri="{FF2B5EF4-FFF2-40B4-BE49-F238E27FC236}">
                <a16:creationId xmlns:a16="http://schemas.microsoft.com/office/drawing/2014/main" id="{F981A60F-2F24-44F4-A322-6140A7DEC288}"/>
              </a:ext>
            </a:extLst>
          </p:cNvPr>
          <p:cNvSpPr>
            <a:spLocks xmlns:a="http://schemas.openxmlformats.org/drawingml/2006/main" noGrp="1"/>
          </p:cNvSpPr>
          <p:nvPr/>
        </p:nvSpPr>
        <p:spPr>
          <a:xfrm xmlns:a="http://schemas.openxmlformats.org/drawingml/2006/main">
            <a:off x="10325100" y="651510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r">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5 GUYS · 14</a:t>
            </a:r>
          </a:p>
        </p:txBody>
      </p:sp>
    </p:spTree>
    <p:extLst>
      <p:ext uri="{BB962C8B-B14F-4D97-AF65-F5344CB8AC3E}">
        <p14:creationId xmlns:p14="http://schemas.microsoft.com/office/powerpoint/2010/main" val="129941744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CB37853B-51E0-4E7D-97D6-30AA82BD456D}"/>
              </a:ext>
            </a:extLst>
          </p:cNvPr>
          <p:cNvSpPr>
            <a:spLocks xmlns:a="http://schemas.openxmlformats.org/drawingml/2006/main" noGrp="1"/>
          </p:cNvSpPr>
          <p:nvPr/>
        </p:nvSpPr>
        <p:spPr>
          <a:xfrm xmlns:a="http://schemas.openxmlformats.org/drawingml/2006/main">
            <a:off x="400050" y="2286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APPENDIX · DEPLOYMENT BOUNDARY</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6b1eb85a3964cb0"/>
          <a:stretch xmlns:a="http://schemas.openxmlformats.org/drawingml/2006/main"/>
        </p:blipFill>
        <p:spPr>
          <a:xfrm xmlns:a="http://schemas.openxmlformats.org/drawingml/2006/main">
            <a:off x="400050" y="611587"/>
            <a:ext cx="4686300" cy="4758525"/>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c2920f8f9b046e8"/>
          <a:stretch xmlns:a="http://schemas.openxmlformats.org/drawingml/2006/main"/>
        </p:blipFill>
        <p:spPr>
          <a:xfrm xmlns:a="http://schemas.openxmlformats.org/drawingml/2006/main">
            <a:off x="5276850" y="723946"/>
            <a:ext cx="6515100" cy="4533808"/>
          </a:xfrm>
          <a:prstGeom xmlns:a="http://schemas.openxmlformats.org/drawingml/2006/main" prst="rect">
            <a:avLst/>
          </a:prstGeom>
        </p:spPr>
      </p:pic>
      <p:sp>
        <p:nvSpPr>
          <p:cNvPr id="4" name="calibration-close">
            <a:extLst xmlns:a="http://schemas.openxmlformats.org/drawingml/2006/main">
              <a:ext uri="{FF2B5EF4-FFF2-40B4-BE49-F238E27FC236}">
                <a16:creationId xmlns:a16="http://schemas.microsoft.com/office/drawing/2014/main" id="{1BE9CFBB-FE63-4A80-B1C5-09C0BAFF1BFC}"/>
              </a:ext>
            </a:extLst>
          </p:cNvPr>
          <p:cNvSpPr>
            <a:spLocks xmlns:a="http://schemas.openxmlformats.org/drawingml/2006/main" noGrp="1"/>
          </p:cNvSpPr>
          <p:nvPr/>
        </p:nvSpPr>
        <p:spPr>
          <a:xfrm xmlns:a="http://schemas.openxmlformats.org/drawingml/2006/main">
            <a:off x="400050" y="5524500"/>
            <a:ext cx="11391900" cy="6858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5" name="text">
            <a:extLst xmlns:a="http://schemas.openxmlformats.org/drawingml/2006/main">
              <a:ext uri="{FF2B5EF4-FFF2-40B4-BE49-F238E27FC236}">
                <a16:creationId xmlns:a16="http://schemas.microsoft.com/office/drawing/2014/main" id="{78871DA1-3A96-4BD2-896A-ADCF09F68AAD}"/>
              </a:ext>
            </a:extLst>
          </p:cNvPr>
          <p:cNvSpPr>
            <a:spLocks xmlns:a="http://schemas.openxmlformats.org/drawingml/2006/main" noGrp="1"/>
          </p:cNvSpPr>
          <p:nvPr/>
        </p:nvSpPr>
        <p:spPr>
          <a:xfrm xmlns:a="http://schemas.openxmlformats.org/drawingml/2006/main">
            <a:off x="666750" y="571500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ctr">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Imperfect calibration + no consistent incremental lift = experiment triage only</a:t>
            </a:r>
          </a:p>
        </p:txBody>
      </p:sp>
      <p:sp>
        <p:nvSpPr>
          <p:cNvPr id="6" name="rule">
            <a:extLst xmlns:a="http://schemas.openxmlformats.org/drawingml/2006/main">
              <a:ext uri="{FF2B5EF4-FFF2-40B4-BE49-F238E27FC236}">
                <a16:creationId xmlns:a16="http://schemas.microsoft.com/office/drawing/2014/main" id="{92FCE41C-5848-4A78-A077-F56713DB1324}"/>
              </a:ext>
            </a:extLst>
          </p:cNvPr>
          <p:cNvSpPr>
            <a:spLocks xmlns:a="http://schemas.openxmlformats.org/drawingml/2006/main" noGrp="1"/>
          </p:cNvSpPr>
          <p:nvPr/>
        </p:nvSpPr>
        <p:spPr>
          <a:xfrm xmlns:a="http://schemas.openxmlformats.org/drawingml/2006/main">
            <a:off x="400050" y="643890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7" name="source-footer">
            <a:extLst xmlns:a="http://schemas.openxmlformats.org/drawingml/2006/main">
              <a:ext uri="{FF2B5EF4-FFF2-40B4-BE49-F238E27FC236}">
                <a16:creationId xmlns:a16="http://schemas.microsoft.com/office/drawing/2014/main" id="{65096E75-4EB1-459C-903F-458CBE3B6487}"/>
              </a:ext>
            </a:extLst>
          </p:cNvPr>
          <p:cNvSpPr>
            <a:spLocks xmlns:a="http://schemas.openxmlformats.org/drawingml/2006/main" noGrp="1"/>
          </p:cNvSpPr>
          <p:nvPr/>
        </p:nvSpPr>
        <p:spPr>
          <a:xfrm xmlns:a="http://schemas.openxmlformats.org/drawingml/2006/main">
            <a:off x="400050" y="651510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l">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Sources: outputs/holdout_calibration.csv; outputs/fairness_diagnostics.csv</a:t>
            </a:r>
          </a:p>
        </p:txBody>
      </p:sp>
      <p:sp>
        <p:nvSpPr>
          <p:cNvPr id="8" name="team-footer">
            <a:extLst xmlns:a="http://schemas.openxmlformats.org/drawingml/2006/main">
              <a:ext uri="{FF2B5EF4-FFF2-40B4-BE49-F238E27FC236}">
                <a16:creationId xmlns:a16="http://schemas.microsoft.com/office/drawing/2014/main" id="{633F4D70-39B3-4E17-A9DD-DF8104D0DAE6}"/>
              </a:ext>
            </a:extLst>
          </p:cNvPr>
          <p:cNvSpPr>
            <a:spLocks xmlns:a="http://schemas.openxmlformats.org/drawingml/2006/main" noGrp="1"/>
          </p:cNvSpPr>
          <p:nvPr/>
        </p:nvSpPr>
        <p:spPr>
          <a:xfrm xmlns:a="http://schemas.openxmlformats.org/drawingml/2006/main">
            <a:off x="10325100" y="651510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r">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5 GUYS · 15</a:t>
            </a:r>
          </a:p>
        </p:txBody>
      </p:sp>
    </p:spTree>
    <p:extLst>
      <p:ext uri="{BB962C8B-B14F-4D97-AF65-F5344CB8AC3E}">
        <p14:creationId xmlns:p14="http://schemas.microsoft.com/office/powerpoint/2010/main" val="177959206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section-label">
            <a:extLst xmlns:a="http://schemas.openxmlformats.org/drawingml/2006/main">
              <a:ext uri="{FF2B5EF4-FFF2-40B4-BE49-F238E27FC236}">
                <a16:creationId xmlns:a16="http://schemas.microsoft.com/office/drawing/2014/main" id="{CF73BA89-2CF5-4137-9DDF-CA89044E9386}"/>
              </a:ext>
            </a:extLst>
          </p:cNvPr>
          <p:cNvSpPr>
            <a:spLocks xmlns:a="http://schemas.openxmlformats.org/drawingml/2006/main" noGrp="1"/>
          </p:cNvSpPr>
          <p:nvPr/>
        </p:nvSpPr>
        <p:spPr>
          <a:xfrm xmlns:a="http://schemas.openxmlformats.org/drawingml/2006/main">
            <a:off x="400050" y="2667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APPENDIX · AUDIT</a:t>
            </a:r>
          </a:p>
        </p:txBody>
      </p:sp>
      <p:sp>
        <p:nvSpPr>
          <p:cNvPr id="2" name="slide-title">
            <a:extLst xmlns:a="http://schemas.openxmlformats.org/drawingml/2006/main">
              <a:ext uri="{FF2B5EF4-FFF2-40B4-BE49-F238E27FC236}">
                <a16:creationId xmlns:a16="http://schemas.microsoft.com/office/drawing/2014/main" id="{B5180A50-C2DE-4B40-B7F4-999581A5C1ED}"/>
              </a:ext>
            </a:extLst>
          </p:cNvPr>
          <p:cNvSpPr>
            <a:spLocks xmlns:a="http://schemas.openxmlformats.org/drawingml/2006/main" noGrp="1"/>
          </p:cNvSpPr>
          <p:nvPr/>
        </p:nvSpPr>
        <p:spPr>
          <a:xfrm xmlns:a="http://schemas.openxmlformats.org/drawingml/2006/main">
            <a:off x="400050" y="59055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Every headline claim has an explicit evidence gate</a:t>
            </a:r>
          </a:p>
        </p:txBody>
      </p:sp>
      <p:sp>
        <p:nvSpPr>
          <p:cNvPr id="3" name="page-number">
            <a:extLst xmlns:a="http://schemas.openxmlformats.org/drawingml/2006/main">
              <a:ext uri="{FF2B5EF4-FFF2-40B4-BE49-F238E27FC236}">
                <a16:creationId xmlns:a16="http://schemas.microsoft.com/office/drawing/2014/main" id="{D165EC27-2568-48EB-BE13-BB616A95BDC1}"/>
              </a:ext>
            </a:extLst>
          </p:cNvPr>
          <p:cNvSpPr>
            <a:spLocks xmlns:a="http://schemas.openxmlformats.org/drawingml/2006/main" noGrp="1"/>
          </p:cNvSpPr>
          <p:nvPr/>
        </p:nvSpPr>
        <p:spPr>
          <a:xfrm xmlns:a="http://schemas.openxmlformats.org/drawingml/2006/main">
            <a:off x="11277600" y="2667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16</a:t>
            </a:r>
          </a:p>
        </p:txBody>
      </p:sp>
      <p:sp>
        <p:nvSpPr>
          <p:cNvPr id="4" name="text">
            <a:extLst xmlns:a="http://schemas.openxmlformats.org/drawingml/2006/main">
              <a:ext uri="{FF2B5EF4-FFF2-40B4-BE49-F238E27FC236}">
                <a16:creationId xmlns:a16="http://schemas.microsoft.com/office/drawing/2014/main" id="{7EE4743B-2242-4ED6-A5B9-3F6878EF388A}"/>
              </a:ext>
            </a:extLst>
          </p:cNvPr>
          <p:cNvSpPr>
            <a:spLocks xmlns:a="http://schemas.openxmlformats.org/drawingml/2006/main" noGrp="1"/>
          </p:cNvSpPr>
          <p:nvPr/>
        </p:nvSpPr>
        <p:spPr>
          <a:xfrm xmlns:a="http://schemas.openxmlformats.org/drawingml/2006/main">
            <a:off x="400050" y="14287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STAGE</a:t>
            </a:r>
          </a:p>
        </p:txBody>
      </p:sp>
      <p:sp>
        <p:nvSpPr>
          <p:cNvPr id="5" name="text">
            <a:extLst xmlns:a="http://schemas.openxmlformats.org/drawingml/2006/main">
              <a:ext uri="{FF2B5EF4-FFF2-40B4-BE49-F238E27FC236}">
                <a16:creationId xmlns:a16="http://schemas.microsoft.com/office/drawing/2014/main" id="{1A849D4D-8C2C-445E-B4E3-E3C428634E29}"/>
              </a:ext>
            </a:extLst>
          </p:cNvPr>
          <p:cNvSpPr>
            <a:spLocks xmlns:a="http://schemas.openxmlformats.org/drawingml/2006/main" noGrp="1"/>
          </p:cNvSpPr>
          <p:nvPr/>
        </p:nvSpPr>
        <p:spPr>
          <a:xfrm xmlns:a="http://schemas.openxmlformats.org/drawingml/2006/main">
            <a:off x="2571750" y="142875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GATE</a:t>
            </a:r>
          </a:p>
        </p:txBody>
      </p:sp>
      <p:sp>
        <p:nvSpPr>
          <p:cNvPr id="6" name="text">
            <a:extLst xmlns:a="http://schemas.openxmlformats.org/drawingml/2006/main">
              <a:ext uri="{FF2B5EF4-FFF2-40B4-BE49-F238E27FC236}">
                <a16:creationId xmlns:a16="http://schemas.microsoft.com/office/drawing/2014/main" id="{81555D6B-DBCB-426B-A8BB-3CF578394A90}"/>
              </a:ext>
            </a:extLst>
          </p:cNvPr>
          <p:cNvSpPr>
            <a:spLocks xmlns:a="http://schemas.openxmlformats.org/drawingml/2006/main" noGrp="1"/>
          </p:cNvSpPr>
          <p:nvPr/>
        </p:nvSpPr>
        <p:spPr>
          <a:xfrm xmlns:a="http://schemas.openxmlformats.org/drawingml/2006/main">
            <a:off x="5905500" y="1428750"/>
            <a:ext cx="1543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STATUS</a:t>
            </a:r>
          </a:p>
        </p:txBody>
      </p:sp>
      <p:sp>
        <p:nvSpPr>
          <p:cNvPr id="7" name="text">
            <a:extLst xmlns:a="http://schemas.openxmlformats.org/drawingml/2006/main">
              <a:ext uri="{FF2B5EF4-FFF2-40B4-BE49-F238E27FC236}">
                <a16:creationId xmlns:a16="http://schemas.microsoft.com/office/drawing/2014/main" id="{E04BFA76-9FDE-4980-BC9E-5F07F0A45312}"/>
              </a:ext>
            </a:extLst>
          </p:cNvPr>
          <p:cNvSpPr>
            <a:spLocks xmlns:a="http://schemas.openxmlformats.org/drawingml/2006/main" noGrp="1"/>
          </p:cNvSpPr>
          <p:nvPr/>
        </p:nvSpPr>
        <p:spPr>
          <a:xfrm xmlns:a="http://schemas.openxmlformats.org/drawingml/2006/main">
            <a:off x="7448550" y="1428750"/>
            <a:ext cx="434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EVIDENCE</a:t>
            </a:r>
          </a:p>
        </p:txBody>
      </p:sp>
      <p:sp>
        <p:nvSpPr>
          <p:cNvPr id="8" name="audit-row-0">
            <a:extLst xmlns:a="http://schemas.openxmlformats.org/drawingml/2006/main">
              <a:ext uri="{FF2B5EF4-FFF2-40B4-BE49-F238E27FC236}">
                <a16:creationId xmlns:a16="http://schemas.microsoft.com/office/drawing/2014/main" id="{6CA86AEC-55AF-4524-94CE-049410E07BC5}"/>
              </a:ext>
            </a:extLst>
          </p:cNvPr>
          <p:cNvSpPr>
            <a:spLocks xmlns:a="http://schemas.openxmlformats.org/drawingml/2006/main" noGrp="1"/>
          </p:cNvSpPr>
          <p:nvPr/>
        </p:nvSpPr>
        <p:spPr>
          <a:xfrm xmlns:a="http://schemas.openxmlformats.org/drawingml/2006/main">
            <a:off x="400050" y="1638300"/>
            <a:ext cx="11391900" cy="4953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9" name="text">
            <a:extLst xmlns:a="http://schemas.openxmlformats.org/drawingml/2006/main">
              <a:ext uri="{FF2B5EF4-FFF2-40B4-BE49-F238E27FC236}">
                <a16:creationId xmlns:a16="http://schemas.microsoft.com/office/drawing/2014/main" id="{341FBD33-5348-4414-9122-4F3483ECEA2E}"/>
              </a:ext>
            </a:extLst>
          </p:cNvPr>
          <p:cNvSpPr>
            <a:spLocks xmlns:a="http://schemas.openxmlformats.org/drawingml/2006/main" noGrp="1"/>
          </p:cNvSpPr>
          <p:nvPr/>
        </p:nvSpPr>
        <p:spPr>
          <a:xfrm xmlns:a="http://schemas.openxmlformats.org/drawingml/2006/main">
            <a:off x="514350" y="1733550"/>
            <a:ext cx="1943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Source intake</a:t>
            </a:r>
          </a:p>
        </p:txBody>
      </p:sp>
      <p:sp>
        <p:nvSpPr>
          <p:cNvPr id="10" name="text">
            <a:extLst xmlns:a="http://schemas.openxmlformats.org/drawingml/2006/main">
              <a:ext uri="{FF2B5EF4-FFF2-40B4-BE49-F238E27FC236}">
                <a16:creationId xmlns:a16="http://schemas.microsoft.com/office/drawing/2014/main" id="{EF14F242-1295-461D-81A4-6CA84B4DB751}"/>
              </a:ext>
            </a:extLst>
          </p:cNvPr>
          <p:cNvSpPr>
            <a:spLocks xmlns:a="http://schemas.openxmlformats.org/drawingml/2006/main" noGrp="1"/>
          </p:cNvSpPr>
          <p:nvPr/>
        </p:nvSpPr>
        <p:spPr>
          <a:xfrm xmlns:a="http://schemas.openxmlformats.org/drawingml/2006/main">
            <a:off x="2686050" y="1733550"/>
            <a:ext cx="3105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Restricted opcode audit</a:t>
            </a:r>
          </a:p>
        </p:txBody>
      </p:sp>
      <p:sp>
        <p:nvSpPr>
          <p:cNvPr id="11" name="text">
            <a:extLst xmlns:a="http://schemas.openxmlformats.org/drawingml/2006/main">
              <a:ext uri="{FF2B5EF4-FFF2-40B4-BE49-F238E27FC236}">
                <a16:creationId xmlns:a16="http://schemas.microsoft.com/office/drawing/2014/main" id="{BA7F22A0-79AD-4407-81E7-955F05EB1AAF}"/>
              </a:ext>
            </a:extLst>
          </p:cNvPr>
          <p:cNvSpPr>
            <a:spLocks xmlns:a="http://schemas.openxmlformats.org/drawingml/2006/main" noGrp="1"/>
          </p:cNvSpPr>
          <p:nvPr/>
        </p:nvSpPr>
        <p:spPr>
          <a:xfrm xmlns:a="http://schemas.openxmlformats.org/drawingml/2006/main">
            <a:off x="6019800" y="1733550"/>
            <a:ext cx="1314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10A7A0"/>
                </a:solidFill>
                <a:latin typeface="Helvetica Neue"/>
                <a:ea typeface="Helvetica Neue"/>
                <a:cs typeface="Helvetica Neue"/>
              </a:defRPr>
            </a:pPr>
            <a:r>
              <a:rPr sz="1200" b="1">
                <a:solidFill>
                  <a:srgbClr val="10A7A0"/>
                </a:solidFill>
                <a:latin typeface="Helvetica Neue"/>
                <a:ea typeface="Helvetica Neue"/>
                <a:cs typeface="Helvetica Neue"/>
              </a:rPr>
              <a:t>PASS</a:t>
            </a:r>
          </a:p>
        </p:txBody>
      </p:sp>
      <p:sp>
        <p:nvSpPr>
          <p:cNvPr id="12" name="text">
            <a:extLst xmlns:a="http://schemas.openxmlformats.org/drawingml/2006/main">
              <a:ext uri="{FF2B5EF4-FFF2-40B4-BE49-F238E27FC236}">
                <a16:creationId xmlns:a16="http://schemas.microsoft.com/office/drawing/2014/main" id="{B4D723A3-0DA5-44CB-B513-E7C4B8F677F8}"/>
              </a:ext>
            </a:extLst>
          </p:cNvPr>
          <p:cNvSpPr>
            <a:spLocks xmlns:a="http://schemas.openxmlformats.org/drawingml/2006/main" noGrp="1"/>
          </p:cNvSpPr>
          <p:nvPr/>
        </p:nvSpPr>
        <p:spPr>
          <a:xfrm xmlns:a="http://schemas.openxmlformats.org/drawingml/2006/main">
            <a:off x="7562850" y="1733550"/>
            <a:ext cx="4114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0 dangerous opcodes</a:t>
            </a:r>
          </a:p>
        </p:txBody>
      </p:sp>
      <p:sp>
        <p:nvSpPr>
          <p:cNvPr id="13" name="text">
            <a:extLst xmlns:a="http://schemas.openxmlformats.org/drawingml/2006/main">
              <a:ext uri="{FF2B5EF4-FFF2-40B4-BE49-F238E27FC236}">
                <a16:creationId xmlns:a16="http://schemas.microsoft.com/office/drawing/2014/main" id="{F8079E89-819A-411C-AE73-6617AFC84A17}"/>
              </a:ext>
            </a:extLst>
          </p:cNvPr>
          <p:cNvSpPr>
            <a:spLocks xmlns:a="http://schemas.openxmlformats.org/drawingml/2006/main" noGrp="1"/>
          </p:cNvSpPr>
          <p:nvPr/>
        </p:nvSpPr>
        <p:spPr>
          <a:xfrm xmlns:a="http://schemas.openxmlformats.org/drawingml/2006/main">
            <a:off x="514350" y="2305050"/>
            <a:ext cx="1943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Text leakage</a:t>
            </a:r>
          </a:p>
        </p:txBody>
      </p:sp>
      <p:sp>
        <p:nvSpPr>
          <p:cNvPr id="14" name="text">
            <a:extLst xmlns:a="http://schemas.openxmlformats.org/drawingml/2006/main">
              <a:ext uri="{FF2B5EF4-FFF2-40B4-BE49-F238E27FC236}">
                <a16:creationId xmlns:a16="http://schemas.microsoft.com/office/drawing/2014/main" id="{7D61E967-4403-4200-94D7-78D2002331A7}"/>
              </a:ext>
            </a:extLst>
          </p:cNvPr>
          <p:cNvSpPr>
            <a:spLocks xmlns:a="http://schemas.openxmlformats.org/drawingml/2006/main" noGrp="1"/>
          </p:cNvSpPr>
          <p:nvPr/>
        </p:nvSpPr>
        <p:spPr>
          <a:xfrm xmlns:a="http://schemas.openxmlformats.org/drawingml/2006/main">
            <a:off x="2686050" y="2305050"/>
            <a:ext cx="3105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Train-only IDF + scaler</a:t>
            </a:r>
          </a:p>
        </p:txBody>
      </p:sp>
      <p:sp>
        <p:nvSpPr>
          <p:cNvPr id="15" name="text">
            <a:extLst xmlns:a="http://schemas.openxmlformats.org/drawingml/2006/main">
              <a:ext uri="{FF2B5EF4-FFF2-40B4-BE49-F238E27FC236}">
                <a16:creationId xmlns:a16="http://schemas.microsoft.com/office/drawing/2014/main" id="{9A25757D-20ED-4CB0-95DD-7C8008B7DFC2}"/>
              </a:ext>
            </a:extLst>
          </p:cNvPr>
          <p:cNvSpPr>
            <a:spLocks xmlns:a="http://schemas.openxmlformats.org/drawingml/2006/main" noGrp="1"/>
          </p:cNvSpPr>
          <p:nvPr/>
        </p:nvSpPr>
        <p:spPr>
          <a:xfrm xmlns:a="http://schemas.openxmlformats.org/drawingml/2006/main">
            <a:off x="6019800" y="2305050"/>
            <a:ext cx="1314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10A7A0"/>
                </a:solidFill>
                <a:latin typeface="Helvetica Neue"/>
                <a:ea typeface="Helvetica Neue"/>
                <a:cs typeface="Helvetica Neue"/>
              </a:defRPr>
            </a:pPr>
            <a:r>
              <a:rPr sz="1200" b="1">
                <a:solidFill>
                  <a:srgbClr val="10A7A0"/>
                </a:solidFill>
                <a:latin typeface="Helvetica Neue"/>
                <a:ea typeface="Helvetica Neue"/>
                <a:cs typeface="Helvetica Neue"/>
              </a:rPr>
              <a:t>PASS</a:t>
            </a:r>
          </a:p>
        </p:txBody>
      </p:sp>
      <p:sp>
        <p:nvSpPr>
          <p:cNvPr id="16" name="text">
            <a:extLst xmlns:a="http://schemas.openxmlformats.org/drawingml/2006/main">
              <a:ext uri="{FF2B5EF4-FFF2-40B4-BE49-F238E27FC236}">
                <a16:creationId xmlns:a16="http://schemas.microsoft.com/office/drawing/2014/main" id="{AB29A1B3-F416-4B2E-A3D1-2ACD99AAE6E3}"/>
              </a:ext>
            </a:extLst>
          </p:cNvPr>
          <p:cNvSpPr>
            <a:spLocks xmlns:a="http://schemas.openxmlformats.org/drawingml/2006/main" noGrp="1"/>
          </p:cNvSpPr>
          <p:nvPr/>
        </p:nvSpPr>
        <p:spPr>
          <a:xfrm xmlns:a="http://schemas.openxmlformats.org/drawingml/2006/main">
            <a:off x="7562850" y="2305050"/>
            <a:ext cx="4114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2016–24 fit; fixed on 2025</a:t>
            </a:r>
          </a:p>
        </p:txBody>
      </p:sp>
      <p:sp>
        <p:nvSpPr>
          <p:cNvPr id="17" name="audit-row-2">
            <a:extLst xmlns:a="http://schemas.openxmlformats.org/drawingml/2006/main">
              <a:ext uri="{FF2B5EF4-FFF2-40B4-BE49-F238E27FC236}">
                <a16:creationId xmlns:a16="http://schemas.microsoft.com/office/drawing/2014/main" id="{B8C3E749-9ECB-4D36-84BF-715BC7F5CC43}"/>
              </a:ext>
            </a:extLst>
          </p:cNvPr>
          <p:cNvSpPr>
            <a:spLocks xmlns:a="http://schemas.openxmlformats.org/drawingml/2006/main" noGrp="1"/>
          </p:cNvSpPr>
          <p:nvPr/>
        </p:nvSpPr>
        <p:spPr>
          <a:xfrm xmlns:a="http://schemas.openxmlformats.org/drawingml/2006/main">
            <a:off x="400050" y="2781300"/>
            <a:ext cx="11391900" cy="4953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8" name="text">
            <a:extLst xmlns:a="http://schemas.openxmlformats.org/drawingml/2006/main">
              <a:ext uri="{FF2B5EF4-FFF2-40B4-BE49-F238E27FC236}">
                <a16:creationId xmlns:a16="http://schemas.microsoft.com/office/drawing/2014/main" id="{B26E1151-C7B6-4F52-9E54-2E90D5BE325A}"/>
              </a:ext>
            </a:extLst>
          </p:cNvPr>
          <p:cNvSpPr>
            <a:spLocks xmlns:a="http://schemas.openxmlformats.org/drawingml/2006/main" noGrp="1"/>
          </p:cNvSpPr>
          <p:nvPr/>
        </p:nvSpPr>
        <p:spPr>
          <a:xfrm xmlns:a="http://schemas.openxmlformats.org/drawingml/2006/main">
            <a:off x="514350" y="2876550"/>
            <a:ext cx="1943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Pool algebra</a:t>
            </a:r>
          </a:p>
        </p:txBody>
      </p:sp>
      <p:sp>
        <p:nvSpPr>
          <p:cNvPr id="19" name="text">
            <a:extLst xmlns:a="http://schemas.openxmlformats.org/drawingml/2006/main">
              <a:ext uri="{FF2B5EF4-FFF2-40B4-BE49-F238E27FC236}">
                <a16:creationId xmlns:a16="http://schemas.microsoft.com/office/drawing/2014/main" id="{F52DD84C-F26B-4707-83A2-FAEFA3E1D92C}"/>
              </a:ext>
            </a:extLst>
          </p:cNvPr>
          <p:cNvSpPr>
            <a:spLocks xmlns:a="http://schemas.openxmlformats.org/drawingml/2006/main" noGrp="1"/>
          </p:cNvSpPr>
          <p:nvPr/>
        </p:nvSpPr>
        <p:spPr>
          <a:xfrm xmlns:a="http://schemas.openxmlformats.org/drawingml/2006/main">
            <a:off x="2686050" y="2876550"/>
            <a:ext cx="3105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Brute-force identity</a:t>
            </a:r>
          </a:p>
        </p:txBody>
      </p:sp>
      <p:sp>
        <p:nvSpPr>
          <p:cNvPr id="20" name="text">
            <a:extLst xmlns:a="http://schemas.openxmlformats.org/drawingml/2006/main">
              <a:ext uri="{FF2B5EF4-FFF2-40B4-BE49-F238E27FC236}">
                <a16:creationId xmlns:a16="http://schemas.microsoft.com/office/drawing/2014/main" id="{022FBDFB-27AF-42CB-BF42-59C22B4F2BF9}"/>
              </a:ext>
            </a:extLst>
          </p:cNvPr>
          <p:cNvSpPr>
            <a:spLocks xmlns:a="http://schemas.openxmlformats.org/drawingml/2006/main" noGrp="1"/>
          </p:cNvSpPr>
          <p:nvPr/>
        </p:nvSpPr>
        <p:spPr>
          <a:xfrm xmlns:a="http://schemas.openxmlformats.org/drawingml/2006/main">
            <a:off x="6019800" y="2876550"/>
            <a:ext cx="1314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10A7A0"/>
                </a:solidFill>
                <a:latin typeface="Helvetica Neue"/>
                <a:ea typeface="Helvetica Neue"/>
                <a:cs typeface="Helvetica Neue"/>
              </a:defRPr>
            </a:pPr>
            <a:r>
              <a:rPr sz="1200" b="1">
                <a:solidFill>
                  <a:srgbClr val="10A7A0"/>
                </a:solidFill>
                <a:latin typeface="Helvetica Neue"/>
                <a:ea typeface="Helvetica Neue"/>
                <a:cs typeface="Helvetica Neue"/>
              </a:rPr>
              <a:t>PASS</a:t>
            </a:r>
          </a:p>
        </p:txBody>
      </p:sp>
      <p:sp>
        <p:nvSpPr>
          <p:cNvPr id="21" name="text">
            <a:extLst xmlns:a="http://schemas.openxmlformats.org/drawingml/2006/main">
              <a:ext uri="{FF2B5EF4-FFF2-40B4-BE49-F238E27FC236}">
                <a16:creationId xmlns:a16="http://schemas.microsoft.com/office/drawing/2014/main" id="{7F53A0BA-92F2-4C3A-BE64-358B7CCFE13E}"/>
              </a:ext>
            </a:extLst>
          </p:cNvPr>
          <p:cNvSpPr>
            <a:spLocks xmlns:a="http://schemas.openxmlformats.org/drawingml/2006/main" noGrp="1"/>
          </p:cNvSpPr>
          <p:nvPr/>
        </p:nvSpPr>
        <p:spPr>
          <a:xfrm xmlns:a="http://schemas.openxmlformats.org/drawingml/2006/main">
            <a:off x="7562850" y="2876550"/>
            <a:ext cx="4114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max 2.89e−14</a:t>
            </a:r>
          </a:p>
        </p:txBody>
      </p:sp>
      <p:sp>
        <p:nvSpPr>
          <p:cNvPr id="22" name="text">
            <a:extLst xmlns:a="http://schemas.openxmlformats.org/drawingml/2006/main">
              <a:ext uri="{FF2B5EF4-FFF2-40B4-BE49-F238E27FC236}">
                <a16:creationId xmlns:a16="http://schemas.microsoft.com/office/drawing/2014/main" id="{6832474F-5FBF-473F-8820-30417C85EB9A}"/>
              </a:ext>
            </a:extLst>
          </p:cNvPr>
          <p:cNvSpPr>
            <a:spLocks xmlns:a="http://schemas.openxmlformats.org/drawingml/2006/main" noGrp="1"/>
          </p:cNvSpPr>
          <p:nvPr/>
        </p:nvSpPr>
        <p:spPr>
          <a:xfrm xmlns:a="http://schemas.openxmlformats.org/drawingml/2006/main">
            <a:off x="514350" y="3448050"/>
            <a:ext cx="1943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Scenario support</a:t>
            </a:r>
          </a:p>
        </p:txBody>
      </p:sp>
      <p:sp>
        <p:nvSpPr>
          <p:cNvPr id="23" name="text">
            <a:extLst xmlns:a="http://schemas.openxmlformats.org/drawingml/2006/main">
              <a:ext uri="{FF2B5EF4-FFF2-40B4-BE49-F238E27FC236}">
                <a16:creationId xmlns:a16="http://schemas.microsoft.com/office/drawing/2014/main" id="{745289F4-B602-4CF4-94F0-B18E79C5398F}"/>
              </a:ext>
            </a:extLst>
          </p:cNvPr>
          <p:cNvSpPr>
            <a:spLocks xmlns:a="http://schemas.openxmlformats.org/drawingml/2006/main" noGrp="1"/>
          </p:cNvSpPr>
          <p:nvPr/>
        </p:nvSpPr>
        <p:spPr>
          <a:xfrm xmlns:a="http://schemas.openxmlformats.org/drawingml/2006/main">
            <a:off x="2686050" y="3448050"/>
            <a:ext cx="3105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Endpoint neighbourhood</a:t>
            </a:r>
          </a:p>
        </p:txBody>
      </p:sp>
      <p:sp>
        <p:nvSpPr>
          <p:cNvPr id="24" name="text">
            <a:extLst xmlns:a="http://schemas.openxmlformats.org/drawingml/2006/main">
              <a:ext uri="{FF2B5EF4-FFF2-40B4-BE49-F238E27FC236}">
                <a16:creationId xmlns:a16="http://schemas.microsoft.com/office/drawing/2014/main" id="{F030C82E-C550-4569-A789-480DFE392605}"/>
              </a:ext>
            </a:extLst>
          </p:cNvPr>
          <p:cNvSpPr>
            <a:spLocks xmlns:a="http://schemas.openxmlformats.org/drawingml/2006/main" noGrp="1"/>
          </p:cNvSpPr>
          <p:nvPr/>
        </p:nvSpPr>
        <p:spPr>
          <a:xfrm xmlns:a="http://schemas.openxmlformats.org/drawingml/2006/main">
            <a:off x="6019800" y="3448050"/>
            <a:ext cx="1314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10A7A0"/>
                </a:solidFill>
                <a:latin typeface="Helvetica Neue"/>
                <a:ea typeface="Helvetica Neue"/>
                <a:cs typeface="Helvetica Neue"/>
              </a:defRPr>
            </a:pPr>
            <a:r>
              <a:rPr sz="1200" b="1">
                <a:solidFill>
                  <a:srgbClr val="10A7A0"/>
                </a:solidFill>
                <a:latin typeface="Helvetica Neue"/>
                <a:ea typeface="Helvetica Neue"/>
                <a:cs typeface="Helvetica Neue"/>
              </a:rPr>
              <a:t>PASS</a:t>
            </a:r>
          </a:p>
        </p:txBody>
      </p:sp>
      <p:sp>
        <p:nvSpPr>
          <p:cNvPr id="25" name="text">
            <a:extLst xmlns:a="http://schemas.openxmlformats.org/drawingml/2006/main">
              <a:ext uri="{FF2B5EF4-FFF2-40B4-BE49-F238E27FC236}">
                <a16:creationId xmlns:a16="http://schemas.microsoft.com/office/drawing/2014/main" id="{61A78B75-47AA-4AA7-8D98-3A0A31995261}"/>
              </a:ext>
            </a:extLst>
          </p:cNvPr>
          <p:cNvSpPr>
            <a:spLocks xmlns:a="http://schemas.openxmlformats.org/drawingml/2006/main" noGrp="1"/>
          </p:cNvSpPr>
          <p:nvPr/>
        </p:nvSpPr>
        <p:spPr>
          <a:xfrm xmlns:a="http://schemas.openxmlformats.org/drawingml/2006/main">
            <a:off x="7562850" y="3448050"/>
            <a:ext cx="4114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minimum 4,716 loans</a:t>
            </a:r>
          </a:p>
        </p:txBody>
      </p:sp>
      <p:sp>
        <p:nvSpPr>
          <p:cNvPr id="26" name="audit-row-4">
            <a:extLst xmlns:a="http://schemas.openxmlformats.org/drawingml/2006/main">
              <a:ext uri="{FF2B5EF4-FFF2-40B4-BE49-F238E27FC236}">
                <a16:creationId xmlns:a16="http://schemas.microsoft.com/office/drawing/2014/main" id="{2CFA9DB3-F118-462D-9914-EB0E9F3E55A5}"/>
              </a:ext>
            </a:extLst>
          </p:cNvPr>
          <p:cNvSpPr>
            <a:spLocks xmlns:a="http://schemas.openxmlformats.org/drawingml/2006/main" noGrp="1"/>
          </p:cNvSpPr>
          <p:nvPr/>
        </p:nvSpPr>
        <p:spPr>
          <a:xfrm xmlns:a="http://schemas.openxmlformats.org/drawingml/2006/main">
            <a:off x="400050" y="3924300"/>
            <a:ext cx="11391900" cy="4953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27" name="text">
            <a:extLst xmlns:a="http://schemas.openxmlformats.org/drawingml/2006/main">
              <a:ext uri="{FF2B5EF4-FFF2-40B4-BE49-F238E27FC236}">
                <a16:creationId xmlns:a16="http://schemas.microsoft.com/office/drawing/2014/main" id="{F69EF59E-7BE8-4E45-8B5E-006D61FEB887}"/>
              </a:ext>
            </a:extLst>
          </p:cNvPr>
          <p:cNvSpPr>
            <a:spLocks xmlns:a="http://schemas.openxmlformats.org/drawingml/2006/main" noGrp="1"/>
          </p:cNvSpPr>
          <p:nvPr/>
        </p:nvSpPr>
        <p:spPr>
          <a:xfrm xmlns:a="http://schemas.openxmlformats.org/drawingml/2006/main">
            <a:off x="514350" y="4019550"/>
            <a:ext cx="1943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Current signal</a:t>
            </a:r>
          </a:p>
        </p:txBody>
      </p:sp>
      <p:sp>
        <p:nvSpPr>
          <p:cNvPr id="28" name="text">
            <a:extLst xmlns:a="http://schemas.openxmlformats.org/drawingml/2006/main">
              <a:ext uri="{FF2B5EF4-FFF2-40B4-BE49-F238E27FC236}">
                <a16:creationId xmlns:a16="http://schemas.microsoft.com/office/drawing/2014/main" id="{4793DC09-61C5-467D-8B8B-94E302842DF5}"/>
              </a:ext>
            </a:extLst>
          </p:cNvPr>
          <p:cNvSpPr>
            <a:spLocks xmlns:a="http://schemas.openxmlformats.org/drawingml/2006/main" noGrp="1"/>
          </p:cNvSpPr>
          <p:nvPr/>
        </p:nvSpPr>
        <p:spPr>
          <a:xfrm xmlns:a="http://schemas.openxmlformats.org/drawingml/2006/main">
            <a:off x="2686050" y="4019550"/>
            <a:ext cx="3105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14/16d + description + residual</a:t>
            </a:r>
          </a:p>
        </p:txBody>
      </p:sp>
      <p:sp>
        <p:nvSpPr>
          <p:cNvPr id="29" name="text">
            <a:extLst xmlns:a="http://schemas.openxmlformats.org/drawingml/2006/main">
              <a:ext uri="{FF2B5EF4-FFF2-40B4-BE49-F238E27FC236}">
                <a16:creationId xmlns:a16="http://schemas.microsoft.com/office/drawing/2014/main" id="{37389B3A-D0D9-48BA-AD3E-97189AAF5D15}"/>
              </a:ext>
            </a:extLst>
          </p:cNvPr>
          <p:cNvSpPr>
            <a:spLocks xmlns:a="http://schemas.openxmlformats.org/drawingml/2006/main" noGrp="1"/>
          </p:cNvSpPr>
          <p:nvPr/>
        </p:nvSpPr>
        <p:spPr>
          <a:xfrm xmlns:a="http://schemas.openxmlformats.org/drawingml/2006/main">
            <a:off x="6019800" y="4019550"/>
            <a:ext cx="1314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E5A93D"/>
                </a:solidFill>
                <a:latin typeface="Helvetica Neue"/>
                <a:ea typeface="Helvetica Neue"/>
                <a:cs typeface="Helvetica Neue"/>
              </a:defRPr>
            </a:pPr>
            <a:r>
              <a:rPr sz="1200" b="1">
                <a:solidFill>
                  <a:srgbClr val="E5A93D"/>
                </a:solidFill>
                <a:latin typeface="Helvetica Neue"/>
                <a:ea typeface="Helvetica Neue"/>
                <a:cs typeface="Helvetica Neue"/>
              </a:rPr>
              <a:t>CAVEAT</a:t>
            </a:r>
          </a:p>
        </p:txBody>
      </p:sp>
      <p:sp>
        <p:nvSpPr>
          <p:cNvPr id="30" name="text">
            <a:extLst xmlns:a="http://schemas.openxmlformats.org/drawingml/2006/main">
              <a:ext uri="{FF2B5EF4-FFF2-40B4-BE49-F238E27FC236}">
                <a16:creationId xmlns:a16="http://schemas.microsoft.com/office/drawing/2014/main" id="{7D6044CC-F104-4389-8B53-B38563837810}"/>
              </a:ext>
            </a:extLst>
          </p:cNvPr>
          <p:cNvSpPr>
            <a:spLocks xmlns:a="http://schemas.openxmlformats.org/drawingml/2006/main" noGrp="1"/>
          </p:cNvSpPr>
          <p:nvPr/>
        </p:nvSpPr>
        <p:spPr>
          <a:xfrm xmlns:a="http://schemas.openxmlformats.org/drawingml/2006/main">
            <a:off x="7562850" y="4019550"/>
            <a:ext cx="4114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positive except residual CI crosses 0</a:t>
            </a:r>
          </a:p>
        </p:txBody>
      </p:sp>
      <p:sp>
        <p:nvSpPr>
          <p:cNvPr id="31" name="text">
            <a:extLst xmlns:a="http://schemas.openxmlformats.org/drawingml/2006/main">
              <a:ext uri="{FF2B5EF4-FFF2-40B4-BE49-F238E27FC236}">
                <a16:creationId xmlns:a16="http://schemas.microsoft.com/office/drawing/2014/main" id="{492AD8B6-4B22-4EA9-9D92-ECD640174182}"/>
              </a:ext>
            </a:extLst>
          </p:cNvPr>
          <p:cNvSpPr>
            <a:spLocks xmlns:a="http://schemas.openxmlformats.org/drawingml/2006/main" noGrp="1"/>
          </p:cNvSpPr>
          <p:nvPr/>
        </p:nvSpPr>
        <p:spPr>
          <a:xfrm xmlns:a="http://schemas.openxmlformats.org/drawingml/2006/main">
            <a:off x="514350" y="4591050"/>
            <a:ext cx="1943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Recent claim</a:t>
            </a:r>
          </a:p>
        </p:txBody>
      </p:sp>
      <p:sp>
        <p:nvSpPr>
          <p:cNvPr id="32" name="text">
            <a:extLst xmlns:a="http://schemas.openxmlformats.org/drawingml/2006/main">
              <a:ext uri="{FF2B5EF4-FFF2-40B4-BE49-F238E27FC236}">
                <a16:creationId xmlns:a16="http://schemas.microsoft.com/office/drawing/2014/main" id="{1C04CE90-D156-4DB9-9B72-D166B03D3C69}"/>
              </a:ext>
            </a:extLst>
          </p:cNvPr>
          <p:cNvSpPr>
            <a:spLocks xmlns:a="http://schemas.openxmlformats.org/drawingml/2006/main" noGrp="1"/>
          </p:cNvSpPr>
          <p:nvPr/>
        </p:nvSpPr>
        <p:spPr>
          <a:xfrm xmlns:a="http://schemas.openxmlformats.org/drawingml/2006/main">
            <a:off x="2686050" y="4591050"/>
            <a:ext cx="3105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Joint + time checks</a:t>
            </a:r>
          </a:p>
        </p:txBody>
      </p:sp>
      <p:sp>
        <p:nvSpPr>
          <p:cNvPr id="33" name="text">
            <a:extLst xmlns:a="http://schemas.openxmlformats.org/drawingml/2006/main">
              <a:ext uri="{FF2B5EF4-FFF2-40B4-BE49-F238E27FC236}">
                <a16:creationId xmlns:a16="http://schemas.microsoft.com/office/drawing/2014/main" id="{FA3E3DD1-0D30-4F64-B207-C837133205A1}"/>
              </a:ext>
            </a:extLst>
          </p:cNvPr>
          <p:cNvSpPr>
            <a:spLocks xmlns:a="http://schemas.openxmlformats.org/drawingml/2006/main" noGrp="1"/>
          </p:cNvSpPr>
          <p:nvPr/>
        </p:nvSpPr>
        <p:spPr>
          <a:xfrm xmlns:a="http://schemas.openxmlformats.org/drawingml/2006/main">
            <a:off x="6019800" y="4591050"/>
            <a:ext cx="1314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F0655B"/>
                </a:solidFill>
                <a:latin typeface="Helvetica Neue"/>
                <a:ea typeface="Helvetica Neue"/>
                <a:cs typeface="Helvetica Neue"/>
              </a:defRPr>
            </a:pPr>
            <a:r>
              <a:rPr sz="1200" b="1">
                <a:solidFill>
                  <a:srgbClr val="F0655B"/>
                </a:solidFill>
                <a:latin typeface="Helvetica Neue"/>
                <a:ea typeface="Helvetica Neue"/>
                <a:cs typeface="Helvetica Neue"/>
              </a:rPr>
              <a:t>NO CLAIM</a:t>
            </a:r>
          </a:p>
        </p:txBody>
      </p:sp>
      <p:sp>
        <p:nvSpPr>
          <p:cNvPr id="34" name="text">
            <a:extLst xmlns:a="http://schemas.openxmlformats.org/drawingml/2006/main">
              <a:ext uri="{FF2B5EF4-FFF2-40B4-BE49-F238E27FC236}">
                <a16:creationId xmlns:a16="http://schemas.microsoft.com/office/drawing/2014/main" id="{2E28387B-814D-4A0F-93C1-82D47E0C3FCA}"/>
              </a:ext>
            </a:extLst>
          </p:cNvPr>
          <p:cNvSpPr>
            <a:spLocks xmlns:a="http://schemas.openxmlformats.org/drawingml/2006/main" noGrp="1"/>
          </p:cNvSpPr>
          <p:nvPr/>
        </p:nvSpPr>
        <p:spPr>
          <a:xfrm xmlns:a="http://schemas.openxmlformats.org/drawingml/2006/main">
            <a:off x="7562850" y="4591050"/>
            <a:ext cx="4114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intervals cross zero</a:t>
            </a:r>
          </a:p>
        </p:txBody>
      </p:sp>
      <p:sp>
        <p:nvSpPr>
          <p:cNvPr id="35" name="audit-row-6">
            <a:extLst xmlns:a="http://schemas.openxmlformats.org/drawingml/2006/main">
              <a:ext uri="{FF2B5EF4-FFF2-40B4-BE49-F238E27FC236}">
                <a16:creationId xmlns:a16="http://schemas.microsoft.com/office/drawing/2014/main" id="{79DEC5E3-A153-4DE7-A760-312253080844}"/>
              </a:ext>
            </a:extLst>
          </p:cNvPr>
          <p:cNvSpPr>
            <a:spLocks xmlns:a="http://schemas.openxmlformats.org/drawingml/2006/main" noGrp="1"/>
          </p:cNvSpPr>
          <p:nvPr/>
        </p:nvSpPr>
        <p:spPr>
          <a:xfrm xmlns:a="http://schemas.openxmlformats.org/drawingml/2006/main">
            <a:off x="400050" y="5067300"/>
            <a:ext cx="11391900" cy="4953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36" name="text">
            <a:extLst xmlns:a="http://schemas.openxmlformats.org/drawingml/2006/main">
              <a:ext uri="{FF2B5EF4-FFF2-40B4-BE49-F238E27FC236}">
                <a16:creationId xmlns:a16="http://schemas.microsoft.com/office/drawing/2014/main" id="{0D5784B1-B6CE-43F3-8E0D-19E43222F469}"/>
              </a:ext>
            </a:extLst>
          </p:cNvPr>
          <p:cNvSpPr>
            <a:spLocks xmlns:a="http://schemas.openxmlformats.org/drawingml/2006/main" noGrp="1"/>
          </p:cNvSpPr>
          <p:nvPr/>
        </p:nvSpPr>
        <p:spPr>
          <a:xfrm xmlns:a="http://schemas.openxmlformats.org/drawingml/2006/main">
            <a:off x="514350" y="5162550"/>
            <a:ext cx="1943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Deployment</a:t>
            </a:r>
          </a:p>
        </p:txBody>
      </p:sp>
      <p:sp>
        <p:nvSpPr>
          <p:cNvPr id="37" name="text">
            <a:extLst xmlns:a="http://schemas.openxmlformats.org/drawingml/2006/main">
              <a:ext uri="{FF2B5EF4-FFF2-40B4-BE49-F238E27FC236}">
                <a16:creationId xmlns:a16="http://schemas.microsoft.com/office/drawing/2014/main" id="{D50BEC90-1BAA-4F68-9F07-FE7494C83941}"/>
              </a:ext>
            </a:extLst>
          </p:cNvPr>
          <p:cNvSpPr>
            <a:spLocks xmlns:a="http://schemas.openxmlformats.org/drawingml/2006/main" noGrp="1"/>
          </p:cNvSpPr>
          <p:nvPr/>
        </p:nvSpPr>
        <p:spPr>
          <a:xfrm xmlns:a="http://schemas.openxmlformats.org/drawingml/2006/main">
            <a:off x="2686050" y="5162550"/>
            <a:ext cx="3105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2025 incremental lift</a:t>
            </a:r>
          </a:p>
        </p:txBody>
      </p:sp>
      <p:sp>
        <p:nvSpPr>
          <p:cNvPr id="38" name="text">
            <a:extLst xmlns:a="http://schemas.openxmlformats.org/drawingml/2006/main">
              <a:ext uri="{FF2B5EF4-FFF2-40B4-BE49-F238E27FC236}">
                <a16:creationId xmlns:a16="http://schemas.microsoft.com/office/drawing/2014/main" id="{228C96A4-7199-47C0-940A-E4A8BE4A8A4D}"/>
              </a:ext>
            </a:extLst>
          </p:cNvPr>
          <p:cNvSpPr>
            <a:spLocks xmlns:a="http://schemas.openxmlformats.org/drawingml/2006/main" noGrp="1"/>
          </p:cNvSpPr>
          <p:nvPr/>
        </p:nvSpPr>
        <p:spPr>
          <a:xfrm xmlns:a="http://schemas.openxmlformats.org/drawingml/2006/main">
            <a:off x="6019800" y="5162550"/>
            <a:ext cx="1314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F0655B"/>
                </a:solidFill>
                <a:latin typeface="Helvetica Neue"/>
                <a:ea typeface="Helvetica Neue"/>
                <a:cs typeface="Helvetica Neue"/>
              </a:defRPr>
            </a:pPr>
            <a:r>
              <a:rPr sz="1200" b="1">
                <a:solidFill>
                  <a:srgbClr val="F0655B"/>
                </a:solidFill>
                <a:latin typeface="Helvetica Neue"/>
                <a:ea typeface="Helvetica Neue"/>
                <a:cs typeface="Helvetica Neue"/>
              </a:rPr>
              <a:t>NO DEPLOY</a:t>
            </a:r>
          </a:p>
        </p:txBody>
      </p:sp>
      <p:sp>
        <p:nvSpPr>
          <p:cNvPr id="39" name="text">
            <a:extLst xmlns:a="http://schemas.openxmlformats.org/drawingml/2006/main">
              <a:ext uri="{FF2B5EF4-FFF2-40B4-BE49-F238E27FC236}">
                <a16:creationId xmlns:a16="http://schemas.microsoft.com/office/drawing/2014/main" id="{C703D483-0550-4C17-A749-00BF313E01E0}"/>
              </a:ext>
            </a:extLst>
          </p:cNvPr>
          <p:cNvSpPr>
            <a:spLocks xmlns:a="http://schemas.openxmlformats.org/drawingml/2006/main" noGrp="1"/>
          </p:cNvSpPr>
          <p:nvPr/>
        </p:nvSpPr>
        <p:spPr>
          <a:xfrm xmlns:a="http://schemas.openxmlformats.org/drawingml/2006/main">
            <a:off x="7562850" y="5162550"/>
            <a:ext cx="4114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MAE/Brier/AUC do not win</a:t>
            </a:r>
          </a:p>
        </p:txBody>
      </p:sp>
      <p:sp>
        <p:nvSpPr>
          <p:cNvPr id="40" name="text">
            <a:extLst xmlns:a="http://schemas.openxmlformats.org/drawingml/2006/main">
              <a:ext uri="{FF2B5EF4-FFF2-40B4-BE49-F238E27FC236}">
                <a16:creationId xmlns:a16="http://schemas.microsoft.com/office/drawing/2014/main" id="{E1A6A14A-7B4E-4995-BA4E-52D0C4DEFB78}"/>
              </a:ext>
            </a:extLst>
          </p:cNvPr>
          <p:cNvSpPr>
            <a:spLocks xmlns:a="http://schemas.openxmlformats.org/drawingml/2006/main" noGrp="1"/>
          </p:cNvSpPr>
          <p:nvPr/>
        </p:nvSpPr>
        <p:spPr>
          <a:xfrm xmlns:a="http://schemas.openxmlformats.org/drawingml/2006/main">
            <a:off x="400050" y="5943600"/>
            <a:ext cx="638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l">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Full bilingual judge Q&amp;A: JUDGE_QA_BILINGUAL.md</a:t>
            </a:r>
          </a:p>
        </p:txBody>
      </p:sp>
      <p:sp>
        <p:nvSpPr>
          <p:cNvPr id="41" name="text">
            <a:extLst xmlns:a="http://schemas.openxmlformats.org/drawingml/2006/main">
              <a:ext uri="{FF2B5EF4-FFF2-40B4-BE49-F238E27FC236}">
                <a16:creationId xmlns:a16="http://schemas.microsoft.com/office/drawing/2014/main" id="{3A778076-D3EF-45E1-8740-AF4CACE5BE50}"/>
              </a:ext>
            </a:extLst>
          </p:cNvPr>
          <p:cNvSpPr>
            <a:spLocks xmlns:a="http://schemas.openxmlformats.org/drawingml/2006/main" noGrp="1"/>
          </p:cNvSpPr>
          <p:nvPr/>
        </p:nvSpPr>
        <p:spPr>
          <a:xfrm xmlns:a="http://schemas.openxmlformats.org/drawingml/2006/main">
            <a:off x="6858000" y="5943600"/>
            <a:ext cx="4933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r">
              <a:defRPr sz="1200" b="0">
                <a:solidFill>
                  <a:srgbClr val="334155"/>
                </a:solidFill>
                <a:latin typeface="Helvetica Neue"/>
                <a:ea typeface="Helvetica Neue"/>
                <a:cs typeface="Helvetica Neue"/>
              </a:defRPr>
            </a:pPr>
            <a:r>
              <a:rPr sz="1200" b="0">
                <a:solidFill>
                  <a:srgbClr val="334155"/>
                </a:solidFill>
                <a:latin typeface="Helvetica Neue"/>
                <a:ea typeface="Helvetica Neue"/>
                <a:cs typeface="Helvetica Neue"/>
              </a:rPr>
              <a:t>All exact tables: outputs/ · Reproducible notebooks: notebooks/</a:t>
            </a:r>
          </a:p>
        </p:txBody>
      </p:sp>
      <p:sp>
        <p:nvSpPr>
          <p:cNvPr id="42" name="rule">
            <a:extLst xmlns:a="http://schemas.openxmlformats.org/drawingml/2006/main">
              <a:ext uri="{FF2B5EF4-FFF2-40B4-BE49-F238E27FC236}">
                <a16:creationId xmlns:a16="http://schemas.microsoft.com/office/drawing/2014/main" id="{8DB30924-60C3-4132-BFBD-7632D1F1803D}"/>
              </a:ext>
            </a:extLst>
          </p:cNvPr>
          <p:cNvSpPr>
            <a:spLocks xmlns:a="http://schemas.openxmlformats.org/drawingml/2006/main" noGrp="1"/>
          </p:cNvSpPr>
          <p:nvPr/>
        </p:nvSpPr>
        <p:spPr>
          <a:xfrm xmlns:a="http://schemas.openxmlformats.org/drawingml/2006/main">
            <a:off x="400050" y="643890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3" name="source-footer">
            <a:extLst xmlns:a="http://schemas.openxmlformats.org/drawingml/2006/main">
              <a:ext uri="{FF2B5EF4-FFF2-40B4-BE49-F238E27FC236}">
                <a16:creationId xmlns:a16="http://schemas.microsoft.com/office/drawing/2014/main" id="{40668A69-A293-4D4A-B637-DD42724DBE79}"/>
              </a:ext>
            </a:extLst>
          </p:cNvPr>
          <p:cNvSpPr>
            <a:spLocks xmlns:a="http://schemas.openxmlformats.org/drawingml/2006/main" noGrp="1"/>
          </p:cNvSpPr>
          <p:nvPr/>
        </p:nvSpPr>
        <p:spPr>
          <a:xfrm xmlns:a="http://schemas.openxmlformats.org/drawingml/2006/main">
            <a:off x="400050" y="6515100"/>
            <a:ext cx="981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l">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Sources: audit/ manifests; outputs/ validated CSV tables</a:t>
            </a:r>
          </a:p>
        </p:txBody>
      </p:sp>
      <p:sp>
        <p:nvSpPr>
          <p:cNvPr id="44" name="team-footer">
            <a:extLst xmlns:a="http://schemas.openxmlformats.org/drawingml/2006/main">
              <a:ext uri="{FF2B5EF4-FFF2-40B4-BE49-F238E27FC236}">
                <a16:creationId xmlns:a16="http://schemas.microsoft.com/office/drawing/2014/main" id="{A3F9CA3B-1107-408B-9BD4-D1D7BD161808}"/>
              </a:ext>
            </a:extLst>
          </p:cNvPr>
          <p:cNvSpPr>
            <a:spLocks xmlns:a="http://schemas.openxmlformats.org/drawingml/2006/main" noGrp="1"/>
          </p:cNvSpPr>
          <p:nvPr/>
        </p:nvSpPr>
        <p:spPr>
          <a:xfrm xmlns:a="http://schemas.openxmlformats.org/drawingml/2006/main">
            <a:off x="10325100" y="651510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87"/>
          </a:bodyPr>
          <a:lstStyle xmlns:a="http://schemas.openxmlformats.org/drawingml/2006/main"/>
          <a:p xmlns:a="http://schemas.openxmlformats.org/drawingml/2006/main">
            <a:pPr algn="r">
              <a:defRPr sz="788" b="0">
                <a:solidFill>
                  <a:srgbClr val="64748B"/>
                </a:solidFill>
                <a:latin typeface="Helvetica Neue"/>
                <a:ea typeface="Helvetica Neue"/>
                <a:cs typeface="Helvetica Neue"/>
              </a:defRPr>
            </a:pPr>
            <a:r>
              <a:rPr sz="788" b="0">
                <a:solidFill>
                  <a:srgbClr val="64748B"/>
                </a:solidFill>
                <a:latin typeface="Helvetica Neue"/>
                <a:ea typeface="Helvetica Neue"/>
                <a:cs typeface="Helvetica Neue"/>
              </a:rPr>
              <a:t>5 GUYS · 16</a:t>
            </a:r>
          </a:p>
        </p:txBody>
      </p:sp>
    </p:spTree>
    <p:extLst>
      <p:ext uri="{BB962C8B-B14F-4D97-AF65-F5344CB8AC3E}">
        <p14:creationId xmlns:p14="http://schemas.microsoft.com/office/powerpoint/2010/main" val="1060535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2026-08-27T14:47:21.8350000Z</dcterms:created>
  <dcterms:modified xsi:type="dcterms:W3CDTF">2026-08-27T14:47:21.8350000Z</dcterms:modified>
</coreProperties>
</file>