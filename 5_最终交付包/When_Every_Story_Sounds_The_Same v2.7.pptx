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2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 · 可删除】约 10 秒。
开场：Kiva 上的每一个故事都在争取注意力。我们的问题不是「谁的故事写得好」，而是「一个故事出现的时候，它身边是什么」。
如果比赛方自带 title slide，直接删掉本页，总时长不受影响。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1 · 目标 50 秒】制造悬念，不解释模型。</a:t>
            </a:r>
          </a:p>
          <a:p>
            <a:endParaRPr/>
          </a:p>
          <a:p>
            <a:r>
              <a:t>口播：我们的主结果变量是 FundingHours——从 fundraisingDate 到 raisedDate 的筹款时长小时数。</a:t>
            </a:r>
          </a:p>
          <a:p>
            <a:r>
              <a:t>在建模样本上，只比 Q1–Q3（避开 2025 年末的右截断），中位筹款时长从 2024 的 121.2 小时降到 2025 的 68.1 小时，快了 44%。</a:t>
            </a:r>
          </a:p>
          <a:p>
            <a:r>
              <a:t>可同一年，Homogeneity（H，与同期同板块贷款的平均余弦相似度）是十年里最高的，均值 0.156。唯一同时下降的是 Volume（C，均值 6.52 → 6.25，中位在架池 1,030 → 769）。</a:t>
            </a:r>
          </a:p>
          <a:p>
            <a:endParaRPr/>
          </a:p>
          <a:p>
            <a:r>
              <a:t>所以「故事越像越难筹」不是一条能单独成立的规律。要判断一个故事筹得快不快，必须看它出现的时候身边站着谁。</a:t>
            </a:r>
          </a:p>
          <a:p>
            <a:r>
              <a:t>（停顿一拍再翻页。）</a:t>
            </a:r>
          </a:p>
          <a:p>
            <a:endParaRPr/>
          </a:p>
          <a:p>
            <a:r>
              <a:t>⚠️ 口径纪律（被问到时）：</a:t>
            </a:r>
          </a:p>
          <a:p>
            <a:r>
              <a:t>· 数据里每一行都有 raisedDate，没有 expired 贷款，所以这是「已募满贷款的筹款时长」，不是「募资成功率」。</a:t>
            </a:r>
          </a:p>
          <a:p>
            <a:r>
              <a:t>· 2025 年末存在右截断——12 月的贷款只有跑得最快的才进得来。所以主页只报 Q1–Q3，两年同口径。</a:t>
            </a:r>
          </a:p>
          <a:p>
            <a:r>
              <a:t>· 若用全年主样本是 110.6 → 65.2（−41%）；早期版本用的 107.6 → 61.3（−43%）来自 wash-in 样本、且是全年，两处都换掉了。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2 · 目标 1 分 10 秒】只讲理解结果所必需的方法。
口播：结果变量是 FundingHours，建模形式 log(1 + FundingHours)。
对每一笔贷款我们重建两个 pool，命名和 proposal 一致。
右边 Current pool：上架那一刻真正在架的同板块贷款。Volume（C）是数量取对数，Homogeneity（H）是与这批贷款的平均余弦相似度，交互 C×H 就是 Active saturation——RQ1 检验的量。
左边 Lagged pool：L 到 L+29 天以前，本次约 35 到 65 天。V、G 是衰减加权的数量和相似度，V×G 是 Recent saturation。这批贷款早已下架，拿不走任何一笔出资——所以如果它们还在拖慢筹款，只能是重复表达造成的 wear-out。
文本用 use 字段：lender 在列表页先看到的短用途，比长 description 更有区分力。
国家、活动、周固定效应；2016–2024 建模，2025 完全不碰。（固定效应细节等评委问再展开。）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3 · 目标 2 分钟 · 全场最重要的一页】</a:t>
            </a:r>
          </a:p>
          <a:p/>
          <a:p>
            <a:r>
              <a:t>口播：左边是 Current pool 的 Active saturation。当 Volume C 和 Homogeneity H 一起从第 25 百分位移到第 75 百分位——从一个安静、多样的市场换成一个又挤又雷同的市场——条件 FundingHours 上升约 124%，也就是筹款时长变成原来的 2.24 倍；72 小时内筹满的概率下降 14.7 个百分点。</a:t>
            </a:r>
          </a:p>
          <a:p/>
          <a:p>
            <a:r>
              <a:t>更关键的是交互本身：同样是 H 上升一个标准差，在低 Volume 的市场里代价是 +42.5% 的小时数，在高 Volume 的市场里是 +60.7%。相似性的代价取决于此刻有多少人和你争。这是 RQ1 的答案：C、H 各自重要，而且相互放大。</a:t>
            </a:r>
          </a:p>
          <a:p/>
          <a:p>
            <a:r>
              <a:t>右边是 Lagged pool 的 Recent saturation。同样的移动，点估计 −1.4%，95% 置信区间从 −15.8% 到 +15.4%，跨过零；72 小时筹满率只动 0.5 个百分点。没有找到广泛、持续 wear-out 的稳健证据。</a:t>
            </a:r>
          </a:p>
          <a:p/>
          <a:p>
            <a:r>
              <a:t>marketing 上的区分：与当前竞品相似会降低相对辨识度；与历史典型表达相似，未必产生持续疲劳。</a:t>
            </a:r>
          </a:p>
          <a:p>
            <a:r>
              <a:t>⚠️ 措辞：这是关联不是因果；零结果也不等于疲劳不存在，只是这个精度下没测到。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两栏标题由 "ACTIVE / RECENT SATURATION" 改为 "JOINT MOVE IN C AND H / V AND G"。原因：`scenario_component_decomposition.csv` 显示 +124%（log 0.8080）的分解是 C 主效应 +0.618（76.5%）、H 主效应 +0.215（26.6%）、C×H 交互 −0.025（−3.1%）。交互在这个情景里贡献为负，因为 C 与 H 负相关（−0.153）且 H 极右偏（P75 的 z 只有 +0.012，P25 是 −0.522）。原标题会被读成「124% 由交互撑起」。</a:t>
            </a:r>
          </a:p>
          <a:p>
            <a:r>
              <a:t>· 被问「这 124% 里交互占多少」时的答案：**主效应占绝大部分，交互在这个情景里是 −3%。交互的证据在右边——同样 +1 SD 的 H，低 Volume 市场 +42.5%、高 Volume 市场 +60.7%。**</a:t>
            </a:r>
          </a:p>
          <a:p>
            <a:r>
              <a:t>· 底栏改为 "Recent saturation leaves no net drag."（原 "Broad wear-out is not."）。配合口播加一句：**滞后池不是空的——提案预注册的联合约束检验 V=G=V×G=0 以 p=.002 被拒绝；但三项方向相反，P25→P75 的净移动是 −1.4%、区间跨零。所以我们说的是「没有可观测规模的净拖累」，不是「滞后池无关」。**（详见 A4）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4 · 目标 1 分 20 秒】</a:t>
            </a:r>
          </a:p>
          <a:p>
            <a:endParaRPr/>
          </a:p>
          <a:p>
            <a:r>
              <a:t>口播：故事为什么会变得一样？很大一部分不是借款人写的，是流程带来的。贷款简介由 Lending Partner 上传，机构会复用模板句——我们把这部分叫 boilerplate share。</a:t>
            </a:r>
          </a:p>
          <a:p>
            <a:endParaRPr/>
          </a:p>
          <a:p>
            <a:r>
              <a:t>左边：在 lender 真正浏览的短 use 字段上，把 recurring language 占比从 0% 移到 100%，条件 FundingHours 上升 13.6%、72 小时筹满率下降 3.37 个百分点。而在点进去之后的长 description 上，同样的移动没有统计上可辨的关联（p = .45）。问题发生在扫描阶段，不是阅读阶段。</a:t>
            </a:r>
          </a:p>
          <a:p>
            <a:endParaRPr/>
          </a:p>
          <a:p>
            <a:r>
              <a:t>右边是关键的稳健性检验：改用 residual text（去掉 recurring 5-gram）重估，Active saturation C×H 从 0.102（p=.003）降到 0.052（p=.129）。</a:t>
            </a:r>
          </a:p>
          <a:p>
            <a:r>
              <a:t>⚠️ 只能说「系数约减半、失去常规显著性」，不能说「模板解释了一半的效应」——没有做正式的跨模型差异检验。</a:t>
            </a:r>
          </a:p>
          <a:p>
            <a:r>
              <a:t>⚠️ 13.6% 是 0%→100% 的全区间效应，不是「高 vs 低」；被追问时要说清楚。每上升 1 个标准差约 +4.6%。</a:t>
            </a:r>
          </a:p>
          <a:p>
            <a:endParaRPr/>
          </a:p>
          <a:p>
            <a:r>
              <a:t>备用（问到再说）：加入 C、H、C×H 后，boilerplate share 本身的关联消失（p=.26），说明模板是通过「和同页项目撞脸」传导的。</a:t>
            </a:r>
          </a:p>
          <a:p>
            <a:r>
              <a:t>所以解药在平台一侧，不是要求借款人写更长、更私人的故事。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5 · 目标 1 分 30 秒】</a:t>
            </a:r>
          </a:p>
          <a:p/>
          <a:p>
            <a:r>
              <a:t>口播（顶上一行）：先说年度。2018 年 Homogeneity 还低（均值 0.057，十年最低），压力主要来自 Volume；2020–21 年 current pool 扩大、boilerplate 占比从 0.22 升到 0.35，对 H 的贡献明显上升；到 2025，boilerplate 回到常态（0.222，与 2024 的 0.222 持平），可 H 是十年最高（均值 0.156），而 Volume 已经下降（C 从 6.52 降到 6.25，中位在架池 1030 → 769）——相似性的来源变了。</a:t>
            </a:r>
          </a:p>
          <a:p>
            <a:r>
              <a:t>⚠️ 不要把 COVID、auto-lending 说成已证明的原因，只能作为背景。</a:t>
            </a:r>
          </a:p>
          <a:p/>
          <a:p>
            <a:r>
              <a:t>口播（图）：月内有两条脉冲，都在供给侧。</a:t>
            </a:r>
          </a:p>
          <a:p>
            <a:r>
              <a:t>基线以上是绿色的上架脉冲，基线以下是紫色的完成脉冲（贷款达到 raisedDate、退出 current pool）。</a:t>
            </a:r>
          </a:p>
          <a:p>
            <a:r>
              <a:t>关键事实（2024–25，太平洋日历日，指数以当月均值=1.00 标准化）：**两条脉冲在同一天见顶，都是 18 号**。上架指数 5.92，完成指数 2.75，19 号 2.41。18 号一天就占了 2024–25 全部上架量的 19.6%。</a:t>
            </a:r>
          </a:p>
          <a:p>
            <a:r>
              <a:t>所以问题不是「两只时钟错开」——它们是对齐的。问题是**一个月的供给砸在同一天，而当天的释放阀只有 2.8 倍**。按日均条数算：18 号净进 +1,208 条，19–23 号则是净出（−439、−192、−105、−150、−76）。</a:t>
            </a:r>
          </a:p>
          <a:p>
            <a:r>
              <a:t>落到贷款身上：18 号上架的贷款面对的平均 H 是 0.205，而 12–16 号上架的只有 0.056–0.066，差 3 倍以上；中位在架池 969 对 ~780。</a:t>
            </a:r>
          </a:p>
          <a:p/>
          <a:p>
            <a:r>
              <a:t>⚠️ 措辞纪律：</a:t>
            </a:r>
          </a:p>
          <a:p>
            <a:r>
              <a:t>· 这张图是机制示意，但形状按 2024–25 实测逐日指数画；真实逐日曲线在附录 A6。</a:t>
            </a:r>
          </a:p>
          <a:p>
            <a:r>
              <a:t>· 「完成」指达到 raisedDate 离开页面，不是借款人还款。</a:t>
            </a:r>
          </a:p>
          <a:p>
            <a:r>
              <a:t>· 数据里没有 expired 贷款，所以这不是 hazard，只能说「在最终都会募满的贷款中，募满时点的密度」。</a:t>
            </a:r>
          </a:p>
          <a:p>
            <a:r>
              <a:t>· 全十年合并时上架峰在 17 号（3.06），18 号 2.18；「18 号」是 2024–25 的口径，讲的时候要说清楚年份。</a:t>
            </a:r>
          </a:p>
          <a:p>
            <a:r>
              <a:t>· 加入月内日期固定效应后 C×H 从 0.102 只降到 0.098——脉冲不是头条结果的来源。</a:t>
            </a:r>
          </a:p>
          <a:p/>
          <a:p>
            <a:r>
              <a:t>对 Kiva 的用处：它不解释因果，但它告诉我们实验该安排在哪个窗口——把同一个资金窗口的容量摊开到 17–22 号，而不是全压在 18 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顶栏 "Volume-driven in 2018" 改为 "similarity at its decade low in 2018"。原因：2018 的 mean C = 5.79，是十年第三低（2020 = 6.67、2021 = 6.81），说「2018 压力来自 Volume」会被读成「2018 上架量高」，那是错的。逐年只估了 C×H，没有逐年 C、H 主效应的产物。</a:t>
            </a:r>
          </a:p>
          <a:p>
            <a:r>
              <a:t>· 这页能站住的只有两条：2018 的 mean H 是十年最低（0.0569）；2018 的逐年 C×H 系数最高（0.4309, p=.0002）。两条都标 exploratory。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6 · 目标 1 分 15 秒】</a:t>
            </a:r>
          </a:p>
          <a:p>
            <a:endParaRPr/>
          </a:p>
          <a:p>
            <a:r>
              <a:t>口播：最后一个问题：所有市场都一样吗？不一样。关键在于——同样高的 H，可能是两种完全不同的问题。判据只有一条：**去掉 recurring language 之后，相似度还剩多少**。</a:t>
            </a:r>
          </a:p>
          <a:p>
            <a:endParaRPr/>
          </a:p>
          <a:p>
            <a:r>
              <a:t>看这张图，从上往下就是这条判据的排序。上半截几乎不动：Housing 剩 100%（boilerplate 占比 0.4%）、Arts 101%、Transportation 98%、Reuse &amp; Recycle 98%、Services 95%。相似度不是模板造成的，是真实的替代项目被同时摆在一页上——这是 A 类「产品同质」，手段在市场侧：错峰上架、轮换曝光、diversified ranking。</a:t>
            </a:r>
          </a:p>
          <a:p>
            <a:endParaRPr/>
          </a:p>
          <a:p>
            <a:r>
              <a:t>下半截掉得很狠：Retail 剩 58%、Clean Energy 58%、Food 61%、Agriculture 69%。最干净的例子是最底下那行 Philippines × General Store，117,291 笔，只剩 57%，boilerplate 占比 58%。这是 B 类「流程同质」——问题在内容生产流程，手段是给合作机构准备多套合规模板变体，不是要求借款人写更长更私人的故事。</a:t>
            </a:r>
          </a:p>
          <a:p>
            <a:endParaRPr/>
          </a:p>
          <a:p>
            <a:r>
              <a:t>全平台基准是 75%。右边一列是各市场的 boilerplate 占比，和存活率几乎是一条对角线——这本身就是机制证据。</a:t>
            </a:r>
          </a:p>
          <a:p>
            <a:endParaRPr/>
          </a:p>
          <a:p>
            <a:r>
              <a:t>⚠️ 纪律：</a:t>
            </a:r>
          </a:p>
          <a:p>
            <a:r>
              <a:t>· 这是描述性比较（raw 与 residual 两套文本上 H 的均值），不是分行业重估模型系数，被问到要说清楚。</a:t>
            </a:r>
          </a:p>
          <a:p>
            <a:r>
              <a:t>· `outputs/rq4_sector_effects.csv` 里 Housing 的 C×H 系数是 −0.092，与全平台 +0.102 反号；本页讲的是「同质性来源」，不是分板块效应量，两件事不要混。</a:t>
            </a:r>
          </a:p>
          <a:p>
            <a:r>
              <a:t>· 这一层整体是探索性的：异质性有证据（Q=99.5, p=2e-15，见 A8），但注意力市场的精确边界还没做完正式比较。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7 · 目标 1 分 · demo 的引子】</a:t>
            </a:r>
          </a:p>
          <a:p>
            <a:endParaRPr/>
          </a:p>
          <a:p>
            <a:r>
              <a:t>口播：把四个答案合起来，结论很明确：压力取决于「此时此地的市场状态」。所以 proposal 里的 Narrative Attention Engine 不该落地成静态的借款人评分，而该落地成动态的市场监测。但落地要分两段，顺序不能反。</a:t>
            </a:r>
          </a:p>
          <a:p>
            <a:endParaRPr/>
          </a:p>
          <a:p>
            <a:r>
              <a:t>**Phase 1 · 验证**——上线之前。TEST：错峰上架对比 BAU、轮换曝光对比常规曝光、高 boilerplate 市场里的模板变体，按 market-time 单元或 partner batch 随机化。LEARN：预注册读数，主指标 FundingHours、次指标 72 小时筹满率，护栏是公平性、挤出效应和合作机构负担。</a:t>
            </a:r>
          </a:p>
          <a:p>
            <a:r>
              <a:t>这一段是 A/B 实验，它唯一的产出是一份**通过验证的手段清单**。没通过的手段不进清单。</a:t>
            </a:r>
          </a:p>
          <a:p>
            <a:endParaRPr/>
          </a:p>
          <a:p>
            <a:r>
              <a:t>**Phase 2 · 运行**——上线之后，也就是我们等一下要演示的东西。SENSE 持续读市场状态，DIAGNOSE 判断同质性来源，ACT 调用清单里已经通过验证的那一个手段（或者什么都不做），MONITOR 用同一套指标和护栏持续盯着，触发 revert 规则就回滚。</a:t>
            </a:r>
          </a:p>
          <a:p>
            <a:endParaRPr/>
          </a:p>
          <a:p>
            <a:r>
              <a:t>⚠️ 关键区分，被问到一定要说清楚：**TEST 和 LEARN 不是产品的一部分，是产品上线前的关卡。** 我们今天没有跑过任何一个 pilot，所以演示里每一条建议动作都会显示 shadow mode——记录、不下发。这不是产品做得不完整，这是我们不越界。</a:t>
            </a:r>
          </a:p>
          <a:p>
            <a:endParaRPr/>
          </a:p>
          <a:p>
            <a:r>
              <a:t>（翻页，直接进 demo。）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8 · LIVE DEMO · 目标 2 分钟】</a:t>
            </a:r>
          </a:p>
          <a:p>
            <a:endParaRPr/>
          </a:p>
          <a:p>
            <a:r>
              <a:t>开场一句：**这是 Phase 2——上线之后每天在跑的那个系统。Phase 1 的 A/B 实验是它的前置关卡，不在屏幕上。**</a:t>
            </a:r>
          </a:p>
          <a:p>
            <a:endParaRPr/>
          </a:p>
          <a:p>
            <a:r>
              <a:t>演示脚本（严格按顺序）：</a:t>
            </a:r>
          </a:p>
          <a:p>
            <a:endParaRPr/>
          </a:p>
          <a:p>
            <a:r>
              <a:t>① 打开时默认 Agriculture、day 18。先让他们看三秒那根 4.7 倍的绿柱。</a:t>
            </a:r>
          </a:p>
          <a:p>
            <a:r>
              <a:t>   「一个月的上架量砸在同一天。绿色进来，紫色出去。」</a:t>
            </a:r>
          </a:p>
          <a:p>
            <a:r>
              <a:t>   顺手指顶部那条 Phase 条：左边灰色的 TEST → LEARN 已经关掉了，我们现在站在右边。</a:t>
            </a:r>
          </a:p>
          <a:p>
            <a:endParaRPr/>
          </a:p>
          <a:p>
            <a:r>
              <a:t>② 【WHEN】左栏点 Housing，滑块拖到 14。</a:t>
            </a:r>
          </a:p>
          <a:p>
            <a:r>
              <a:t>   在架 127 笔 → WATCH ONLY。「相似度再高，没有活跃替代品，就没有人可以输给。」</a:t>
            </a:r>
          </a:p>
          <a:p>
            <a:r>
              <a:t>   拖到 18。在架 298 笔，H 从 P69 跳到 P95 → TYPE A。</a:t>
            </a:r>
          </a:p>
          <a:p>
            <a:r>
              <a:t>   点题：**同一个市场，只换了一天，结论就变了。所以它必须是动态监测，不是静态评分。**</a:t>
            </a:r>
          </a:p>
          <a:p>
            <a:endParaRPr/>
          </a:p>
          <a:p>
            <a:r>
              <a:t>③ 【WHICH KIND】点 Retail，保持 day 18。</a:t>
            </a:r>
          </a:p>
          <a:p>
            <a:r>
              <a:t>   H 同样在高位（P84），但第三行「去掉 recurring language 只剩 58%」→ TYPE B。</a:t>
            </a:r>
          </a:p>
          <a:p>
            <a:r>
              <a:t>   点题：**同样高的 H，Housing 一分不掉、Retail 掉 42%。读数一样，解药相反。**</a:t>
            </a:r>
          </a:p>
          <a:p>
            <a:endParaRPr/>
          </a:p>
          <a:p>
            <a:r>
              <a:t>④ 【WHAT IT NEVER DOES】把视线拉到第 3 栏 ACT。</a:t>
            </a:r>
          </a:p>
          <a:p>
            <a:r>
              <a:t>   指那个橙色 chip：**SHADOW MODE · PILOT B PENDING**。</a:t>
            </a:r>
          </a:p>
          <a:p>
            <a:r>
              <a:t>   「注意这里——Phase 1 还没跑，所以系统只把动作记下来，不下发。手段清单是空的，我们不假装它是满的。」</a:t>
            </a:r>
          </a:p>
          <a:p>
            <a:r>
              <a:t>   再指 APPLIES TO 那一行：「动作落在一个 market-time 单元或者一个合作机构的模板上，不落在任何一笔贷款上。」</a:t>
            </a:r>
          </a:p>
          <a:p>
            <a:r>
              <a:t>   第 4 栏 MONITOR：主指标、次指标、护栏，加一条 revert 规则。</a:t>
            </a:r>
          </a:p>
          <a:p>
            <a:endParaRPr/>
          </a:p>
          <a:p>
            <a:r>
              <a:t>   最后停在底部黑条上，慢一点：**No borrower score. No automatic penalty.**</a:t>
            </a:r>
          </a:p>
          <a:p>
            <a:endParaRPr/>
          </a:p>
          <a:p>
            <a:r>
              <a:t>⚠️ 口径纪律：</a:t>
            </a:r>
          </a:p>
          <a:p>
            <a:r>
              <a:t>· 界面上的 saturation index = √(C 百分位 × H 百分位)，是分诊用的监测启发式，**不是模型系数**。它指向的模型量是 C×H = 0.102 (p=.003)。</a:t>
            </a:r>
          </a:p>
          <a:p>
            <a:r>
              <a:t>· 「在架 ≥250 笔」「H 百分位 ≥50」「存活率 90/80」是运营门槛，不是估计出来的临界值。</a:t>
            </a:r>
          </a:p>
          <a:p>
            <a:r>
              <a:t>· 全部数据来自 2016–2024 训练样本；2025 完全留出；均为条件关联。</a:t>
            </a:r>
          </a:p>
          <a:p>
            <a:r>
              <a:t>· 界面刻意不显示各日实际中位筹款时长——18 号批次结构不同（71% 菲律宾），未调整量拿来对比会误导。</a:t>
            </a:r>
          </a:p>
          <a:p>
            <a:endParaRPr/>
          </a:p>
          <a:p>
            <a:r>
              <a:t>⚠️ 兜底：网络不通直接翻 A11。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【A1】被问「你们到底回答了哪个 RQ」时翻到这页。一句话版本：现在的拥挤×相似有代价；过去的重复没有稳健证据；压力随时间变形；不同市场的同质性来源不同。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RQ2 行由 "No robust evidence — the recent-saturation interval crosses zero." 改为 "Signal present, no net drag — the joint restriction rejects, but the components offset."</a:t>
            </a:r>
          </a:p>
          <a:p>
            <a:r>
              <a:t>· 原因：提案原文是 "RQ2 jointly tests V, G and V×G"，即 β_V=β_G=β_V×G=0 的联合约束检验。该检验实际以 F(3,45)=5.93、p=.002 拒绝。原措辞会让读过提案的评委以为联合检验跑过且是 null。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【A2】最可能被问「为什么只用筹满的贷款」。</a:t>
            </a:r>
          </a:p>
          <a:p>
            <a:endParaRPr/>
          </a:p>
          <a:p>
            <a:r>
              <a:t>回答：这份官方提取物里每一行都有 raisedDate，`status` 只有 funded（1,452,203）和 refunded（1,637），没有 expired——未募满的贷款整条不在数据里。所以：</a:t>
            </a:r>
          </a:p>
          <a:p>
            <a:r>
              <a:t>· 我们分析的是「已募满贷款的筹款时长」，不能解释成「一个故事能不能筹到钱」。</a:t>
            </a:r>
          </a:p>
          <a:p>
            <a:r>
              <a:t>· 也正因为没有缺失的 raisedDate，真正的右删失在这份数据里不可识别，**我们没有拟合 AFT 删失模型**（原稿说做了，是错的，已删）。</a:t>
            </a:r>
          </a:p>
          <a:p>
            <a:r>
              <a:t>· 2025 年末的右截断用另一种方式处理：把 `2025_all_observed` 与 `2025_at_least_35d_followup`（123,489 笔）并排报告，读者自己看结论是否依赖切法。中位时长从完整随访的 65.4h 掉到最后 72 小时的 5.7h，就是截断的指纹。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【A3】技术评委最可能停留的一页。</a:t>
            </a:r>
          </a:p>
          <a:p/>
          <a:p>
            <a:r>
              <a:t>五行都对应交付包 `outputs/robustness.csv` 里的实际产物：</a:t>
            </a:r>
          </a:p>
          <a:p>
            <a:r>
              <a:t>· posting_14d_precommitted  C×H = 0.0893 (p = 4.6e-05)</a:t>
            </a:r>
          </a:p>
          <a:p>
            <a:r>
              <a:t>· posting_16d_calibrated    C×H = 0.0994 (p = 6.3e-06)</a:t>
            </a:r>
          </a:p>
          <a:p>
            <a:r>
              <a:t>· minimum_pool_5 / _20      C×H = 0.1013 / 0.0986</a:t>
            </a:r>
          </a:p>
          <a:p>
            <a:r>
              <a:t>· active_residual_text      C×H = 0.0523 (p = .129)</a:t>
            </a:r>
          </a:p>
          <a:p>
            <a:r>
              <a:t>· description robustness    C×H = 0.1298 (p = 1.7e-07)，V×G = −0.0136 (p = .376)</a:t>
            </a:r>
          </a:p>
          <a:p>
            <a:r>
              <a:t>另有 completed_only_lag 0.1025、exclude_refunded 0.1017、单向聚类 0.1017（country）/0.1017（week）。</a:t>
            </a:r>
          </a:p>
          <a:p/>
          <a:p>
            <a:r>
              <a:t>⚠️ 本页原先列出的「exact-date pools」「半衰期 3 / 14 天敏感性」「前向安慰剂检验」在交付包内没有任何脚本、CSV 或日志，已删除。半衰期在 `src/build_pool_features.py` 里冻结为 7 天，没有跑过敏感性；前向窗口安慰剂也没有估过。如果评委问「有没有做安慰剂」，正确回答是：没做，模拟阶段设计过前向窗口检验，但最终流水线未纳入；我们能提供的是上面五项预注册的规格变动。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Result 列补上每一行的 V×G（原先五行只报 C×H，而 residual 下 V×G 恰恰变强，只报一半属选择性呈现）。全部取自 `outputs/robustness.csv`：</a:t>
            </a:r>
          </a:p>
          <a:p>
            <a:r>
              <a:t>  posting_14d  C×H 0.0893 (p=4.6e-05) · V×G 0.0260 (p=.110)</a:t>
            </a:r>
          </a:p>
          <a:p>
            <a:r>
              <a:t>  posting_16d  C×H 0.0994 (p=6.3e-06) · V×G 0.0176 (p=.289)</a:t>
            </a:r>
          </a:p>
          <a:p>
            <a:r>
              <a:t>  n≥5 / n≥20   C×H 0.1013 / 0.0986 · V×G 0.0386 (p=.0037) / 0.0537 (p=.0003)</a:t>
            </a:r>
          </a:p>
          <a:p>
            <a:r>
              <a:t>  residual     C×H 0.0523 (p=.129) · V×G 0.0585 (p=.0007)</a:t>
            </a:r>
          </a:p>
          <a:p>
            <a:r>
              <a:t>  description  C×H 0.1298 (p=1.7e-07) · V×G −0.0136 (p=.376)</a:t>
            </a:r>
          </a:p>
          <a:p>
            <a:r>
              <a:t>· 值得主动点破的一句：**14 天与 16 天池是「只依赖发布时间」的外生池，不受其他贷款结局污染。它们给出 0.089 / 0.099，与主结果同向同量级——这是对「主动池内生」这个最硬质疑的正面回应。**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【A4】若评委问「是不是只是没测出来」——承认，然后立刻给建设性方案：市场层面的重复是个体曝光的弱代理，要真正检验 wear-out 需要 lender 层面的浏览日志，这正是 A10 里向平台提的数据需求。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标题改为 "RQ2: a rejected joint restriction, and a scenario that nets to zero"。</a:t>
            </a:r>
          </a:p>
          <a:p>
            <a:r>
              <a:t>· 新增一行：**Joint restriction  V = G = V × G = 0 rejected, p = .002**。这是提案预注册的那个检验（提案原文 "RQ2 jointly tests V, G and V×G"），本次实际估计：**F(3,45) = 5.93, p = .0017；χ²(3) = 17.78, p = .0005**（主模型规格，n=1,234,131，country+week 双向聚类）。交付包里原先没有这个检验的产物。</a:t>
            </a:r>
          </a:p>
          <a:p>
            <a:r>
              <a:t>· 原 "Joint test — not distinguishable from zero" 改为 "Joint scenario — interval covers zero"。那一行说的是线性组合对照，不是联合约束检验，用 "joint test" 是越界。</a:t>
            </a:r>
          </a:p>
          <a:p>
            <a:r>
              <a:t>· 单项系数（被直接问就报）：V = 0.0497 (p=.485)、G = −0.1385 (p=.022)、**V×G = 0.0417 (p=.0037, CI 0.014–0.069)**。null 来自 G 与 V×G 方向相反、互相抵消。</a:t>
            </a:r>
          </a:p>
          <a:p>
            <a:r>
              <a:t>· "L sits at the fundraising cap" 改为 "L is set at the 95th percentile of training funding duration"。L=35 天来自训练样本筹资时长 P95 = 826.89h = 34.45 天（`funding_duration_quantiles_train_2016_2024.csv`），不是平台募资期限上限；约 5% 的贷款第 35 天仍在架，原来的 "by construction" 站不住。</a:t>
            </a:r>
          </a:p>
          <a:p>
            <a:r>
              <a:t>· 完整答法：**滞后池有信号，我们没有藏——预注册联合检验 p=.002 拒绝。但 G 是负的、V×G 是正的，两者抵消，所以 P25→P75 的净移动 −1.4%、区间从 −15.8% 到 +15.4%。我们的结论是「没有可观测规模的净磨损拖累」，不是「磨损不存在」。要真正检验 wear-out 需要 lender 级浏览日志——见 A10。**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【A5】支撑 Slide 4 的措辞纪律。</a:t>
            </a:r>
          </a:p>
          <a:p/>
          <a:p>
            <a:r>
              <a:t>核心：boilerplate 不是「被惩罚的文字」，而是「让你和同页项目撞脸」的机制。表格第三行是关键——加入 C、H、C×H 后 boilerplate share 本身的关联消失（p=.26）。</a:t>
            </a:r>
          </a:p>
          <a:p/>
          <a:p>
            <a:r>
              <a:t>余弦数字出处：`outputs/text_selection_diagnostics.csv`，5% 训练样本、10,000 组随机同板块配对，use = 0.259、description = 0.409。原稿写 0.44 是错的，已改成 0.41。</a:t>
            </a:r>
          </a:p>
          <a:p>
            <a:r>
              <a:t>两个字段都有 97.3% 非空，中位 token 数 use = 10、description = 93——短字段能区分，长字段几乎都长一个样。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"Rule" 一行由 "high-frequency verbatim sequences" 改为 "verbatim 5-grams in ≥500 loans, ≥3 countries"。</a:t>
            </a:r>
          </a:p>
          <a:p>
            <a:r>
              <a:t>· 完整规则（`src/text_pipeline.py`）：先做隐私掩码，再在**只用训练期**的数据上找 5-gram，要求同时满足 ① 出现在 ≥ max(500, 训练文档数的 0.05%) 篇文档里；② **横跨 ≥3 个国家**。通过的短语固化成清单（use 侧 409 条，`boilerplate_like_phrases.csv`），在见到任何结果之前冻结。</a:t>
            </a:r>
          </a:p>
          <a:p>
            <a:r>
              <a:t>· **「≥3 个国家」是这页的关键**：它保证被判为模板的是跨合作机构复用的措辞，而不是某个国家的自然表达。数据里没有 partner identifier，这个条件是最接近「机构层面」的代理。被问「你怎么知道是模板不是当地说法」时，这就是答案。</a:t>
            </a:r>
          </a:p>
          <a:p>
            <a:r>
              <a:t>· 口径提醒：0.26 / 0.41 出自 5% 训练诊断抽样（`text_selection_diagnostics.csv`）；97.31% 非空、use 10 token vs description 93 token 出自全样本（`text_field_diagnostics.csv`）。另：相似度用 unigram+bigram 的 hashed TF-IDF，boilerplate 检测用 5-gram，两套 n-gram 服务两个目的。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【A6】⚠️ 图形占位框：从分析 notebook 导出四面板日历图贴进虚线框，每个面板最好同时画「新上架」和「raisedDate 完成」两条线。</a:t>
            </a:r>
          </a:p>
          <a:p>
            <a:r>
              <a:t>讲解强调两点：两条脉冲都在供给侧；月内 Active saturation 由「进来的」减「出去的」决定，完成脉冲是释放阀不是另一种拥挤。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**图已重画**：原图左下「Day of week」面板的星期标签整体错位一天——柱子的数值与 DuckDB `EXTRACT(DOW)` 的 0–6 编码（0 = 星期日）逐位吻合，但标签是从 Mon 写起的。</a:t>
            </a:r>
          </a:p>
          <a:p>
            <a:r>
              <a:t>· 正确形态（建模样本 1,367,540 笔，UTC）：**Mon 1.037 · Tue 1.082 · Wed 1.039 · Thu 1.036 · Fri 1.049 · Sat 0.862 · Sun 0.896**。即**周二最高、周六最低、周日次低**——一个干净的「周末停摆」节律，正好支撑底栏那句 "supply-side rhythms — not lender mood"（合作机构后台不在周末上传）。</a:t>
            </a:r>
          </a:p>
          <a:p>
            <a:r>
              <a:t>· "Net effect" 一条由 "day 18 is the only day arrivals clearly exceed completions" 改为 "day 18 carries almost all of the month's net accumulation"。原因：2024–25 太平洋口径下 17 号净流入 +242 条/日，15、16、24 号也为正；18 号（+1,208）是压倒性的，但不是唯一。</a:t>
            </a:r>
          </a:p>
          <a:p>
            <a:r>
              <a:t>· "Week / hour / month" 改为 "Week / hour  0.86–1.08 (Tue high, Sat low) and 0.51–1.70"。</a:t>
            </a:r>
          </a:p>
          <a:p>
            <a:r>
              <a:t>· 口径提醒（同页两套时区）：日历面板用**太平洋**日历日；星期与小时面板用 **UTC** 的 posting_dow / posting_hour。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【A7】⚠️ 图形占位框：贴逐年 C×H 边际效应及置信区间。
口播纪律：年度交互是把主效应再切十份，功效天然低得多，所以只做描述性刻画，明确标 exploratory。COVID、auto-lending 只能作为背景，不能当作已证明的原因。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【A8】⚠️ 图形占位框：贴行业/国家分群估计与等价区间。</a:t>
            </a:r>
          </a:p>
          <a:p>
            <a:r>
              <a:t>若被问「注意力市场到底多大」——诚实回答：选了同板块作为主定义，三种定义的正式比较还没做完，不宣称已证明边界。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提前说破 Housing 的张力，别等着被问：这张森林图里 **Housing 的 C×H = −0.092（CI −0.119 ~ −0.064，p = 3.7e-07）**，与全平台 +0.102 反号（Construction −0.513 同样反号），而正文 S7 恰恰把 Housing 立为 Type A 的旗舰例子。</a:t>
            </a:r>
          </a:p>
          <a:p>
            <a:r>
              <a:t>· 答法：**Housing 的同质性是真实的产品同质，这一点很确定；但 Housing 的 C×H 反号，所以它恰恰是最该先做实验、而不是先动手的市场。这也正是为什么整套东西是 Phase 1 先验证、Phase 2 才运行。**</a:t>
            </a:r>
          </a:p>
          <a:p>
            <a:r>
              <a:t>· 读图技巧：分国家那一栏样本量越小点估计越大、区间越宽；Philippines（430k）只有 0.035 但区间最窄且不含 0——异质性是真的，同时小样本组的大系数不能当真。</a:t>
            </a:r>
          </a:p>
          <a:p>
            <a:r>
              <a:t>· 等价带 ±ln(1.05) 画在**系数轴**上，含义是「C×H 变动 1 个单位（1 SD × 1 SD）带来 &lt;5% 的期望 FundingHours 变化」，不对应任何一个真实情景（真实 P25→P75 只让 z_C·z_H 变化约 0.25 个单位）。被问到要说清它是系数尺度的判据。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【A9】可以在 Slide 7 之后主动翻出来，也可以留到 Q&amp;A。一句话：模型在个体层面预测失败，恰恰是我们不做借款人评分的最强理由——把「我们很谦虚」变成「我们有证据地谦虚」。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【A10】收尾用。若评委质疑因果，用这页转成建设性：我们知道边界在哪，也知道要拿到什么数据才能突破；在拿到之前，正确的动作是做一次可逆的随机实验，而不是上线一个评分。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Hoberg &amp; Phillips (2016) 已标 †，并加注 "read during analysis; not in the submitted proposal"。已比对提案 PDF 第 6 页原件：提案的 7 条参考文献是 Chae (2019)、Kiva (n.d.)、Ly &amp; Mason (2012)、Pieters (1999)、UNSW (2026)、Wang (2024)、Williamson (2021)，**不含 Hoberg &amp; Phillips**。文献本身真实（JPE 124(5)，DOI 10.1086/688176）。</a:t>
            </a:r>
          </a:p>
          <a:p>
            <a:r>
              <a:t>· ⚠️ **Wang, R. (2024), AMPROC 2024(1), 15320** 是全表唯一一条无法独立确认的：DOI 格式符合 AOM 规范，AOM Proceedings 摘要通常不被外部索引收录，所以查不到不等于不存在。**上台前请作者本人再确认一次。**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【A11】demo 挂了就翻到这一页，讲和 demo 完全一样的话。</a:t>
            </a:r>
          </a:p>
          <a:p>
            <a:endParaRPr/>
          </a:p>
          <a:p>
            <a:r>
              <a:t>Housing，day 14：在架 127 笔，低于 250 的运营门槛 → WATCH ONLY。相似度再高，没有活跃替代品就没有人可以输给。</a:t>
            </a:r>
          </a:p>
          <a:p>
            <a:r>
              <a:t>Housing，day 18：在架 298 笔，H 从 P69 跳到 P95，去模板后仍剩 100% → TYPE A，产品同质，手段是错峰与轮换曝光。</a:t>
            </a:r>
          </a:p>
          <a:p>
            <a:r>
              <a:t>两帧之间借款人什么都没变，变的是上架批次。</a:t>
            </a:r>
          </a:p>
          <a:p>
            <a:endParaRPr/>
          </a:p>
          <a:p>
            <a:r>
              <a:t>如果还想再举一个对照：Retail 在 18 号 H 同样高（P84），但去掉 recurring language 只剩 58% → TYPE B，流程同质，手段是合作机构模板变体。</a:t>
            </a:r>
          </a:p>
          <a:p>
            <a:endParaRPr/>
          </a:p>
          <a:p>
            <a:r>
              <a:t>⚠️ 250 笔／P50／90%-80% 这三条是我们设的运营阈值，不是估计出来的临界值。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615" y="1508760"/>
            <a:ext cx="3566160" cy="3566160"/>
          </a:xfrm>
          <a:prstGeom prst="ellipse">
            <a:avLst/>
          </a:prstGeom>
          <a:ln w="12700">
            <a:solidFill>
              <a:srgbClr val="1D5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79815" y="1965960"/>
            <a:ext cx="2651760" cy="2651760"/>
          </a:xfrm>
          <a:prstGeom prst="ellipse">
            <a:avLst/>
          </a:prstGeom>
          <a:ln w="12700">
            <a:solidFill>
              <a:srgbClr val="236B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37015" y="2423160"/>
            <a:ext cx="1737360" cy="1737360"/>
          </a:xfrm>
          <a:prstGeom prst="ellipse">
            <a:avLst/>
          </a:prstGeom>
          <a:ln w="19050">
            <a:solidFill>
              <a:srgbClr val="9BC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MARKETING ANALYTICS HACKATHON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story</a:t>
            </a:r>
            <a:endParaRPr lang="en-US" sz="46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the same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does not persuade alone. Its funding speed depends on what surrounds it, when it appears, and why neighbouring stories sound the same.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46320"/>
            <a:ext cx="4023360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GUYS  ·  1,453,846 Kiva loans, 2016–2025  ·  2025 held out</a:t>
            </a:r>
            <a:endParaRPr lang="en-US" sz="17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TEAM MEMBER NAMES]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THE PUZZLE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funded faster — even as stories became more alike.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HOURS · Q1–Q3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397764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121.2 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3090672"/>
            <a:ext cx="1028209" cy="274320"/>
          </a:xfrm>
          <a:prstGeom prst="roundRect">
            <a:avLst>
              <a:gd name="adj" fmla="val 166667"/>
            </a:avLst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 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803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sample, Q1–Q3 only, so year-end truncation cannot flatter 2025.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YEAR'S MARKET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41401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81635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same-sector loans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112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  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9136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cosine of the decade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11696" y="45720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711696" y="4681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higher Homogeneity — yet fewer hours.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alone cannot explain lender response.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rebuilt the choice set each lender could 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53128" y="173736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4453128" y="1737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LOAN  ·  posted at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9048" y="2249424"/>
            <a:ext cx="0" cy="201168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91256" y="2450592"/>
            <a:ext cx="5815584" cy="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91256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06840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L TO L+29 DAYS BEFORE 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earlier count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52144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   Recent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off the page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4224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11696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AT 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331927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active same-sector count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cosine to that pool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1239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H   Active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fundable right now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FundingHours (fundraisingDate → raisedDate)  ·  1.23M training loans, 2016–2024  ·  2025 held 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sector, same week, same country — only the narrative environment differs.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RQ1 &amp; RQ2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hurts when it creates live substitutes.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JOINT MOVE IN C AND 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+124%</a:t>
            </a:r>
            <a:r>
              <a:rPr lang="en-US" sz="26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×2.24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conditional FundingHours when Volume C and Homogeneity H move together from P25 to P75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+1 SD IN 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54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+42.5%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+60.7%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crowded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JOINT MOVE IN V AND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0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P25 → P75 move on V, G and V × G, given the current pool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895344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66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 pp  funded within 72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4700016"/>
            <a:ext cx="4206240" cy="146304"/>
          </a:xfrm>
          <a:prstGeom prst="roundRect">
            <a:avLst>
              <a:gd name="adj" fmla="val 312500"/>
            </a:avLst>
          </a:prstGeom>
          <a:solidFill>
            <a:srgbClr val="D5DD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41779" y="4572000"/>
            <a:ext cx="0" cy="402336"/>
          </a:xfrm>
          <a:prstGeom prst="line">
            <a:avLst/>
          </a:prstGeom>
          <a:noFill/>
          <a:ln w="25400">
            <a:solidFill>
              <a:srgbClr val="C446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−15.8%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84579" y="4901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collision is supported. Recent saturation leaves no net drag.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Retransformed from log(1 + FundingHours). Associations, not treatment effects.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WHERE SAMENESS COMES FROM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sameness is partly platform-made — and it bites at the scan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STAGE · THE SHORT “USE”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55264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FundingHours moving the use statement from no recurring language to all of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950208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−3.37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17136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description, boilerplate is near-universal — and shows no independent association.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SATURATION C × 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7744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0.102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.003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11696" y="2724912"/>
            <a:ext cx="2051914" cy="274320"/>
          </a:xfrm>
          <a:prstGeom prst="roundRect">
            <a:avLst>
              <a:gd name="adj" fmla="val 16666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11696" y="320040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text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0.052   p = .129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11696" y="3547872"/>
            <a:ext cx="1046074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4041648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169664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roughly halves and loses conventional significance — a shift in magnitude, with no formal cross-model test.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may amplify similarity — but borrowers should not carry the burden.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arrives in platform-made pulses: arrivals in, completions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2016–2025 the source of similarity moved — similarity at its decade low in 2018, a boilerplate hump in 2020–21, and by 2025 Volume is down while Homogeneity peaks.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new listings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5876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420624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· loans reaching raisedDate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4909" y="3678742"/>
            <a:ext cx="320040" cy="9773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4909" y="3831336"/>
            <a:ext cx="320040" cy="30169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4606" y="3678656"/>
            <a:ext cx="320040" cy="9781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4606" y="3831336"/>
            <a:ext cx="320040" cy="19020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454304" y="3667172"/>
            <a:ext cx="320040" cy="10930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54304" y="3831336"/>
            <a:ext cx="320040" cy="15516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44002" y="3677812"/>
            <a:ext cx="320040" cy="9866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4002" y="3831336"/>
            <a:ext cx="320040" cy="13514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33699" y="3682565"/>
            <a:ext cx="320040" cy="939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3699" y="3831336"/>
            <a:ext cx="320040" cy="13278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23397" y="3683391"/>
            <a:ext cx="320040" cy="930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623397" y="3831336"/>
            <a:ext cx="320040" cy="10248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13095" y="3671011"/>
            <a:ext cx="320040" cy="10546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013095" y="3831336"/>
            <a:ext cx="320040" cy="10575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02792" y="3676091"/>
            <a:ext cx="320040" cy="1003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2792" y="3831336"/>
            <a:ext cx="320040" cy="1080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2490" y="3696649"/>
            <a:ext cx="320040" cy="7982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2490" y="3831336"/>
            <a:ext cx="320040" cy="10642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182188" y="3691725"/>
            <a:ext cx="320040" cy="8474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182188" y="3831336"/>
            <a:ext cx="320040" cy="8893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1885" y="3691794"/>
            <a:ext cx="320040" cy="8467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71885" y="3831336"/>
            <a:ext cx="320040" cy="763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1583" y="3697648"/>
            <a:ext cx="320040" cy="78824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61583" y="3831336"/>
            <a:ext cx="320040" cy="8910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1281" y="3691484"/>
            <a:ext cx="320040" cy="8498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51281" y="3831336"/>
            <a:ext cx="320040" cy="89534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40978" y="3697854"/>
            <a:ext cx="320040" cy="7861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40978" y="3831336"/>
            <a:ext cx="320040" cy="8015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30676" y="3686783"/>
            <a:ext cx="320040" cy="8968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30676" y="3831336"/>
            <a:ext cx="320040" cy="789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0374" y="3692465"/>
            <a:ext cx="320040" cy="840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20374" y="3831336"/>
            <a:ext cx="320040" cy="6987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910072" y="3527550"/>
            <a:ext cx="320040" cy="24892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10072" y="3831336"/>
            <a:ext cx="320040" cy="13896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99769" y="2757003"/>
            <a:ext cx="320040" cy="10194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99769" y="3831336"/>
            <a:ext cx="320040" cy="47358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89467" y="3553429"/>
            <a:ext cx="320040" cy="22304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89467" y="3831336"/>
            <a:ext cx="320040" cy="41564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079165" y="3582131"/>
            <a:ext cx="320040" cy="19434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79165" y="3831336"/>
            <a:ext cx="320040" cy="2777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68862" y="3577586"/>
            <a:ext cx="320040" cy="19888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68862" y="3831336"/>
            <a:ext cx="320040" cy="2433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858560" y="3576363"/>
            <a:ext cx="320040" cy="20010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58560" y="3831336"/>
            <a:ext cx="320040" cy="26453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48258" y="3570733"/>
            <a:ext cx="320040" cy="20573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48258" y="3831336"/>
            <a:ext cx="320040" cy="23745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637955" y="3566807"/>
            <a:ext cx="320040" cy="209665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37955" y="3831336"/>
            <a:ext cx="320040" cy="1976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027653" y="3603310"/>
            <a:ext cx="320040" cy="17316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027653" y="3831336"/>
            <a:ext cx="320040" cy="18413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417351" y="3623644"/>
            <a:ext cx="320040" cy="15282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417351" y="3831336"/>
            <a:ext cx="320040" cy="19485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07048" y="3603103"/>
            <a:ext cx="320040" cy="1733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07048" y="3831336"/>
            <a:ext cx="320040" cy="1747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196746" y="3588760"/>
            <a:ext cx="320040" cy="18771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1196746" y="3831336"/>
            <a:ext cx="320040" cy="15651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1221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22860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2566786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529467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8022554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750438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arrivals 5.9× — completions only 2.8×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drawn to the 2024–25 daily index; the fitted series is in Appendix A6.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peak on the same day — arrivals spike far higher than completions release.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Homogeneity, two different market problems.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why stories look alike before choosing the lever.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comparison of mean focal-to-pool cosine on raw versus recurring-language-removed text — not a per-sector re-estimation. Segment estimates are far less precise, and the market boundary is a choice, not a proven fact.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35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07808" y="170078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607808" y="348386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186537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BCB3B"/>
                </a:solidFill>
                <a:latin typeface="Calibri"/>
              </a:rPr>
              <a:t>TYPE A · PRODUCT SAMENESS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157984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FE3D6"/>
                </a:solidFill>
                <a:latin typeface="Calibri"/>
              </a:rPr>
              <a:t>Housing, Arts, Transportation — the resemblance survives residual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2596896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E9A88"/>
                </a:solidFill>
                <a:latin typeface="Calibri"/>
              </a:rPr>
              <a:t>LEVER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77063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Stagger releases · rotate exposure · diversify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64845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A4C93"/>
                </a:solidFill>
                <a:latin typeface="Calibri"/>
              </a:rPr>
              <a:t>TYPE B · PROCESS SAMENESS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941063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6655D"/>
                </a:solidFill>
                <a:latin typeface="Calibri"/>
              </a:rPr>
              <a:t>Retail, Food, Clean Energy — recurring language carries the resemblance.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4379976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A9691"/>
                </a:solidFill>
                <a:latin typeface="Calibri"/>
              </a:rPr>
              <a:t>LEVER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55371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2211A"/>
                </a:solidFill>
                <a:latin typeface="Calibri"/>
              </a:rPr>
              <a:t>Partner-approved template variants — not longer borrower stories</a:t>
            </a:r>
          </a:p>
        </p:txBody>
      </p:sp>
      <p:pic>
        <p:nvPicPr>
          <p:cNvPr id="40" name="Picture 39" descr="fig_s7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IMPLICATIONS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Validate first, then operate — the demo is the second half.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700784"/>
            <a:ext cx="4480560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1920240"/>
            <a:ext cx="3858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A9701A"/>
                </a:solidFill>
                <a:latin typeface="Calibri"/>
              </a:rPr>
              <a:t>PHASE 1 · VALIDATE  ·  BEFORE ANYTHING 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2377440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2670048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Staggered release vs BAU; rotated vs normal exposure; template variants in high-boilerplate markets. Randomised by market-time cell or partner batch.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3602736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3895344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Pre-registered read-out on FundingHours and the 72-hour rate, against fairness, displacement and workload guardrails.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4700016"/>
            <a:ext cx="3858768" cy="10972"/>
          </a:xfrm>
          <a:prstGeom prst="rect">
            <a:avLst/>
          </a:prstGeom>
          <a:solidFill>
            <a:srgbClr val="D5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4791456"/>
            <a:ext cx="3858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01A"/>
                </a:solidFill>
                <a:latin typeface="Calibri"/>
              </a:rPr>
              <a:t>Only levers that clear this gate enter the catalogue.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127248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9BCB3B"/>
                </a:solidFill>
                <a:latin typeface="Cambria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5312" y="1700784"/>
            <a:ext cx="5696712" cy="3419856"/>
          </a:xfrm>
          <a:prstGeom prst="roundRect">
            <a:avLst>
              <a:gd name="adj" fmla="val 5000"/>
            </a:avLst>
          </a:prstGeom>
          <a:solidFill>
            <a:srgbClr val="175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92024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9BCB3B"/>
                </a:solidFill>
                <a:latin typeface="Calibri"/>
              </a:rPr>
              <a:t>PHASE 2 · OPERATE  ·  THE LIVE SYSTEM — WHAT THE DEMO SHOWS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267712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SENSE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523744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C, H and the arrivals-minus-completions gap, read by market and by day.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2944368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DIAGNOSE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200400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Product sameness, process sameness — or high H with no live substitutes.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621024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77056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Apply the cleared lever for that diagnosis, or hold. Never at borrower level.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429768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MONITOR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4553712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The same metrics and guardrails, running continuously, with a revert rule.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No borrower score.    No automatic penalty.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126480"/>
            <a:ext cx="1023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9BCB3B"/>
                </a:solidFill>
                <a:latin typeface="Cambria"/>
              </a:rPr>
              <a:t>Next: Phase 2, running on the real 2016–2024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E3B2B"/>
                </a:solidFill>
                <a:latin typeface="Cambria"/>
              </a:rPr>
              <a:t>Kiva Pulse — Phase 2, the live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market, different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on day 14: 127 live loans, watch only. Move to day 18 and the pool triples to 298 — the same market becomes an intervention. Pressure is a property of the calendar, not of the borrower.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WHICH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H, different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and Retail both sit high on Homogeneity. Strip the recurring language and Retail loses 42% of it; Housing loses none. Same reading, opposite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WHAT IT NEVER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It acts on the market, never on the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The lever lands on a market-time cell or a Lending Partner’s template. No number is attached to a loan, no borrower is asked to rewrite anything, and every action carries a revert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Watch what changes when I move the day — and what never appears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No Phase 1 pilot has run, so every lever on screen shows as shadow mode. Static read-out in Appendix A11.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questions, four answers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we defend  ·  outcome: FundingHours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 Active narrative saturation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 × H adds funding hours. Volume and Homogeneity reinforce each other.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 Competition vs wear-out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present, no net drag — the joint restriction rejects, but the components offset.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 Evolution of the two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constant — it shifts by year and arrives as listing and completion pulses.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  Segment boundaries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uniform — product sameness and process sameness need different levers.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depends on when and where a story appears — so the tool must be dynamic.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comparisons. Conditional associations within a fixed-effects structure, not causal effects.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boundaries and the raised-only limit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225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1,453,846 loans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Jan 2016 – 31 Dec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8529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≈1.23M training loans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383280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holdout, never touched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913632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sector, minimum size ten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444398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masked; TF–IDF unigram + bigram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696" y="2459736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322576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Raised-only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FundingHours exists only for funded loans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3154680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017520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identity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wear-out is tested at market level only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id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handled by boilerplate decomposition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borrower quality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reported at borrower level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estimates describe funded stories — not whether a story funds at all.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raisedDate, so right censoring cannot be identified and no AFT model is fitted.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and what happens when we change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7739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 + FundingHours) = b0 + b1·C + b2·H + b3·(C × H)</a:t>
            </a:r>
            <a:endParaRPr lang="en-US" sz="17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b4·V + b5·G + b6·(V × G) + γ·X + FE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1488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 ·  C × H  and  V × 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Precommitted 14-day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0.089, p &lt; .001 · V × G 0.026, n.s. — outcome-independent pool agrees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P75-calibrated 16-day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0.099, p &lt; .001 · V × G 0.018, 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threshold n ≥ 5 / n ≥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0.101 / 0.099 · V × G 0.039 / 0.054 — direction and size hold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0.102 → 0.052, loses significance; V × G 0.042 → 0.058, p &lt; 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instead of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0.130, p &lt; 1e-6; V × G turns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activity and week fixed effects; SE clustered by country and week. No cross-model difference test; the 7-day decay half-life is frozen and no forward-window falsification was estimated.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a rejected joint restriction, and a scenario that nets to zero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LAGGED-POOL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59152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count, L to L+29 days before t, 7-day half-life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145536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 to that same pool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931920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saturation — RQ2 tests all three jointly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the 95th percentile of funding duration, so lagged loans have nearly all left the page.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04288"/>
            <a:ext cx="4562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6382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P25 → P75 move in conditional FundingHours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694176"/>
            <a:ext cx="4562856" cy="0"/>
          </a:xfrm>
          <a:prstGeom prst="line">
            <a:avLst/>
          </a:prstGeom>
          <a:noFill/>
          <a:ln w="12700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37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36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−15.8% to +15.4%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41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40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rate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−0.5 pp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45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44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scenario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interval covers zero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lagged channel carries signal — but its components offset, leaving no net drag.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scenario is not proof of absence; market repetition is a weak proxy for individual exposure — see A10.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711696" y="49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1"/>
          <p:cNvSpPr txBox="1"/>
          <p:nvPr/>
        </p:nvSpPr>
        <p:spPr>
          <a:xfrm>
            <a:off x="6949440" y="48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restriction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rejected, p = .002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detection, and why the “use” field carries the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BOILERPLATE IS IDENTIFIED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04288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5-grams, ≥500 loans, ≥3 countries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798064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before any outcome was seen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291840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covariate, and residual-text variant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COSINE, RANDOM SAME-SECTOR PAIRS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4736" y="2359152"/>
            <a:ext cx="1664208" cy="256032"/>
          </a:xfrm>
          <a:prstGeom prst="roundRect">
            <a:avLst>
              <a:gd name="adj" fmla="val 178571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9985248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834640"/>
            <a:ext cx="2624305" cy="256032"/>
          </a:xfrm>
          <a:prstGeom prst="roundRect">
            <a:avLst>
              <a:gd name="adj" fmla="val 178571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37392" y="2779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5526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scan-stage statement separates loans; the description already reads as near-identical.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saturation is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halves; loses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 share as covariate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association given C, H, 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appears to work through resemblance to what is on the page at the same time.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calendar view: arrivals and completions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359152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in 2024–25 (5.9×); day 17 across the decade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2095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07238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peaks on the same day, 2.8× — one day wider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392277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3785616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carries almost all of the month's net accumulation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46360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56448" y="4498848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hour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0.86–1.08 (Sat low) and 0.51–1.70 — much smaller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are supply-side rhythms — not lender mood.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shows a schematic of the mechanism; this is the fitted series.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600" dirty="0"/>
          </a:p>
        </p:txBody>
      </p:sp>
      <p:pic>
        <p:nvPicPr>
          <p:cNvPr id="20" name="Picture 19" descr="fig_a6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by year: the source of similarity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H; pressure comes from Volume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wider pool; boilerplate lifts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boilerplate normal, C down, H highest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year label as context, not as a proven cause.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interactions split the main effect ten ways — reported as descriptive and exploratory.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600" dirty="0"/>
          </a:p>
        </p:txBody>
      </p:sp>
      <p:pic>
        <p:nvPicPr>
          <p:cNvPr id="18" name="Picture 17" descr="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and the boundary of the attention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MARKETS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coarse; absorbed by week FE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same-sector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headline definition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activity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how partners batch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present the sector definition as a choice, not as a proven boundary.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interaction test first; a 5% change in expected FundingHours is the smallest meaningful effect.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600" dirty="0"/>
          </a:p>
        </p:txBody>
      </p:sp>
      <p:pic>
        <p:nvPicPr>
          <p:cNvPr id="18" name="Picture 17" descr="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holdout — why this cannot be a borrower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HOLDOUT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C, H, C × H, V, G and V × G did not stably improve prediction of an individual 2025 loan's FundingHours.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02736"/>
            <a:ext cx="4562856" cy="0"/>
          </a:xfrm>
          <a:prstGeom prst="line">
            <a:avLst/>
          </a:prstGeom>
          <a:noFill/>
          <a:ln w="12700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present and interpretable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stable enough to act 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1696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score borrowers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holdout does not support a loan-level score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11696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monitor markets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saturation is stable as a market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4078224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randomise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trigger turns an association into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to predict individual loans is why Kiva Pulse is a trigger, not a rating.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boundaries, the data Kiva would need, and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observational pools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335584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exposure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view history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" y="421538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 levels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relative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4314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36922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 WOULD NEED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6922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74666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impressions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was shown, in what 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36922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74666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Lender-level views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test wear-out properly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36922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4666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institution vs narrative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701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4309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4309" y="2395728"/>
            <a:ext cx="2917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&amp; Mason (2012)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Pieters et al. (1999)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 et al. (2019)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Hoberg &amp; Phillips (2016) †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 et al. (2021)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(2024)  ·  UNSW (2026)</a:t>
            </a:r>
            <a:endParaRPr lang="en-US" sz="17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read during analysis; not in the submitted proposal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asking Kiva to believe an estimate. We are asking it to run one experiment.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reversible, measurable within one listing cycle, and neutral to the borrower's own words.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APPENDIX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E3B2B"/>
                </a:solidFill>
                <a:latin typeface="Cambria"/>
              </a:rPr>
              <a:t>The demo, in two frames: the same market, four days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14  →  WATCH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27064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18  →  TYPE A · PRODUCT SAMENESS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Why it flips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Nothing about the borrowers changed. The listing batch did — 298 live loans against 127.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Retail, day 18  </a:t>
            </a:r>
            <a:r>
              <a:rPr sz="1400" b="0">
                <a:solidFill>
                  <a:srgbClr val="56655D"/>
                </a:solidFill>
                <a:latin typeface="Calibri"/>
              </a:rPr>
              <a:t>Same high H (P84), but only 58% of it survives residual text — Type B, a template problem, opposite lever.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What it never does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 score is attached to a loan; every read-out ends in a randomised pilot and the metrics to judge it by.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The diagnosis is a property of market-time, not of the borrower.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Phase 2 screenshots. Thresholds are operational choices for triage, not estimated cut-points; no Phase 1 pilot has run, so all levers sit in shadow mode.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A11</a:t>
            </a:r>
          </a:p>
        </p:txBody>
      </p:sp>
      <p:pic>
        <p:nvPicPr>
          <p:cNvPr id="20" name="Picture 19" descr="d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" y="2048256"/>
            <a:ext cx="5257727" cy="2048256"/>
          </a:xfrm>
          <a:prstGeom prst="rect">
            <a:avLst/>
          </a:prstGeom>
        </p:spPr>
      </p:pic>
      <p:pic>
        <p:nvPicPr>
          <p:cNvPr id="21" name="Picture 20" descr="d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80" y="2048256"/>
            <a:ext cx="5257727" cy="204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4662</Words>
  <Application>Microsoft Macintosh PowerPoint</Application>
  <PresentationFormat>宽屏</PresentationFormat>
  <Paragraphs>463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UNSW Marketing Analytics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Every Story Sounds the Same — 5 GUYS</dc:title>
  <dc:subject>PptxGenJS Presentation</dc:subject>
  <dc:creator>5 GUYS</dc:creator>
  <cp:lastModifiedBy>Ruohan Wang</cp:lastModifiedBy>
  <cp:revision>1</cp:revision>
  <dcterms:created xsi:type="dcterms:W3CDTF">2026-09-02T14:34:52Z</dcterms:created>
  <dcterms:modified xsi:type="dcterms:W3CDTF">2026-09-03T01:39:58Z</dcterms:modified>
</cp:coreProperties>
</file>