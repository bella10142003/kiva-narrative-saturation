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4" r:id="rId25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2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5225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【封面 · 可删除】约 10 秒。
开场：Kiva 上的每一个故事都在争取注意力。我们的问题不是「谁的故事写得好」，而是「一个故事出现的时候，它身边是什么」。
如果比赛方自带 title slide，直接删掉本页，总时长不受影响。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【Slide 1 · 目标 50 秒】制造悬念，不解释模型。</a:t>
            </a:r>
          </a:p>
          <a:p/>
          <a:p>
            <a:r>
              <a:t>口播：我们的主结果变量是 FundingHours——从 fundraisingDate 到 raisedDate 的筹款时长小时数。</a:t>
            </a:r>
          </a:p>
          <a:p>
            <a:r>
              <a:t>在建模样本上，只比 Q1–Q3（避开 2025 年末的右截断），中位筹款时长从 2024 的 121.2 小时降到 2025 的 68.1 小时，快了 44%。</a:t>
            </a:r>
          </a:p>
          <a:p>
            <a:r>
              <a:t>可同一年，Homogeneity（H，与同期同板块贷款的平均余弦相似度）是十年里最高的，均值 0.156。唯一同时下降的是 Volume（C，均值 6.52 → 6.25，中位在架池 1,030 → 769）。</a:t>
            </a:r>
          </a:p>
          <a:p/>
          <a:p>
            <a:r>
              <a:t>所以「故事越像越难筹」不是一条能单独成立的规律。要判断一个故事筹得快不快，必须看它出现的时候身边站着谁。</a:t>
            </a:r>
          </a:p>
          <a:p>
            <a:r>
              <a:t>（停顿一拍再翻页。）</a:t>
            </a:r>
          </a:p>
          <a:p/>
          <a:p>
            <a:r>
              <a:t>⚠️ 口径纪律（被问到时）：</a:t>
            </a:r>
          </a:p>
          <a:p>
            <a:r>
              <a:t>· 数据里每一行都有 raisedDate，没有 expired 贷款，所以这是「已募满贷款的筹款时长」，不是「募资成功率」。</a:t>
            </a:r>
          </a:p>
          <a:p>
            <a:r>
              <a:t>· 2025 年末存在右截断——12 月的贷款只有跑得最快的才进得来。所以主页只报 Q1–Q3，两年同口径。</a:t>
            </a:r>
          </a:p>
          <a:p>
            <a:r>
              <a:t>· 若用全年主样本是 110.6 → 65.2（−41%）；早期版本用的 107.6 → 61.3（−43%）来自 wash-in 样本、且是全年，两处都换掉了。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【Slide 2 · 目标 1 分 10 秒】只讲理解结果所必需的方法。
口播：结果变量是 FundingHours，建模形式 log(1 + FundingHours)。
对每一笔贷款我们重建两个 pool，命名和 proposal 一致。
右边 Current pool：上架那一刻真正在架的同板块贷款。Volume（C）是数量取对数，Homogeneity（H）是与这批贷款的平均余弦相似度，交互 C×H 就是 Active saturation——RQ1 检验的量。
左边 Lagged pool：L 到 L+29 天以前，本次约 35 到 65 天。V、G 是衰减加权的数量和相似度，V×G 是 Recent saturation。这批贷款早已下架，拿不走任何一笔出资——所以如果它们还在拖慢筹款，只能是重复表达造成的 wear-out。
文本用 use 字段：lender 在列表页先看到的短用途，比长 description 更有区分力。
国家、活动、周固定效应；2016–2024 建模，2025 完全不碰。（固定效应细节等评委问再展开。）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【Slide 3 · 目标 2 分钟 · 全场最重要的一页】
口播：左边是 Current pool 的 Active saturation。当 Volume C 和 Homogeneity H 一起从第 25 百分位移到第 75 百分位——从一个安静、多样的市场换成一个又挤又雷同的市场——条件 FundingHours 上升约 124%，也就是筹款时长变成原来的 2.24 倍；72 小时内筹满的概率下降 14.7 个百分点。
更关键的是交互本身：同样是 H 上升一个标准差，在低 Volume 的市场里代价是 +42.5% 的小时数，在高 Volume 的市场里是 +60.7%。相似性的代价取决于此刻有多少人和你争。这是 RQ1 的答案：C、H 各自重要，而且相互放大。
右边是 Lagged pool 的 Recent saturation。同样的移动，点估计 −1.4%，95% 置信区间从 −15.8% 到 +15.4%，跨过零；72 小时筹满率只动 0.5 个百分点。没有找到广泛、持续 wear-out 的稳健证据。
marketing 上的区分：与当前竞品相似会降低相对辨识度；与历史典型表达相似，未必产生持续疲劳。
⚠️ 措辞：这是关联不是因果；零结果也不等于疲劳不存在，只是这个精度下没测到。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【Slide 4 · 目标 1 分 20 秒】</a:t>
            </a:r>
          </a:p>
          <a:p/>
          <a:p>
            <a:r>
              <a:t>口播：故事为什么会变得一样？很大一部分不是借款人写的，是流程带来的。贷款简介由 Lending Partner 上传，机构会复用模板句——我们把这部分叫 boilerplate share。</a:t>
            </a:r>
          </a:p>
          <a:p/>
          <a:p>
            <a:r>
              <a:t>左边：在 lender 真正浏览的短 use 字段上，把 recurring language 占比从 0% 移到 100%，条件 FundingHours 上升 13.6%、72 小时筹满率下降 3.37 个百分点。而在点进去之后的长 description 上，同样的移动没有统计上可辨的关联（p = .45）。问题发生在扫描阶段，不是阅读阶段。</a:t>
            </a:r>
          </a:p>
          <a:p/>
          <a:p>
            <a:r>
              <a:t>右边是关键的稳健性检验：改用 residual text（去掉 recurring 5-gram）重估，Active saturation C×H 从 0.102（p=.003）降到 0.052（p=.129）。</a:t>
            </a:r>
          </a:p>
          <a:p>
            <a:r>
              <a:t>⚠️ 只能说「系数约减半、失去常规显著性」，不能说「模板解释了一半的效应」——没有做正式的跨模型差异检验。</a:t>
            </a:r>
          </a:p>
          <a:p>
            <a:r>
              <a:t>⚠️ 13.6% 是 0%→100% 的全区间效应，不是「高 vs 低」；被追问时要说清楚。每上升 1 个标准差约 +4.6%。</a:t>
            </a:r>
          </a:p>
          <a:p/>
          <a:p>
            <a:r>
              <a:t>备用（问到再说）：加入 C、H、C×H 后，boilerplate share 本身的关联消失（p=.26），说明模板是通过「和同页项目撞脸」传导的。</a:t>
            </a:r>
          </a:p>
          <a:p>
            <a:r>
              <a:t>所以解药在平台一侧，不是要求借款人写更长、更私人的故事。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【Slide 5 · 目标 1 分 30 秒】</a:t>
            </a:r>
          </a:p>
          <a:p/>
          <a:p>
            <a:r>
              <a:t>口播（顶上一行）：先说年度。2018 年 Homogeneity 还低（均值 0.057，十年最低），压力主要来自 Volume；2020–21 年 current pool 扩大、boilerplate 占比从 0.22 升到 0.35，对 H 的贡献明显上升；到 2025，boilerplate 回到常态（0.222，与 2024 的 0.222 持平），可 H 是十年最高（均值 0.156），而 Volume 已经下降（C 从 6.52 降到 6.25，中位在架池 1030 → 769）——相似性的来源变了。</a:t>
            </a:r>
          </a:p>
          <a:p>
            <a:r>
              <a:t>⚠️ 不要把 COVID、auto-lending 说成已证明的原因，只能作为背景。</a:t>
            </a:r>
          </a:p>
          <a:p/>
          <a:p>
            <a:r>
              <a:t>口播（图）：月内有两条脉冲，都在供给侧。</a:t>
            </a:r>
          </a:p>
          <a:p>
            <a:r>
              <a:t>基线以上是绿色的上架脉冲，基线以下是紫色的完成脉冲（贷款达到 raisedDate、退出 current pool）。</a:t>
            </a:r>
          </a:p>
          <a:p>
            <a:r>
              <a:t>关键事实（2024–25，太平洋日历日，指数以当月均值=1.00 标准化）：**两条脉冲在同一天见顶，都是 18 号**。上架指数 5.92，完成指数 2.75，19 号 2.41。18 号一天就占了 2024–25 全部上架量的 19.6%。</a:t>
            </a:r>
          </a:p>
          <a:p>
            <a:r>
              <a:t>所以问题不是「两只时钟错开」——它们是对齐的。问题是**一个月的供给砸在同一天，而当天的释放阀只有 2.8 倍**。按日均条数算：18 号净进 +1,208 条，19–23 号则是净出（−439、−192、−105、−150、−76）。</a:t>
            </a:r>
          </a:p>
          <a:p>
            <a:r>
              <a:t>落到贷款身上：18 号上架的贷款面对的平均 H 是 0.205，而 12–16 号上架的只有 0.056–0.066，差 3 倍以上；中位在架池 969 对 ~780。</a:t>
            </a:r>
          </a:p>
          <a:p/>
          <a:p>
            <a:r>
              <a:t>⚠️ 措辞纪律：</a:t>
            </a:r>
          </a:p>
          <a:p>
            <a:r>
              <a:t>· 这张图是机制示意，但形状按 2024–25 实测逐日指数画；真实逐日曲线在附录 A6。</a:t>
            </a:r>
          </a:p>
          <a:p>
            <a:r>
              <a:t>· 「完成」指达到 raisedDate 离开页面，不是借款人还款。</a:t>
            </a:r>
          </a:p>
          <a:p>
            <a:r>
              <a:t>· 数据里没有 expired 贷款，所以这不是 hazard，只能说「在最终都会募满的贷款中，募满时点的密度」。</a:t>
            </a:r>
          </a:p>
          <a:p>
            <a:r>
              <a:t>· 全十年合并时上架峰在 17 号（3.06），18 号 2.18；「18 号」是 2024–25 的口径，讲的时候要说清楚年份。</a:t>
            </a:r>
          </a:p>
          <a:p>
            <a:r>
              <a:t>· 加入月内日期固定效应后 C×H 从 0.102 只降到 0.098——脉冲不是头条结果的来源。</a:t>
            </a:r>
          </a:p>
          <a:p/>
          <a:p>
            <a:r>
              <a:t>对 Kiva 的用处：它不解释因果，但它告诉我们实验该安排在哪个窗口——把同一个资金窗口的容量摊开到 17–22 号，而不是全压在 18 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【Slide 6 · 目标 1 分 15 秒】</a:t>
            </a:r>
          </a:p>
          <a:p/>
          <a:p>
            <a:r>
              <a:t>口播：最后一个问题：所有市场都一样吗？不一样。关键在于——同样高的 H，可能是两种完全不同的问题。判据只有一条：**去掉 recurring language 之后，相似度还剩多少**。</a:t>
            </a:r>
          </a:p>
          <a:p/>
          <a:p>
            <a:r>
              <a:t>看这张图，从上往下就是这条判据的排序。上半截几乎不动：Housing 剩 100%（boilerplate 占比 0.4%）、Arts 101%、Transportation 98%、Reuse &amp; Recycle 98%、Services 95%。相似度不是模板造成的，是真实的替代项目被同时摆在一页上——这是 A 类「产品同质」，手段在市场侧：错峰上架、轮换曝光、diversified ranking。</a:t>
            </a:r>
          </a:p>
          <a:p/>
          <a:p>
            <a:r>
              <a:t>下半截掉得很狠：Retail 剩 58%、Clean Energy 58%、Food 61%、Agriculture 69%。最干净的例子是最底下那行 Philippines × General Store，117,291 笔，只剩 57%，boilerplate 占比 58%。这是 B 类「流程同质」——问题在内容生产流程，手段是给合作机构准备多套合规模板变体，不是要求借款人写更长更私人的故事。</a:t>
            </a:r>
          </a:p>
          <a:p/>
          <a:p>
            <a:r>
              <a:t>全平台基准是 75%。右边一列是各市场的 boilerplate 占比，和存活率几乎是一条对角线——这本身就是机制证据。</a:t>
            </a:r>
          </a:p>
          <a:p/>
          <a:p>
            <a:r>
              <a:t>⚠️ 纪律：</a:t>
            </a:r>
          </a:p>
          <a:p>
            <a:r>
              <a:t>· 这是描述性比较（raw 与 residual 两套文本上 H 的均值），不是分行业重估模型系数，被问到要说清楚。</a:t>
            </a:r>
          </a:p>
          <a:p>
            <a:r>
              <a:t>· `outputs/rq4_sector_effects.csv` 里 Housing 的 C×H 系数是 −0.092，与全平台 +0.102 反号；本页讲的是「同质性来源」，不是分板块效应量，两件事不要混。</a:t>
            </a:r>
          </a:p>
          <a:p>
            <a:r>
              <a:t>· 这一层整体是探索性的：异质性有证据（Q=99.5, p=2e-15，见 A8），但注意力市场的精确边界还没做完正式比较。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【Slide 7 · 目标 55 秒 · demo 的引子，讲快一点】</a:t>
            </a:r>
          </a:p>
          <a:p/>
          <a:p>
            <a:r>
              <a:t>口播：把四个答案合起来，结论很明确：压力取决于「此时此地的市场状态」，所以 proposal 里的 Narrative Attention Engine 不该落地成静态的借款人评分，而该落地成动态的市场监测。我们叫它 Kiva Pulse，四步。</a:t>
            </a:r>
          </a:p>
          <a:p/>
          <a:p>
            <a:r>
              <a:t>SENSE：按 market-time 监测 Volume C、Homogeneity H，以及上架与完成两条脉冲的差值。</a:t>
            </a:r>
          </a:p>
          <a:p>
            <a:r>
              <a:t>DIAGNOSE：判断同质性来自产品还是流程，或者是「高 H 但没有活跃替代品」——那种市场只监测、不干预。</a:t>
            </a:r>
          </a:p>
          <a:p>
            <a:r>
              <a:t>TEST：一种诊断对应一个试点，节奏与曝光，或者模板变体。</a:t>
            </a:r>
          </a:p>
          <a:p>
            <a:r>
              <a:t>LEARN：主指标 FundingHours、次指标 72 小时筹满率，护栏是公平性、挤出效应和合作机构负担。</a:t>
            </a:r>
          </a:p>
          <a:p/>
          <a:p>
            <a:r>
              <a:t>术语先讲到这里——下一页直接跑给你们看。（翻页，不要在这页展开细节。）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【A1】被问「你们到底回答了哪个 RQ」时翻到这页。一句话版本：现在的拥挤×相似有代价；过去的重复没有稳健证据；压力随时间变形；不同市场的同质性来源不同。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【A2】最可能被问「为什么只用筹满的贷款」。</a:t>
            </a:r>
          </a:p>
          <a:p/>
          <a:p>
            <a:r>
              <a:t>回答：这份官方提取物里每一行都有 raisedDate，`status` 只有 funded（1,452,203）和 refunded（1,637），没有 expired——未募满的贷款整条不在数据里。所以：</a:t>
            </a:r>
          </a:p>
          <a:p>
            <a:r>
              <a:t>· 我们分析的是「已募满贷款的筹款时长」，不能解释成「一个故事能不能筹到钱」。</a:t>
            </a:r>
          </a:p>
          <a:p>
            <a:r>
              <a:t>· 也正因为没有缺失的 raisedDate，真正的右删失在这份数据里不可识别，**我们没有拟合 AFT 删失模型**（原稿说做了，是错的，已删）。</a:t>
            </a:r>
          </a:p>
          <a:p>
            <a:r>
              <a:t>· 2025 年末的右截断用另一种方式处理：把 `2025_all_observed` 与 `2025_at_least_35d_followup`（123,489 笔）并排报告，读者自己看结论是否依赖切法。中位时长从完整随访的 65.4h 掉到最后 72 小时的 5.7h，就是截断的指纹。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【A3】技术评委最可能停留的一页。</a:t>
            </a:r>
          </a:p>
          <a:p/>
          <a:p>
            <a:r>
              <a:t>五行都对应交付包 `outputs/robustness.csv` 里的实际产物：</a:t>
            </a:r>
          </a:p>
          <a:p>
            <a:r>
              <a:t>· posting_14d_precommitted  C×H = 0.0893 (p = 4.6e-05)</a:t>
            </a:r>
          </a:p>
          <a:p>
            <a:r>
              <a:t>· posting_16d_calibrated    C×H = 0.0994 (p = 6.3e-06)</a:t>
            </a:r>
          </a:p>
          <a:p>
            <a:r>
              <a:t>· minimum_pool_5 / _20      C×H = 0.1013 / 0.0986</a:t>
            </a:r>
          </a:p>
          <a:p>
            <a:r>
              <a:t>· active_residual_text      C×H = 0.0523 (p = .129)</a:t>
            </a:r>
          </a:p>
          <a:p>
            <a:r>
              <a:t>· description robustness    C×H = 0.1298 (p = 1.7e-07)，V×G = −0.0136 (p = .376)</a:t>
            </a:r>
          </a:p>
          <a:p>
            <a:r>
              <a:t>另有 completed_only_lag 0.1025、exclude_refunded 0.1017、单向聚类 0.1017（country）/0.1017（week）。</a:t>
            </a:r>
          </a:p>
          <a:p/>
          <a:p>
            <a:r>
              <a:t>⚠️ 本页原先列出的「exact-date pools」「半衰期 3 / 14 天敏感性」「前向安慰剂检验」在交付包内没有任何脚本、CSV 或日志，已删除。半衰期在 `src/build_pool_features.py` 里冻结为 7 天，没有跑过敏感性；前向窗口安慰剂也没有估过。如果评委问「有没有做安慰剂」，正确回答是：没做，模拟阶段设计过前向窗口检验，但最终流水线未纳入；我们能提供的是上面五项预注册的规格变动。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【A4】若评委问「是不是只是没测出来」——承认，然后立刻给建设性方案：市场层面的重复是个体曝光的弱代理，要真正检验 wear-out 需要 lender 层面的浏览日志，这正是 A10 里向平台提的数据需求。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【A5】支撑 Slide 4 的措辞纪律。</a:t>
            </a:r>
          </a:p>
          <a:p/>
          <a:p>
            <a:r>
              <a:t>核心：boilerplate 不是「被惩罚的文字」，而是「让你和同页项目撞脸」的机制。表格第三行是关键——加入 C、H、C×H 后 boilerplate share 本身的关联消失（p=.26）。</a:t>
            </a:r>
          </a:p>
          <a:p/>
          <a:p>
            <a:r>
              <a:t>余弦数字出处：`outputs/text_selection_diagnostics.csv`，5% 训练样本、10,000 组随机同板块配对，use = 0.259、description = 0.409。原稿写 0.44 是错的，已改成 0.41。</a:t>
            </a:r>
          </a:p>
          <a:p>
            <a:r>
              <a:t>两个字段都有 97.3% 非空，中位 token 数 use = 10、description = 93——短字段能区分，长字段几乎都长一个样。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【A6】⚠️ 图形占位框：从分析 notebook 导出四面板日历图贴进虚线框，每个面板最好同时画「新上架」和「raisedDate 完成」两条线。
讲解强调两点：两条脉冲都在供给侧；月内 Active saturation 由「进来的」减「出去的」决定，完成脉冲是释放阀不是另一种拥挤。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【A7】⚠️ 图形占位框：贴逐年 C×H 边际效应及置信区间。
口播纪律：年度交互是把主效应再切十份，功效天然低得多，所以只做描述性刻画，明确标 exploratory。COVID、auto-lending 只能作为背景，不能当作已证明的原因。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【A8】⚠️ 图形占位框：贴行业/国家分群估计与等价区间。
若被问「注意力市场到底多大」——诚实回答：选了同板块作为主定义，三种定义的正式比较还没做完，不宣称已证明边界。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【A9】可以在 Slide 7 之后主动翻出来，也可以留到 Q&amp;A。一句话：模型在个体层面预测失败，恰恰是我们不做借款人评分的最强理由——把「我们很谦虚」变成「我们有证据地谦虚」。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【A10】收尾用。若评委质疑因果，用这页转成建设性：我们知道边界在哪，也知道要拿到什么数据才能突破；在拿到之前，正确的动作是做一次可逆的随机实验，而不是上线一个评分。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【Slide 8 · LIVE DEMO · 目标 2 分钟】</a:t>
            </a:r>
          </a:p>
          <a:p/>
          <a:p>
            <a:r>
              <a:t>演示脚本（严格按这个顺序，不要即兴乱点）：</a:t>
            </a:r>
          </a:p>
          <a:p/>
          <a:p>
            <a:r>
              <a:t>① 打开时默认 Agriculture、day 18。先不说话，让他们看三秒那根 4.7 倍的绿柱。</a:t>
            </a:r>
          </a:p>
          <a:p>
            <a:r>
              <a:t>   一句话：「这是一个月的上架量砸在同一天。绿色进来，紫色出去。」</a:t>
            </a:r>
          </a:p>
          <a:p/>
          <a:p>
            <a:r>
              <a:t>② 【WHEN】左栏点 Housing，把滑块拖到 14。</a:t>
            </a:r>
          </a:p>
          <a:p>
            <a:r>
              <a:t>   读屏：在架 127 笔 → 结论 WATCH ONLY。「相似度再高，没有活跃的替代品，就没有人可以输给。」</a:t>
            </a:r>
          </a:p>
          <a:p>
            <a:r>
              <a:t>   把滑块拖到 18。在架 298 笔，H 从 P69 跳到 P95 → 结论 TYPE A。</a:t>
            </a:r>
          </a:p>
          <a:p>
            <a:r>
              <a:t>   点题：**同一个市场，只换了一天，结论就变了。所以它必须是动态监测，不是静态评分。**</a:t>
            </a:r>
          </a:p>
          <a:p/>
          <a:p>
            <a:r>
              <a:t>③ 【WHICH KIND】左栏点 Retail，保持 day 18。</a:t>
            </a:r>
          </a:p>
          <a:p>
            <a:r>
              <a:t>   读屏：H 也在高位（P84），但第三行「去掉 recurring language 后只剩 58%」→ 结论 TYPE B。</a:t>
            </a:r>
          </a:p>
          <a:p>
            <a:r>
              <a:t>   点题：**同样高的 H，Housing 一分不掉、Retail 掉 42%。读数一样，解药相反。**</a:t>
            </a:r>
          </a:p>
          <a:p/>
          <a:p>
            <a:r>
              <a:t>④ 【WHERE IT STOPS】把视线拉到第 3、4 栏。</a:t>
            </a:r>
          </a:p>
          <a:p>
            <a:r>
              <a:t>   「每一次读数的终点都是一个随机实验和它的判据——主指标 FundingHours、次指标 72 小时筹满率、护栏是公平性和挤出效应。它不会返回一个挂在某笔贷款上的分数。」</a:t>
            </a:r>
          </a:p>
          <a:p>
            <a:r>
              <a:t>   最后停在底部那行黑条上，慢一点：**No borrower score. No automatic penalty.**</a:t>
            </a:r>
          </a:p>
          <a:p/>
          <a:p>
            <a:r>
              <a:t>⚠️ 口径纪律（评委追问时）：</a:t>
            </a:r>
          </a:p>
          <a:p>
            <a:r>
              <a:t>· 界面上的 saturation index = √(C 百分位 × H 百分位)，是一个用于分诊的监测启发式，**不是模型系数**。它指向的模型量是 C×H = 0.102 (p=.003)。</a:t>
            </a:r>
          </a:p>
          <a:p>
            <a:r>
              <a:t>· 「在架 ≥250 笔」「H 百分位 ≥50」「存活率 90/80」这三个阈值是我们为演示设定的运营门槛，不是估计出来的临界值——可以改，改了要预注册。</a:t>
            </a:r>
          </a:p>
          <a:p>
            <a:r>
              <a:t>· 所有数字来自 2016–2024 训练样本；2025 完全留出。全部是条件关联，不是因果。</a:t>
            </a:r>
          </a:p>
          <a:p>
            <a:r>
              <a:t>· 界面上不显示各日的实际中位筹款时长——那是未调整的原始量，18 号上架的批次结构本身就不同（71% 来自菲律宾），拿来做对比会误导。</a:t>
            </a:r>
          </a:p>
          <a:p/>
          <a:p>
            <a:r>
              <a:t>⚠️ 兜底：网络不通就直接翻到 A11，那页有 day 14 与 day 18 两张实拍截图，讲同样的话。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【A11】demo 挂了就翻到这一页，讲和 demo 完全一样的话。</a:t>
            </a:r>
          </a:p>
          <a:p/>
          <a:p>
            <a:r>
              <a:t>Housing，day 14：在架 127 笔，低于 250 的运营门槛 → WATCH ONLY。相似度再高，没有活跃替代品就没有人可以输给。</a:t>
            </a:r>
          </a:p>
          <a:p>
            <a:r>
              <a:t>Housing，day 18：在架 298 笔，H 从 P69 跳到 P95，去模板后仍剩 100% → TYPE A，产品同质，手段是错峰与轮换曝光。</a:t>
            </a:r>
          </a:p>
          <a:p>
            <a:r>
              <a:t>两帧之间借款人什么都没变，变的是上架批次。</a:t>
            </a:r>
          </a:p>
          <a:p/>
          <a:p>
            <a:r>
              <a:t>如果还想再举一个对照：Retail 在 18 号 H 同样高（P84），但去掉 recurring language 只剩 58% → TYPE B，流程同质，手段是合作机构模板变体。</a:t>
            </a:r>
          </a:p>
          <a:p/>
          <a:p>
            <a:r>
              <a:t>⚠️ 250 笔／P50／90%-80% 这三条是我们设的运营阈值，不是估计出来的临界值。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2615" y="1508760"/>
            <a:ext cx="3566160" cy="3566160"/>
          </a:xfrm>
          <a:prstGeom prst="ellipse">
            <a:avLst/>
          </a:prstGeom>
          <a:ln w="12700">
            <a:solidFill>
              <a:srgbClr val="1D5F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8579815" y="1965960"/>
            <a:ext cx="2651760" cy="2651760"/>
          </a:xfrm>
          <a:prstGeom prst="ellipse">
            <a:avLst/>
          </a:prstGeom>
          <a:ln w="12700">
            <a:solidFill>
              <a:srgbClr val="236B4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9037015" y="2423160"/>
            <a:ext cx="1737360" cy="1737360"/>
          </a:xfrm>
          <a:prstGeom prst="ellipse">
            <a:avLst/>
          </a:prstGeom>
          <a:ln w="19050">
            <a:solidFill>
              <a:srgbClr val="9BCB3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 txBox="1"/>
          <p:nvPr/>
        </p:nvSpPr>
        <p:spPr>
          <a:xfrm>
            <a:off x="566928" y="118872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9BC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UNSW MARKETING ANALYTICS HACKATHON 2026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645920"/>
            <a:ext cx="8046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every story</a:t>
            </a:r>
            <a:endParaRPr lang="en-US" sz="4600" dirty="0"/>
          </a:p>
          <a:p>
            <a:pPr marL="0" indent="0" algn="l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sounds the same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657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i="1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story does not persuade alone. Its funding speed depends on what surrounds it, when it appears, and why neighbouring stories sound the same.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66928" y="4846320"/>
            <a:ext cx="4023360" cy="0"/>
          </a:xfrm>
          <a:prstGeom prst="line">
            <a:avLst/>
          </a:prstGeom>
          <a:noFill/>
          <a:ln w="12700">
            <a:solidFill>
              <a:srgbClr val="2C6B5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566928" y="504748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0" dirty="0">
                <a:solidFill>
                  <a:srgbClr val="9FB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5 GUYS  ·  1,453,846 Kiva loans, 2016–2025  ·  2025 held out</a:t>
            </a:r>
            <a:endParaRPr lang="en-US" sz="17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700" dirty="0">
                <a:solidFill>
                  <a:srgbClr val="9FB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TEAM MEMBER NAMES]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· THE PUZZLE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2025 funded faster — even as stories became more alike.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5257800" cy="3419856"/>
          </a:xfrm>
          <a:prstGeom prst="roundRect">
            <a:avLst>
              <a:gd name="adj" fmla="val 2406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6364224" y="1700784"/>
            <a:ext cx="5257800" cy="3419856"/>
          </a:xfrm>
          <a:prstGeom prst="roundRect">
            <a:avLst>
              <a:gd name="adj" fmla="val 2406"/>
            </a:avLst>
          </a:prstGeom>
          <a:solidFill>
            <a:srgbClr val="F1F6F2"/>
          </a:solidFill>
          <a:ln w="9525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 txBox="1"/>
          <p:nvPr/>
        </p:nvSpPr>
        <p:spPr>
          <a:xfrm>
            <a:off x="914400" y="199339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9BC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FUNDING HOURS · Q1–Q3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432304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965960" y="2468880"/>
            <a:ext cx="1828800" cy="274320"/>
          </a:xfrm>
          <a:prstGeom prst="roundRect">
            <a:avLst>
              <a:gd name="adj" fmla="val 166667"/>
            </a:avLst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3977640" y="241401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121.2 h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054096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965960" y="3090672"/>
            <a:ext cx="1028209" cy="274320"/>
          </a:xfrm>
          <a:prstGeom prst="roundRect">
            <a:avLst>
              <a:gd name="adj" fmla="val 166667"/>
            </a:avLst>
          </a:prstGeom>
          <a:solidFill>
            <a:srgbClr val="9BCB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 txBox="1"/>
          <p:nvPr/>
        </p:nvSpPr>
        <p:spPr>
          <a:xfrm>
            <a:off x="3977640" y="30358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9BC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68.1 h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914400" y="3657600"/>
            <a:ext cx="4562856" cy="0"/>
          </a:xfrm>
          <a:prstGeom prst="line">
            <a:avLst/>
          </a:prstGeom>
          <a:noFill/>
          <a:ln w="12700">
            <a:solidFill>
              <a:srgbClr val="2C6B5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 txBox="1"/>
          <p:nvPr/>
        </p:nvSpPr>
        <p:spPr>
          <a:xfrm>
            <a:off x="914400" y="380390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400" b="1" dirty="0">
                <a:solidFill>
                  <a:srgbClr val="9BC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−44%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443984"/>
            <a:ext cx="4562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sample, Q1–Q3 only, so year-end truncation cannot flatter 2025.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711696" y="199339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YEAR'S MARKET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711696" y="2432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00" b="1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0" y="2414016"/>
            <a:ext cx="3959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 C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0" y="2816352"/>
            <a:ext cx="3959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active same-sector loans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711696" y="3529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00" b="1" dirty="0">
                <a:solidFill>
                  <a:srgbClr val="C4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3511296"/>
            <a:ext cx="3959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Homogeneity  H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3913632"/>
            <a:ext cx="3959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mean cosine of the decade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711696" y="4572000"/>
            <a:ext cx="4562856" cy="0"/>
          </a:xfrm>
          <a:prstGeom prst="line">
            <a:avLst/>
          </a:prstGeom>
          <a:noFill/>
          <a:ln w="12700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 txBox="1"/>
          <p:nvPr/>
        </p:nvSpPr>
        <p:spPr>
          <a:xfrm>
            <a:off x="6711696" y="4681728"/>
            <a:ext cx="4562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Volume, higher Homogeneity — yet fewer hours.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Similarity alone cannot explain lender response.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METHOD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rebuilt the choice set each lender could face.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453128" y="1737360"/>
            <a:ext cx="3291840" cy="512064"/>
          </a:xfrm>
          <a:prstGeom prst="roundRect">
            <a:avLst>
              <a:gd name="adj" fmla="val 50000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 txBox="1"/>
          <p:nvPr/>
        </p:nvSpPr>
        <p:spPr>
          <a:xfrm>
            <a:off x="4453128" y="1737360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LOAN  ·  posted at 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099048" y="2249424"/>
            <a:ext cx="0" cy="201168"/>
          </a:xfrm>
          <a:prstGeom prst="line">
            <a:avLst/>
          </a:prstGeom>
          <a:noFill/>
          <a:ln w="19050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3191256" y="2450592"/>
            <a:ext cx="5815584" cy="0"/>
          </a:xfrm>
          <a:prstGeom prst="line">
            <a:avLst/>
          </a:prstGeom>
          <a:noFill/>
          <a:ln w="19050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3191256" y="2450592"/>
            <a:ext cx="0" cy="182880"/>
          </a:xfrm>
          <a:prstGeom prst="line">
            <a:avLst/>
          </a:prstGeom>
          <a:noFill/>
          <a:ln w="19050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9006840" y="2450592"/>
            <a:ext cx="0" cy="182880"/>
          </a:xfrm>
          <a:prstGeom prst="line">
            <a:avLst/>
          </a:prstGeom>
          <a:noFill/>
          <a:ln w="19050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566928" y="2633472"/>
            <a:ext cx="5257800" cy="1938528"/>
          </a:xfrm>
          <a:prstGeom prst="roundRect">
            <a:avLst>
              <a:gd name="adj" fmla="val 4245"/>
            </a:avLst>
          </a:prstGeom>
          <a:solidFill>
            <a:srgbClr val="F1F6F2"/>
          </a:solidFill>
          <a:ln w="9525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914400" y="281635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LAGGED POOL · L TO L+29 DAYS BEFORE 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14400" y="3319272"/>
            <a:ext cx="91440" cy="91440"/>
          </a:xfrm>
          <a:prstGeom prst="ellipse">
            <a:avLst/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 txBox="1"/>
          <p:nvPr/>
        </p:nvSpPr>
        <p:spPr>
          <a:xfrm>
            <a:off x="1152144" y="3182112"/>
            <a:ext cx="4325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 Volume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decayed earlier count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914400" y="3721608"/>
            <a:ext cx="91440" cy="91440"/>
          </a:xfrm>
          <a:prstGeom prst="ellipse">
            <a:avLst/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 txBox="1"/>
          <p:nvPr/>
        </p:nvSpPr>
        <p:spPr>
          <a:xfrm>
            <a:off x="1152144" y="3584448"/>
            <a:ext cx="4325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  Homogeneity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decayed mean cosine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14400" y="4123944"/>
            <a:ext cx="91440" cy="91440"/>
          </a:xfrm>
          <a:prstGeom prst="ellipse">
            <a:avLst/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 txBox="1"/>
          <p:nvPr/>
        </p:nvSpPr>
        <p:spPr>
          <a:xfrm>
            <a:off x="1152144" y="3986784"/>
            <a:ext cx="4325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× G   Recent saturation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already off the page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364224" y="2633472"/>
            <a:ext cx="5257800" cy="1938528"/>
          </a:xfrm>
          <a:prstGeom prst="roundRect">
            <a:avLst>
              <a:gd name="adj" fmla="val 4245"/>
            </a:avLst>
          </a:prstGeom>
          <a:solidFill>
            <a:srgbClr val="E9F3EC"/>
          </a:solidFill>
          <a:ln w="9525">
            <a:solidFill>
              <a:srgbClr val="C8E0D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 txBox="1"/>
          <p:nvPr/>
        </p:nvSpPr>
        <p:spPr>
          <a:xfrm>
            <a:off x="6711696" y="281635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POOL · ACTIVE AT 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711696" y="3319272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 txBox="1"/>
          <p:nvPr/>
        </p:nvSpPr>
        <p:spPr>
          <a:xfrm>
            <a:off x="6949440" y="3182112"/>
            <a:ext cx="4325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Volume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log active same-sector count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711696" y="3721608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 txBox="1"/>
          <p:nvPr/>
        </p:nvSpPr>
        <p:spPr>
          <a:xfrm>
            <a:off x="6949440" y="3584448"/>
            <a:ext cx="4325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  Homogeneity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mean cosine to that pool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711696" y="4123944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 txBox="1"/>
          <p:nvPr/>
        </p:nvSpPr>
        <p:spPr>
          <a:xfrm>
            <a:off x="6949440" y="3986784"/>
            <a:ext cx="4325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× H   Active saturation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fundable right now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475488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FundingHours (fundraisingDate → raisedDate)  ·  1.23M training loans, 2016–2024  ·  2025 held out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sector, same week, same country — only the narrative environment differs.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· RQ1 &amp; RQ2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Similarity hurts when it creates live substitutes.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5257800" cy="3419856"/>
          </a:xfrm>
          <a:prstGeom prst="roundRect">
            <a:avLst>
              <a:gd name="adj" fmla="val 2406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6364224" y="1700784"/>
            <a:ext cx="5257800" cy="3419856"/>
          </a:xfrm>
          <a:prstGeom prst="roundRect">
            <a:avLst>
              <a:gd name="adj" fmla="val 2406"/>
            </a:avLst>
          </a:prstGeom>
          <a:solidFill>
            <a:srgbClr val="F1F6F2"/>
          </a:solidFill>
          <a:ln w="9525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 txBox="1"/>
          <p:nvPr/>
        </p:nvSpPr>
        <p:spPr>
          <a:xfrm>
            <a:off x="914400" y="199339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9BC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POOL · ACTIVE SATURATION C × H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340864"/>
            <a:ext cx="4562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+124%</a:t>
            </a:r>
            <a:r>
              <a:rPr lang="en-US" sz="2600" b="1" dirty="0">
                <a:solidFill>
                  <a:srgbClr val="9BC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×2.24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291840"/>
            <a:ext cx="4562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conditional FundingHours when Volume C and Homogeneity H move together from P25 to P75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914400" y="3895344"/>
            <a:ext cx="4562856" cy="0"/>
          </a:xfrm>
          <a:prstGeom prst="line">
            <a:avLst/>
          </a:prstGeom>
          <a:noFill/>
          <a:ln w="12700">
            <a:solidFill>
              <a:srgbClr val="2C6B5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 txBox="1"/>
          <p:nvPr/>
        </p:nvSpPr>
        <p:spPr>
          <a:xfrm>
            <a:off x="914400" y="4005072"/>
            <a:ext cx="4562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9BC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−14.7 pp  funded within 72 hours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46227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7E9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+1 SD IN H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75488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+42.5%</a:t>
            </a:r>
            <a:r>
              <a:rPr lang="en-US" sz="1700" b="1" dirty="0">
                <a:solidFill>
                  <a:srgbClr val="9FB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light market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200400" y="4754880"/>
            <a:ext cx="2276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BC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+60.7%</a:t>
            </a:r>
            <a:r>
              <a:rPr lang="en-US" sz="1700" b="1" dirty="0">
                <a:solidFill>
                  <a:srgbClr val="9FB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crowded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711696" y="199339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LAGGED POOL · RECENT SATURATION V × G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711696" y="2340864"/>
            <a:ext cx="4562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7900"/>
              </a:lnSpc>
              <a:buNone/>
            </a:pPr>
            <a:r>
              <a:rPr lang="en-US" sz="6000" b="1" dirty="0">
                <a:solidFill>
                  <a:srgbClr val="8A96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−1.4%</a:t>
            </a:r>
            <a:endParaRPr lang="en-US" sz="6000" dirty="0"/>
          </a:p>
        </p:txBody>
      </p:sp>
      <p:sp>
        <p:nvSpPr>
          <p:cNvPr id="16" name="Text 14"/>
          <p:cNvSpPr txBox="1"/>
          <p:nvPr/>
        </p:nvSpPr>
        <p:spPr>
          <a:xfrm>
            <a:off x="6711696" y="3291840"/>
            <a:ext cx="4562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P25 → P75 move on V, G and V × G, given the current pool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711696" y="3895344"/>
            <a:ext cx="4562856" cy="0"/>
          </a:xfrm>
          <a:prstGeom prst="line">
            <a:avLst/>
          </a:prstGeom>
          <a:noFill/>
          <a:ln w="12700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 txBox="1"/>
          <p:nvPr/>
        </p:nvSpPr>
        <p:spPr>
          <a:xfrm>
            <a:off x="6711696" y="4005072"/>
            <a:ext cx="4562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5665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−0.5 pp  funded within 72 hours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711696" y="446227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CONFIDENCE INTERVAL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711696" y="4700016"/>
            <a:ext cx="4206240" cy="146304"/>
          </a:xfrm>
          <a:prstGeom prst="roundRect">
            <a:avLst>
              <a:gd name="adj" fmla="val 312500"/>
            </a:avLst>
          </a:prstGeom>
          <a:solidFill>
            <a:srgbClr val="D5DDD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8841779" y="4572000"/>
            <a:ext cx="0" cy="402336"/>
          </a:xfrm>
          <a:prstGeom prst="line">
            <a:avLst/>
          </a:prstGeom>
          <a:noFill/>
          <a:ln w="25400">
            <a:solidFill>
              <a:srgbClr val="C4462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 txBox="1"/>
          <p:nvPr/>
        </p:nvSpPr>
        <p:spPr>
          <a:xfrm>
            <a:off x="6711696" y="490118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−15.8%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384579" y="490118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C4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546336" y="490118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+15.4%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collision is supported. Broad wear-out is not.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566928" y="6163056"/>
            <a:ext cx="104177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Retransformed from log(1 + FundingHours). Associations, not treatment effects.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· WHERE SAMENESS COMES FROM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sameness is partly platform-made — and it bites at the scan stage.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5257800" cy="3419856"/>
          </a:xfrm>
          <a:prstGeom prst="roundRect">
            <a:avLst>
              <a:gd name="adj" fmla="val 2406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6364224" y="1700784"/>
            <a:ext cx="5257800" cy="3419856"/>
          </a:xfrm>
          <a:prstGeom prst="roundRect">
            <a:avLst>
              <a:gd name="adj" fmla="val 2406"/>
            </a:avLst>
          </a:prstGeom>
          <a:solidFill>
            <a:srgbClr val="F1F6F2"/>
          </a:solidFill>
          <a:ln w="9525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 txBox="1"/>
          <p:nvPr/>
        </p:nvSpPr>
        <p:spPr>
          <a:xfrm>
            <a:off x="914400" y="199339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9BC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STAGE · THE SHORT “USE” STATEMENT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359152"/>
            <a:ext cx="4562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69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+13.6%</a:t>
            </a:r>
            <a:endParaRPr lang="en-US" sz="5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255264"/>
            <a:ext cx="45628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FundingHours moving the use statement from no recurring language to all of it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914400" y="3950208"/>
            <a:ext cx="4562856" cy="0"/>
          </a:xfrm>
          <a:prstGeom prst="line">
            <a:avLst/>
          </a:prstGeom>
          <a:noFill/>
          <a:ln w="12700">
            <a:solidFill>
              <a:srgbClr val="2C6B5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 txBox="1"/>
          <p:nvPr/>
        </p:nvSpPr>
        <p:spPr>
          <a:xfrm>
            <a:off x="914400" y="4078224"/>
            <a:ext cx="4562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9BC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−3.37 pp  funded within 72 hours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517136"/>
            <a:ext cx="4562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9FB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full description, boilerplate is near-universal — and shows no independent association.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711696" y="199339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SATURATION C × H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711696" y="2377440"/>
            <a:ext cx="4562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text</a:t>
            </a:r>
            <a:r>
              <a:rPr lang="en-US" sz="1800" b="1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0.102</a:t>
            </a:r>
            <a:r>
              <a:rPr lang="en-US" sz="1800" b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 = .003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711696" y="2724912"/>
            <a:ext cx="2051914" cy="274320"/>
          </a:xfrm>
          <a:prstGeom prst="roundRect">
            <a:avLst>
              <a:gd name="adj" fmla="val 166667"/>
            </a:avLst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 txBox="1"/>
          <p:nvPr/>
        </p:nvSpPr>
        <p:spPr>
          <a:xfrm>
            <a:off x="6711696" y="3200400"/>
            <a:ext cx="4562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text</a:t>
            </a:r>
            <a:r>
              <a:rPr lang="en-US" sz="1800" b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0.052   p = .129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711696" y="3547872"/>
            <a:ext cx="1046074" cy="274320"/>
          </a:xfrm>
          <a:prstGeom prst="roundRect">
            <a:avLst>
              <a:gd name="adj" fmla="val 166667"/>
            </a:avLst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6711696" y="4041648"/>
            <a:ext cx="4562856" cy="0"/>
          </a:xfrm>
          <a:prstGeom prst="line">
            <a:avLst/>
          </a:prstGeom>
          <a:noFill/>
          <a:ln w="12700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 txBox="1"/>
          <p:nvPr/>
        </p:nvSpPr>
        <p:spPr>
          <a:xfrm>
            <a:off x="6711696" y="4169664"/>
            <a:ext cx="4562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coefficient roughly halves and loses conventional significance — a shift in magnitude, with no formal cross-model test.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Templates may amplify similarity — but borrowers should not carry the burden.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· RQ3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Pressure arrives in platform-made pulses: arrivals in, completions out.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19072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2016–2025 the source of similarity moved — Volume-driven in 2018, a boilerplate hump in 2020–21, and by 2025 Volume is down while Homogeneity peaks.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66928" y="2450592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 txBox="1"/>
          <p:nvPr/>
        </p:nvSpPr>
        <p:spPr>
          <a:xfrm>
            <a:off x="914400" y="241401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· new listings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858768" y="2450592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 txBox="1"/>
          <p:nvPr/>
        </p:nvSpPr>
        <p:spPr>
          <a:xfrm>
            <a:off x="4206240" y="241401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· loans reaching raisedDate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74909" y="3678742"/>
            <a:ext cx="320040" cy="97730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674909" y="3831336"/>
            <a:ext cx="320040" cy="301696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1064606" y="3678656"/>
            <a:ext cx="320040" cy="97816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1064606" y="3831336"/>
            <a:ext cx="320040" cy="190208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1454304" y="3667172"/>
            <a:ext cx="320040" cy="109300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1454304" y="3831336"/>
            <a:ext cx="320040" cy="155169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1844002" y="3677812"/>
            <a:ext cx="320040" cy="98660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1844002" y="3831336"/>
            <a:ext cx="320040" cy="135145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2233699" y="3682565"/>
            <a:ext cx="320040" cy="93907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2233699" y="3831336"/>
            <a:ext cx="320040" cy="132786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2623397" y="3683391"/>
            <a:ext cx="320040" cy="93081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2623397" y="3831336"/>
            <a:ext cx="320040" cy="102482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3013095" y="3671011"/>
            <a:ext cx="320040" cy="105461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3013095" y="3831336"/>
            <a:ext cx="320040" cy="105753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3402792" y="3676091"/>
            <a:ext cx="320040" cy="100381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3402792" y="3831336"/>
            <a:ext cx="320040" cy="108078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3792490" y="3696649"/>
            <a:ext cx="320040" cy="79823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3792490" y="3831336"/>
            <a:ext cx="320040" cy="106425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4182188" y="3691725"/>
            <a:ext cx="320040" cy="84747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4182188" y="3831336"/>
            <a:ext cx="320040" cy="88931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4571885" y="3691794"/>
            <a:ext cx="320040" cy="84678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4571885" y="3831336"/>
            <a:ext cx="320040" cy="76328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4961583" y="3697648"/>
            <a:ext cx="320040" cy="78824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4961583" y="3831336"/>
            <a:ext cx="320040" cy="89103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5351281" y="3691484"/>
            <a:ext cx="320040" cy="84988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5351281" y="3831336"/>
            <a:ext cx="320040" cy="89534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5740978" y="3697854"/>
            <a:ext cx="320040" cy="78618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5740978" y="3831336"/>
            <a:ext cx="320040" cy="80150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6130676" y="3686783"/>
            <a:ext cx="320040" cy="89689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6130676" y="3831336"/>
            <a:ext cx="320040" cy="78928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6520374" y="3692465"/>
            <a:ext cx="320040" cy="84007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6520374" y="3831336"/>
            <a:ext cx="320040" cy="69871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6910072" y="3527550"/>
            <a:ext cx="320040" cy="248922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6910072" y="3831336"/>
            <a:ext cx="320040" cy="138967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7299769" y="2757003"/>
            <a:ext cx="320040" cy="1019469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7299769" y="3831336"/>
            <a:ext cx="320040" cy="473585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7689467" y="3553429"/>
            <a:ext cx="320040" cy="223043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7689467" y="3831336"/>
            <a:ext cx="320040" cy="415646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8079165" y="3582131"/>
            <a:ext cx="320040" cy="194341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8079165" y="3831336"/>
            <a:ext cx="320040" cy="277780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8468862" y="3577586"/>
            <a:ext cx="320040" cy="198886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8468862" y="3831336"/>
            <a:ext cx="320040" cy="243378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8858560" y="3576363"/>
            <a:ext cx="320040" cy="200109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8858560" y="3831336"/>
            <a:ext cx="320040" cy="264539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51"/>
          <p:cNvSpPr/>
          <p:nvPr/>
        </p:nvSpPr>
        <p:spPr>
          <a:xfrm>
            <a:off x="9248258" y="3570733"/>
            <a:ext cx="320040" cy="205739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Shape 52"/>
          <p:cNvSpPr/>
          <p:nvPr/>
        </p:nvSpPr>
        <p:spPr>
          <a:xfrm>
            <a:off x="9248258" y="3831336"/>
            <a:ext cx="320040" cy="237455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Shape 53"/>
          <p:cNvSpPr/>
          <p:nvPr/>
        </p:nvSpPr>
        <p:spPr>
          <a:xfrm>
            <a:off x="9637955" y="3566807"/>
            <a:ext cx="320040" cy="209665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Shape 54"/>
          <p:cNvSpPr/>
          <p:nvPr/>
        </p:nvSpPr>
        <p:spPr>
          <a:xfrm>
            <a:off x="9637955" y="3831336"/>
            <a:ext cx="320040" cy="197612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Shape 55"/>
          <p:cNvSpPr/>
          <p:nvPr/>
        </p:nvSpPr>
        <p:spPr>
          <a:xfrm>
            <a:off x="10027653" y="3603310"/>
            <a:ext cx="320040" cy="173162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Shape 56"/>
          <p:cNvSpPr/>
          <p:nvPr/>
        </p:nvSpPr>
        <p:spPr>
          <a:xfrm>
            <a:off x="10027653" y="3831336"/>
            <a:ext cx="320040" cy="184130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Shape 57"/>
          <p:cNvSpPr/>
          <p:nvPr/>
        </p:nvSpPr>
        <p:spPr>
          <a:xfrm>
            <a:off x="10417351" y="3623644"/>
            <a:ext cx="320040" cy="152828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0" name="Shape 58"/>
          <p:cNvSpPr/>
          <p:nvPr/>
        </p:nvSpPr>
        <p:spPr>
          <a:xfrm>
            <a:off x="10417351" y="3831336"/>
            <a:ext cx="320040" cy="194857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1" name="Shape 59"/>
          <p:cNvSpPr/>
          <p:nvPr/>
        </p:nvSpPr>
        <p:spPr>
          <a:xfrm>
            <a:off x="10807048" y="3603103"/>
            <a:ext cx="320040" cy="173369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2" name="Shape 60"/>
          <p:cNvSpPr/>
          <p:nvPr/>
        </p:nvSpPr>
        <p:spPr>
          <a:xfrm>
            <a:off x="10807048" y="3831336"/>
            <a:ext cx="320040" cy="174712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3" name="Shape 61"/>
          <p:cNvSpPr/>
          <p:nvPr/>
        </p:nvSpPr>
        <p:spPr>
          <a:xfrm>
            <a:off x="11196746" y="3588760"/>
            <a:ext cx="320040" cy="187712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4" name="Shape 62"/>
          <p:cNvSpPr/>
          <p:nvPr/>
        </p:nvSpPr>
        <p:spPr>
          <a:xfrm>
            <a:off x="11196746" y="3831336"/>
            <a:ext cx="320040" cy="156513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5" name="Shape 63"/>
          <p:cNvSpPr/>
          <p:nvPr/>
        </p:nvSpPr>
        <p:spPr>
          <a:xfrm>
            <a:off x="640080" y="3803904"/>
            <a:ext cx="10911535" cy="0"/>
          </a:xfrm>
          <a:prstGeom prst="line">
            <a:avLst/>
          </a:prstGeom>
          <a:noFill/>
          <a:ln w="12700">
            <a:solidFill>
              <a:srgbClr val="12211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Text 64"/>
          <p:cNvSpPr txBox="1"/>
          <p:nvPr/>
        </p:nvSpPr>
        <p:spPr>
          <a:xfrm>
            <a:off x="228600" y="4663440"/>
            <a:ext cx="1212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6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600" dirty="0"/>
          </a:p>
        </p:txBody>
      </p:sp>
      <p:sp>
        <p:nvSpPr>
          <p:cNvPr id="67" name="Text 65"/>
          <p:cNvSpPr txBox="1"/>
          <p:nvPr/>
        </p:nvSpPr>
        <p:spPr>
          <a:xfrm>
            <a:off x="2566786" y="4663440"/>
            <a:ext cx="1212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6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</a:t>
            </a:r>
            <a:endParaRPr lang="en-US" sz="1600" dirty="0"/>
          </a:p>
        </p:txBody>
      </p:sp>
      <p:sp>
        <p:nvSpPr>
          <p:cNvPr id="68" name="Text 66"/>
          <p:cNvSpPr txBox="1"/>
          <p:nvPr/>
        </p:nvSpPr>
        <p:spPr>
          <a:xfrm>
            <a:off x="5294670" y="4663440"/>
            <a:ext cx="1212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6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14</a:t>
            </a:r>
            <a:endParaRPr lang="en-US" sz="1600" dirty="0"/>
          </a:p>
        </p:txBody>
      </p:sp>
      <p:sp>
        <p:nvSpPr>
          <p:cNvPr id="69" name="Text 67"/>
          <p:cNvSpPr txBox="1"/>
          <p:nvPr/>
        </p:nvSpPr>
        <p:spPr>
          <a:xfrm>
            <a:off x="8022554" y="4663440"/>
            <a:ext cx="1212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6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21</a:t>
            </a:r>
            <a:endParaRPr lang="en-US" sz="1600" dirty="0"/>
          </a:p>
        </p:txBody>
      </p:sp>
      <p:sp>
        <p:nvSpPr>
          <p:cNvPr id="70" name="Text 68"/>
          <p:cNvSpPr txBox="1"/>
          <p:nvPr/>
        </p:nvSpPr>
        <p:spPr>
          <a:xfrm>
            <a:off x="10750438" y="4663440"/>
            <a:ext cx="1212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6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28</a:t>
            </a:r>
            <a:endParaRPr lang="en-US" sz="1600" dirty="0"/>
          </a:p>
        </p:txBody>
      </p:sp>
      <p:sp>
        <p:nvSpPr>
          <p:cNvPr id="71" name="Text 69"/>
          <p:cNvSpPr txBox="1"/>
          <p:nvPr/>
        </p:nvSpPr>
        <p:spPr>
          <a:xfrm>
            <a:off x="822960" y="327355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18: arrivals 5.9× — completions only 2.8×</a:t>
            </a:r>
            <a:endParaRPr lang="en-US" sz="1600" dirty="0"/>
          </a:p>
        </p:txBody>
      </p:sp>
      <p:sp>
        <p:nvSpPr>
          <p:cNvPr id="72" name="Text 70"/>
          <p:cNvSpPr txBox="1"/>
          <p:nvPr/>
        </p:nvSpPr>
        <p:spPr>
          <a:xfrm>
            <a:off x="566928" y="4974336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Schematic drawn to the 2024–25 daily index; the fitted series is in Appendix A6.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4" name="Text 72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pulses peak on the same day — arrivals spike far higher than completions release.</a:t>
            </a:r>
            <a:endParaRPr lang="en-US" sz="2000" dirty="0"/>
          </a:p>
        </p:txBody>
      </p:sp>
      <p:sp>
        <p:nvSpPr>
          <p:cNvPr id="75" name="Text 73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· RQ4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Homogeneity, two different market problems.</a:t>
            </a:r>
            <a:endParaRPr lang="en-US" sz="3000" dirty="0"/>
          </a:p>
        </p:txBody>
      </p:sp>
      <p:sp>
        <p:nvSpPr>
          <p:cNvPr id="24" name="Shape 22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Diagnose why stories look alike before choosing the lever.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6016752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comparison of mean focal-to-pool cosine on raw versus recurring-language-removed text — not a per-sector re-estimation. Segment estimates are far less precise, and the market boundary is a choice, not a proven fact.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8" name="Rounded Rectangle 27"/>
          <p:cNvSpPr/>
          <p:nvPr/>
        </p:nvSpPr>
        <p:spPr>
          <a:xfrm>
            <a:off x="566928" y="1700784"/>
            <a:ext cx="6766560" cy="3419856"/>
          </a:xfrm>
          <a:prstGeom prst="roundRect">
            <a:avLst>
              <a:gd name="adj" fmla="val 3500"/>
            </a:avLst>
          </a:prstGeom>
          <a:solidFill>
            <a:srgbClr val="FA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9" name="Picture 28" descr="S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792224"/>
            <a:ext cx="6583680" cy="3236976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7607808" y="1700784"/>
            <a:ext cx="4014215" cy="1636776"/>
          </a:xfrm>
          <a:prstGeom prst="roundRect">
            <a:avLst>
              <a:gd name="adj" fmla="val 6000"/>
            </a:avLst>
          </a:prstGeom>
          <a:solidFill>
            <a:srgbClr val="0E3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7607808" y="3483864"/>
            <a:ext cx="4014215" cy="1636776"/>
          </a:xfrm>
          <a:prstGeom prst="roundRect">
            <a:avLst>
              <a:gd name="adj" fmla="val 6000"/>
            </a:avLst>
          </a:prstGeom>
          <a:solidFill>
            <a:srgbClr val="F1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882127" y="1865376"/>
            <a:ext cx="346557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9BCB3B"/>
                </a:solidFill>
                <a:latin typeface="Calibri"/>
              </a:rPr>
              <a:t>TYPE A · PRODUCT SAMENESS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82127" y="2157984"/>
            <a:ext cx="34655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CFE3D6"/>
                </a:solidFill>
                <a:latin typeface="Calibri"/>
              </a:rPr>
              <a:t>Housing, Arts, Transportation — the resemblance survives residual text.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82127" y="2596896"/>
            <a:ext cx="346557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7E9A88"/>
                </a:solidFill>
                <a:latin typeface="Calibri"/>
              </a:rPr>
              <a:t>LEVER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82127" y="2770632"/>
            <a:ext cx="346557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>
                <a:solidFill>
                  <a:srgbClr val="FFFFFF"/>
                </a:solidFill>
                <a:latin typeface="Calibri"/>
              </a:rPr>
              <a:t>Stagger releases · rotate exposure · diversify ranking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82127" y="3648456"/>
            <a:ext cx="346557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6A4C93"/>
                </a:solidFill>
                <a:latin typeface="Calibri"/>
              </a:rPr>
              <a:t>TYPE B · PROCESS SAMENESS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82127" y="3941063"/>
            <a:ext cx="34655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56655D"/>
                </a:solidFill>
                <a:latin typeface="Calibri"/>
              </a:rPr>
              <a:t>Retail, Food, Clean Energy — recurring language carries the resemblance.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82127" y="4379976"/>
            <a:ext cx="346557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8A9691"/>
                </a:solidFill>
                <a:latin typeface="Calibri"/>
              </a:rPr>
              <a:t>LEVER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82127" y="4553712"/>
            <a:ext cx="346557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>
                <a:solidFill>
                  <a:srgbClr val="12211A"/>
                </a:solidFill>
                <a:latin typeface="Calibri"/>
              </a:rPr>
              <a:t>Partner-approved template variants — not longer borrower stories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3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9BC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IMPLICATIONS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Kiva Pulse turns market state into one reversible experiment.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2572436" cy="3419856"/>
          </a:xfrm>
          <a:prstGeom prst="roundRect">
            <a:avLst>
              <a:gd name="adj" fmla="val 2844"/>
            </a:avLst>
          </a:prstGeom>
          <a:solidFill>
            <a:srgbClr val="1751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822960" y="1901952"/>
            <a:ext cx="384048" cy="384048"/>
          </a:xfrm>
          <a:prstGeom prst="ellipse">
            <a:avLst/>
          </a:prstGeom>
          <a:solidFill>
            <a:srgbClr val="9BCB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1901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316736" y="1920240"/>
            <a:ext cx="1658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2487168"/>
            <a:ext cx="2060372" cy="0"/>
          </a:xfrm>
          <a:prstGeom prst="line">
            <a:avLst/>
          </a:prstGeom>
          <a:noFill/>
          <a:ln w="12700">
            <a:solidFill>
              <a:srgbClr val="2C6B5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822960" y="2560320"/>
            <a:ext cx="2060372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C, H and the arrivals-minus-completions gap, read by market and by day.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95396" y="1700784"/>
            <a:ext cx="2572436" cy="3419856"/>
          </a:xfrm>
          <a:prstGeom prst="roundRect">
            <a:avLst>
              <a:gd name="adj" fmla="val 2844"/>
            </a:avLst>
          </a:prstGeom>
          <a:solidFill>
            <a:srgbClr val="1751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3651428" y="1901952"/>
            <a:ext cx="384048" cy="384048"/>
          </a:xfrm>
          <a:prstGeom prst="ellipse">
            <a:avLst/>
          </a:prstGeom>
          <a:solidFill>
            <a:srgbClr val="9BCB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 txBox="1"/>
          <p:nvPr/>
        </p:nvSpPr>
        <p:spPr>
          <a:xfrm>
            <a:off x="3651428" y="1901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145204" y="1920240"/>
            <a:ext cx="1658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DIAGNOSE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651428" y="2487168"/>
            <a:ext cx="2060372" cy="0"/>
          </a:xfrm>
          <a:prstGeom prst="line">
            <a:avLst/>
          </a:prstGeom>
          <a:noFill/>
          <a:ln w="12700">
            <a:solidFill>
              <a:srgbClr val="2C6B5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 txBox="1"/>
          <p:nvPr/>
        </p:nvSpPr>
        <p:spPr>
          <a:xfrm>
            <a:off x="3651428" y="2560320"/>
            <a:ext cx="2060372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sameness, process sameness — or high H with no live substitutes.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23864" y="1700784"/>
            <a:ext cx="2572436" cy="3419856"/>
          </a:xfrm>
          <a:prstGeom prst="roundRect">
            <a:avLst>
              <a:gd name="adj" fmla="val 2844"/>
            </a:avLst>
          </a:prstGeom>
          <a:solidFill>
            <a:srgbClr val="1751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6479896" y="1901952"/>
            <a:ext cx="384048" cy="384048"/>
          </a:xfrm>
          <a:prstGeom prst="ellipse">
            <a:avLst/>
          </a:prstGeom>
          <a:solidFill>
            <a:srgbClr val="9BCB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 txBox="1"/>
          <p:nvPr/>
        </p:nvSpPr>
        <p:spPr>
          <a:xfrm>
            <a:off x="6479896" y="1901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973672" y="1920240"/>
            <a:ext cx="1658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479896" y="2487168"/>
            <a:ext cx="2060372" cy="0"/>
          </a:xfrm>
          <a:prstGeom prst="line">
            <a:avLst/>
          </a:prstGeom>
          <a:noFill/>
          <a:ln w="12700">
            <a:solidFill>
              <a:srgbClr val="2C6B5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 txBox="1"/>
          <p:nvPr/>
        </p:nvSpPr>
        <p:spPr>
          <a:xfrm>
            <a:off x="6479896" y="2560320"/>
            <a:ext cx="2060372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pilot per diagnosis: schedule and exposure, or partner template variants.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052331" y="1700784"/>
            <a:ext cx="2572436" cy="3419856"/>
          </a:xfrm>
          <a:prstGeom prst="roundRect">
            <a:avLst>
              <a:gd name="adj" fmla="val 2844"/>
            </a:avLst>
          </a:prstGeom>
          <a:solidFill>
            <a:srgbClr val="1751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9308363" y="1901952"/>
            <a:ext cx="384048" cy="384048"/>
          </a:xfrm>
          <a:prstGeom prst="ellipse">
            <a:avLst/>
          </a:prstGeom>
          <a:solidFill>
            <a:srgbClr val="9BCB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 txBox="1"/>
          <p:nvPr/>
        </p:nvSpPr>
        <p:spPr>
          <a:xfrm>
            <a:off x="9308363" y="1901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9802139" y="1920240"/>
            <a:ext cx="1658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9308363" y="2487168"/>
            <a:ext cx="2060372" cy="0"/>
          </a:xfrm>
          <a:prstGeom prst="line">
            <a:avLst/>
          </a:prstGeom>
          <a:noFill/>
          <a:ln w="12700">
            <a:solidFill>
              <a:srgbClr val="2C6B5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 txBox="1"/>
          <p:nvPr/>
        </p:nvSpPr>
        <p:spPr>
          <a:xfrm>
            <a:off x="9308363" y="2560320"/>
            <a:ext cx="2060372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FundingHours and the 72-hour rate, against fairness and displacement guardrails.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11111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borrower score.    No automatic penalty.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566928" y="6126480"/>
            <a:ext cx="102348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9BC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the same four steps, running on the real 2016–2024 data.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7E9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research questions, four answers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00784"/>
          <a:ext cx="11057839" cy="914400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23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 question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 we defend  ·  outcome: FundingHours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E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RQ1  Active narrative saturation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C × H adds funding hours. Volume and Homogeneity reinforce each other.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E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RQ2  Competition vs wear-out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robust evidence — the recent-saturation interval crosses zero.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E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RQ3  Evolution of the two channels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constant — it shifts by year and arrives as listing and completion pulses.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E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RQ4  Segment boundaries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uniform — product sameness and process sameness need different levers.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Pressure depends on when and where a story appears — so the tool must be dynamic.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6163056"/>
            <a:ext cx="104177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Pre-specified comparisons. Conditional associations within a fixed-effects structure, not causal effects.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boundaries and the raised-only limit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5257800" cy="3419856"/>
          </a:xfrm>
          <a:prstGeom prst="roundRect">
            <a:avLst>
              <a:gd name="adj" fmla="val 2406"/>
            </a:avLst>
          </a:prstGeom>
          <a:solidFill>
            <a:srgbClr val="F1F6F2"/>
          </a:solidFill>
          <a:ln w="9525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1938528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2459736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 txBox="1"/>
          <p:nvPr/>
        </p:nvSpPr>
        <p:spPr>
          <a:xfrm>
            <a:off x="1152144" y="2322576"/>
            <a:ext cx="4325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1,453,846 loans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 Jan 2016 – 31 Dec 2025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2990088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1152144" y="2852928"/>
            <a:ext cx="4325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2016–2024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≈1.23M training loans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14400" y="3520440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1152144" y="3383280"/>
            <a:ext cx="4325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holdout, never touched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14400" y="4050792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 txBox="1"/>
          <p:nvPr/>
        </p:nvSpPr>
        <p:spPr>
          <a:xfrm>
            <a:off x="1152144" y="3913632"/>
            <a:ext cx="4325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Pools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same sector, minimum size ten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914400" y="4581144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 txBox="1"/>
          <p:nvPr/>
        </p:nvSpPr>
        <p:spPr>
          <a:xfrm>
            <a:off x="1152144" y="4443984"/>
            <a:ext cx="4325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masked; TF–IDF unigram + bigram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364224" y="1700784"/>
            <a:ext cx="5257800" cy="3419856"/>
          </a:xfrm>
          <a:prstGeom prst="roundRect">
            <a:avLst>
              <a:gd name="adj" fmla="val 2406"/>
            </a:avLst>
          </a:prstGeom>
          <a:solidFill>
            <a:srgbClr val="F7EFEC"/>
          </a:solidFill>
          <a:ln w="9525">
            <a:solidFill>
              <a:srgbClr val="EBD8D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 txBox="1"/>
          <p:nvPr/>
        </p:nvSpPr>
        <p:spPr>
          <a:xfrm>
            <a:off x="6711696" y="1938528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C4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711696" y="2459736"/>
            <a:ext cx="91440" cy="91440"/>
          </a:xfrm>
          <a:prstGeom prst="ellipse">
            <a:avLst/>
          </a:prstGeom>
          <a:solidFill>
            <a:srgbClr val="C446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 txBox="1"/>
          <p:nvPr/>
        </p:nvSpPr>
        <p:spPr>
          <a:xfrm>
            <a:off x="6949440" y="2322576"/>
            <a:ext cx="43251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Raised-only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FundingHours exists only for funded loans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711696" y="3154680"/>
            <a:ext cx="91440" cy="91440"/>
          </a:xfrm>
          <a:prstGeom prst="ellipse">
            <a:avLst/>
          </a:prstGeom>
          <a:solidFill>
            <a:srgbClr val="C446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 txBox="1"/>
          <p:nvPr/>
        </p:nvSpPr>
        <p:spPr>
          <a:xfrm>
            <a:off x="6949440" y="3017520"/>
            <a:ext cx="43251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lender identity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wear-out is tested at market level only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711696" y="3849624"/>
            <a:ext cx="91440" cy="91440"/>
          </a:xfrm>
          <a:prstGeom prst="ellipse">
            <a:avLst/>
          </a:prstGeom>
          <a:solidFill>
            <a:srgbClr val="C446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 txBox="1"/>
          <p:nvPr/>
        </p:nvSpPr>
        <p:spPr>
          <a:xfrm>
            <a:off x="6949440" y="3712464"/>
            <a:ext cx="43251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partner id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handled by boilerplate decomposition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711696" y="4544568"/>
            <a:ext cx="91440" cy="91440"/>
          </a:xfrm>
          <a:prstGeom prst="ellipse">
            <a:avLst/>
          </a:prstGeom>
          <a:solidFill>
            <a:srgbClr val="C446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 txBox="1"/>
          <p:nvPr/>
        </p:nvSpPr>
        <p:spPr>
          <a:xfrm>
            <a:off x="6949440" y="4407408"/>
            <a:ext cx="43251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borrower quality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never reported at borrower level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These estimates describe funded stories — not whether a story funds at all.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6163056"/>
            <a:ext cx="104177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carries a raisedDate, so right censoring cannot be identified and no AFT model is fitted.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model, and what happens when we change 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11057839" cy="914400"/>
          </a:xfrm>
          <a:prstGeom prst="roundRect">
            <a:avLst>
              <a:gd name="adj" fmla="val 7000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 txBox="1"/>
          <p:nvPr/>
        </p:nvSpPr>
        <p:spPr>
          <a:xfrm>
            <a:off x="896112" y="1773936"/>
            <a:ext cx="1039947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log(1 + FundingHours) = b0 + b1·C + b2·H + b3·(C × H)</a:t>
            </a:r>
            <a:endParaRPr lang="en-US" sz="1700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+ b4·V + b5·G + b6·(V × G) + γ·X + FE</a:t>
            </a:r>
            <a:endParaRPr lang="en-US" sz="17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761488"/>
          <a:ext cx="11057839" cy="914400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23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E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Precommitted 14-day posting pool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× H 0.089, p &lt; .001 — outcome-independent pool agrees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E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P75-calibrated 16-day posting pool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× H 0.099, p &lt; .001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E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Pool threshold n ≥ 5 / n ≥ 20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× H 0.101 / 0.099 — direction and size hold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E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Residual text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× H 0.102 → 0.052; loses conventional significance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E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 instead of use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× H 0.130, p &lt; 1e-6; V × G turns null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66928" y="6016752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Country, activity and week fixed effects; SE clustered by country and week. No cross-model difference test; the 7-day decay half-life is frozen and no forward-window falsification was estimated.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A4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RQ2: why we report a joint scenario, not three coefficients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5257800" cy="3419856"/>
          </a:xfrm>
          <a:prstGeom prst="roundRect">
            <a:avLst>
              <a:gd name="adj" fmla="val 2406"/>
            </a:avLst>
          </a:prstGeom>
          <a:solidFill>
            <a:srgbClr val="F1F6F2"/>
          </a:solidFill>
          <a:ln w="9525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1938528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LAGGED-POOL TERMS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2496312"/>
            <a:ext cx="91440" cy="91440"/>
          </a:xfrm>
          <a:prstGeom prst="ellipse">
            <a:avLst/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 txBox="1"/>
          <p:nvPr/>
        </p:nvSpPr>
        <p:spPr>
          <a:xfrm>
            <a:off x="1152144" y="2359152"/>
            <a:ext cx="43251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decayed count, L to L+29 days before t, 7-day half-life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3282696"/>
            <a:ext cx="91440" cy="91440"/>
          </a:xfrm>
          <a:prstGeom prst="ellipse">
            <a:avLst/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1152144" y="3145536"/>
            <a:ext cx="43251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decayed mean cosine to that same pool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14400" y="4069080"/>
            <a:ext cx="91440" cy="91440"/>
          </a:xfrm>
          <a:prstGeom prst="ellipse">
            <a:avLst/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1152144" y="3931920"/>
            <a:ext cx="43251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× G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recent saturation — the wear-out test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663440"/>
            <a:ext cx="4562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sits at the fundraising cap, so lagged loans have left the page by construction.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364224" y="1700784"/>
            <a:ext cx="5257800" cy="3419856"/>
          </a:xfrm>
          <a:prstGeom prst="roundRect">
            <a:avLst>
              <a:gd name="adj" fmla="val 2406"/>
            </a:avLst>
          </a:prstGeom>
          <a:solidFill>
            <a:srgbClr val="E9F3EC"/>
          </a:solidFill>
          <a:ln w="9525">
            <a:solidFill>
              <a:srgbClr val="C8E0D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 txBox="1"/>
          <p:nvPr/>
        </p:nvSpPr>
        <p:spPr>
          <a:xfrm>
            <a:off x="6711696" y="1938528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REPORT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711696" y="2304288"/>
            <a:ext cx="4562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6900"/>
              </a:lnSpc>
              <a:buNone/>
            </a:pPr>
            <a:r>
              <a:rPr lang="en-US" sz="5200" b="1" dirty="0">
                <a:solidFill>
                  <a:srgbClr val="8A96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−1.4%</a:t>
            </a:r>
            <a:endParaRPr lang="en-US" sz="5200" dirty="0"/>
          </a:p>
        </p:txBody>
      </p:sp>
      <p:sp>
        <p:nvSpPr>
          <p:cNvPr id="16" name="Text 14"/>
          <p:cNvSpPr txBox="1"/>
          <p:nvPr/>
        </p:nvSpPr>
        <p:spPr>
          <a:xfrm>
            <a:off x="6711696" y="3163824"/>
            <a:ext cx="4562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P25 → P75 move in conditional FundingHours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711696" y="3694176"/>
            <a:ext cx="4562856" cy="0"/>
          </a:xfrm>
          <a:prstGeom prst="line">
            <a:avLst/>
          </a:prstGeom>
          <a:noFill/>
          <a:ln w="12700">
            <a:solidFill>
              <a:srgbClr val="C8E0D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6711696" y="3922776"/>
            <a:ext cx="91440" cy="91440"/>
          </a:xfrm>
          <a:prstGeom prst="ellipse">
            <a:avLst/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 txBox="1"/>
          <p:nvPr/>
        </p:nvSpPr>
        <p:spPr>
          <a:xfrm>
            <a:off x="6949440" y="3785616"/>
            <a:ext cx="4325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−15.8% to +15.4%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711696" y="4343400"/>
            <a:ext cx="91440" cy="91440"/>
          </a:xfrm>
          <a:prstGeom prst="ellipse">
            <a:avLst/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 txBox="1"/>
          <p:nvPr/>
        </p:nvSpPr>
        <p:spPr>
          <a:xfrm>
            <a:off x="6949440" y="4206240"/>
            <a:ext cx="4325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72-hour rate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−0.5 pp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711696" y="4764024"/>
            <a:ext cx="91440" cy="91440"/>
          </a:xfrm>
          <a:prstGeom prst="ellipse">
            <a:avLst/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 txBox="1"/>
          <p:nvPr/>
        </p:nvSpPr>
        <p:spPr>
          <a:xfrm>
            <a:off x="6949440" y="4626864"/>
            <a:ext cx="4325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test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not distinguishable from zero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null is not proof of absence — it is the absence of proof at this precision.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6163056"/>
            <a:ext cx="104177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Market-level repetition is a weak stand-in for a lender's own exposure history — see A10.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Boilerplate detection, and why the “use” field carries the signal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5257800" cy="2304288"/>
          </a:xfrm>
          <a:prstGeom prst="roundRect">
            <a:avLst>
              <a:gd name="adj" fmla="val 3571"/>
            </a:avLst>
          </a:prstGeom>
          <a:solidFill>
            <a:srgbClr val="F1F6F2"/>
          </a:solidFill>
          <a:ln w="9525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190195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BOILERPLATE IS IDENTIFIED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2441448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 txBox="1"/>
          <p:nvPr/>
        </p:nvSpPr>
        <p:spPr>
          <a:xfrm>
            <a:off x="1152144" y="2304288"/>
            <a:ext cx="43251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high-frequency verbatim sequences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2935224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1152144" y="2798064"/>
            <a:ext cx="43251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fixed before any outcome was seen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14400" y="3429000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1152144" y="3291840"/>
            <a:ext cx="43251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uses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covariate, and residual-text variant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364224" y="1700784"/>
            <a:ext cx="5257800" cy="2304288"/>
          </a:xfrm>
          <a:prstGeom prst="roundRect">
            <a:avLst>
              <a:gd name="adj" fmla="val 3571"/>
            </a:avLst>
          </a:prstGeom>
          <a:solidFill>
            <a:srgbClr val="E9F3EC"/>
          </a:solidFill>
          <a:ln w="9525">
            <a:solidFill>
              <a:srgbClr val="C8E0D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 txBox="1"/>
          <p:nvPr/>
        </p:nvSpPr>
        <p:spPr>
          <a:xfrm>
            <a:off x="6711696" y="190195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COSINE, RANDOM SAME-SECTOR PAIRS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711696" y="232257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174736" y="2359152"/>
            <a:ext cx="1664208" cy="256032"/>
          </a:xfrm>
          <a:prstGeom prst="roundRect">
            <a:avLst>
              <a:gd name="adj" fmla="val 178571"/>
            </a:avLst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 txBox="1"/>
          <p:nvPr/>
        </p:nvSpPr>
        <p:spPr>
          <a:xfrm>
            <a:off x="9985248" y="230428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0.26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711696" y="279806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174736" y="2834640"/>
            <a:ext cx="2624305" cy="256032"/>
          </a:xfrm>
          <a:prstGeom prst="roundRect">
            <a:avLst>
              <a:gd name="adj" fmla="val 178571"/>
            </a:avLst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 txBox="1"/>
          <p:nvPr/>
        </p:nvSpPr>
        <p:spPr>
          <a:xfrm>
            <a:off x="11137392" y="277977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0.41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711696" y="3255264"/>
            <a:ext cx="4562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scan-stage statement separates loans; the description already reads as near-identical.</a:t>
            </a:r>
            <a:endParaRPr lang="en-US" sz="17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224528"/>
          <a:ext cx="11057839" cy="914400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943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Specification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× H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Reading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E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text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0.102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.003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saturation is present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E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Residual text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0.052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.129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roughly halves; loses significance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E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Boilerplate share as covariate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n.s.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separate association given C, H, C × H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 txBox="1"/>
          <p:nvPr/>
        </p:nvSpPr>
        <p:spPr>
          <a:xfrm>
            <a:off x="566928" y="6163056"/>
            <a:ext cx="104177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Boilerplate appears to work through resemblance to what is on the page at the same time.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A6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calendar view: arrivals and completions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6766560" cy="3419856"/>
          </a:xfrm>
          <a:prstGeom prst="roundRect">
            <a:avLst>
              <a:gd name="adj" fmla="val 1604"/>
            </a:avLst>
          </a:prstGeom>
          <a:solidFill>
            <a:srgbClr val="FAFCFA"/>
          </a:solidFill>
          <a:ln w="12700">
            <a:noFill/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607808" y="1700784"/>
            <a:ext cx="4014216" cy="3419856"/>
          </a:xfrm>
          <a:prstGeom prst="roundRect">
            <a:avLst>
              <a:gd name="adj" fmla="val 2406"/>
            </a:avLst>
          </a:prstGeom>
          <a:solidFill>
            <a:srgbClr val="F1F6F2"/>
          </a:solidFill>
          <a:ln w="9525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 txBox="1"/>
          <p:nvPr/>
        </p:nvSpPr>
        <p:spPr>
          <a:xfrm>
            <a:off x="7918704" y="1920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POINT AT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918704" y="2496312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8156448" y="2359152"/>
            <a:ext cx="31455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pulse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day 18 in 2024–25 (5.9×); day 17 across the decade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918704" y="3209544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8156448" y="3072384"/>
            <a:ext cx="31455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pulse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peaks on the same day, 2.8× — one day wider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918704" y="3922776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 txBox="1"/>
          <p:nvPr/>
        </p:nvSpPr>
        <p:spPr>
          <a:xfrm>
            <a:off x="8156448" y="3785616"/>
            <a:ext cx="31455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effect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day 18 is the only day arrivals clearly exceed completions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918704" y="4636008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 txBox="1"/>
          <p:nvPr/>
        </p:nvSpPr>
        <p:spPr>
          <a:xfrm>
            <a:off x="8156448" y="4498848"/>
            <a:ext cx="31455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/ hour / month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0.86–1.08 and 0.51–1.70 — much smaller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pulses are supply-side rhythms — not lender mood.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6163056"/>
            <a:ext cx="104177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shows a schematic of the mechanism; this is the fitted series.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A6</a:t>
            </a:r>
            <a:endParaRPr lang="en-US" sz="1600" dirty="0"/>
          </a:p>
        </p:txBody>
      </p:sp>
      <p:pic>
        <p:nvPicPr>
          <p:cNvPr id="20" name="Picture 19" descr="A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792224"/>
            <a:ext cx="6583680" cy="323697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A7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 by year: the source of similarity moves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6766560" cy="3419856"/>
          </a:xfrm>
          <a:prstGeom prst="roundRect">
            <a:avLst>
              <a:gd name="adj" fmla="val 1604"/>
            </a:avLst>
          </a:prstGeom>
          <a:solidFill>
            <a:srgbClr val="FAFCFA"/>
          </a:solidFill>
          <a:ln w="12700">
            <a:noFill/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607808" y="1700784"/>
            <a:ext cx="4014216" cy="3419856"/>
          </a:xfrm>
          <a:prstGeom prst="roundRect">
            <a:avLst>
              <a:gd name="adj" fmla="val 2406"/>
            </a:avLst>
          </a:prstGeom>
          <a:solidFill>
            <a:srgbClr val="F1F6F2"/>
          </a:solidFill>
          <a:ln w="9525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 txBox="1"/>
          <p:nvPr/>
        </p:nvSpPr>
        <p:spPr>
          <a:xfrm>
            <a:off x="7918704" y="1920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STOPS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918704" y="2569464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8156448" y="2432304"/>
            <a:ext cx="3145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low H; pressure comes from Volume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918704" y="3410712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8156448" y="3273552"/>
            <a:ext cx="3145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2020–21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wider pool; boilerplate lifts H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918704" y="4251960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 txBox="1"/>
          <p:nvPr/>
        </p:nvSpPr>
        <p:spPr>
          <a:xfrm>
            <a:off x="8156448" y="4114800"/>
            <a:ext cx="3145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boilerplate normal, C down, H highest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C446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Treat every year label as context, not as a proven cause.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6163056"/>
            <a:ext cx="104177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interactions split the main effect ten ways — reported as descriptive and exploratory.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A7</a:t>
            </a:r>
            <a:endParaRPr lang="en-US" sz="1600" dirty="0"/>
          </a:p>
        </p:txBody>
      </p:sp>
      <p:pic>
        <p:nvPicPr>
          <p:cNvPr id="18" name="Picture 17" descr="A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792224"/>
            <a:ext cx="6583680" cy="323697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A8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Segments and the boundary of the attention market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6766560" cy="3419856"/>
          </a:xfrm>
          <a:prstGeom prst="roundRect">
            <a:avLst>
              <a:gd name="adj" fmla="val 1604"/>
            </a:avLst>
          </a:prstGeom>
          <a:solidFill>
            <a:srgbClr val="FAFCFA"/>
          </a:solidFill>
          <a:ln w="12700">
            <a:noFill/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607808" y="1700784"/>
            <a:ext cx="4014216" cy="3419856"/>
          </a:xfrm>
          <a:prstGeom prst="roundRect">
            <a:avLst>
              <a:gd name="adj" fmla="val 2406"/>
            </a:avLst>
          </a:prstGeom>
          <a:solidFill>
            <a:srgbClr val="F1F6F2"/>
          </a:solidFill>
          <a:ln w="9525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 txBox="1"/>
          <p:nvPr/>
        </p:nvSpPr>
        <p:spPr>
          <a:xfrm>
            <a:off x="7918704" y="1920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CANDIDATE MARKETS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918704" y="2569464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8156448" y="2432304"/>
            <a:ext cx="3145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Platform-wide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too coarse; absorbed by week FE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918704" y="3410712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8156448" y="3273552"/>
            <a:ext cx="3145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same-sector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our headline definition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918704" y="4251960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 txBox="1"/>
          <p:nvPr/>
        </p:nvSpPr>
        <p:spPr>
          <a:xfrm>
            <a:off x="8156448" y="4114800"/>
            <a:ext cx="3145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× activity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matches how partners batch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present the sector definition as a choice, not as a proven boundary.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6163056"/>
            <a:ext cx="104177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interaction test first; a 5% change in expected FundingHours is the smallest meaningful effect.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A8</a:t>
            </a:r>
            <a:endParaRPr lang="en-US" sz="1600" dirty="0"/>
          </a:p>
        </p:txBody>
      </p:sp>
      <p:pic>
        <p:nvPicPr>
          <p:cNvPr id="18" name="Picture 17" descr="A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792224"/>
            <a:ext cx="6583680" cy="323697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A9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2025 holdout — why this cannot be a borrower score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5257800" cy="3419856"/>
          </a:xfrm>
          <a:prstGeom prst="roundRect">
            <a:avLst>
              <a:gd name="adj" fmla="val 2406"/>
            </a:avLst>
          </a:prstGeom>
          <a:solidFill>
            <a:srgbClr val="F7EFEC"/>
          </a:solidFill>
          <a:ln w="9525">
            <a:solidFill>
              <a:srgbClr val="EBD8D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1938528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C4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HOLDOUT SHOWED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95728"/>
            <a:ext cx="45628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800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C, H, C × H, V, G and V × G did not stably improve prediction of an individual 2025 loan's FundingHours.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3602736"/>
            <a:ext cx="4562856" cy="0"/>
          </a:xfrm>
          <a:prstGeom prst="line">
            <a:avLst/>
          </a:prstGeom>
          <a:noFill/>
          <a:ln w="12700">
            <a:solidFill>
              <a:srgbClr val="EBD8D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914400" y="3849624"/>
            <a:ext cx="91440" cy="91440"/>
          </a:xfrm>
          <a:prstGeom prst="ellipse">
            <a:avLst/>
          </a:prstGeom>
          <a:solidFill>
            <a:srgbClr val="C446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1152144" y="3712464"/>
            <a:ext cx="43251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level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signal present and interpretable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14400" y="4544568"/>
            <a:ext cx="91440" cy="91440"/>
          </a:xfrm>
          <a:prstGeom prst="ellipse">
            <a:avLst/>
          </a:prstGeom>
          <a:solidFill>
            <a:srgbClr val="C446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1152144" y="4407408"/>
            <a:ext cx="43251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level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not stable enough to act on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364224" y="1700784"/>
            <a:ext cx="5257800" cy="3419856"/>
          </a:xfrm>
          <a:prstGeom prst="roundRect">
            <a:avLst>
              <a:gd name="adj" fmla="val 2406"/>
            </a:avLst>
          </a:prstGeom>
          <a:solidFill>
            <a:srgbClr val="E9F3EC"/>
          </a:solidFill>
          <a:ln w="9525">
            <a:solidFill>
              <a:srgbClr val="C8E0D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 txBox="1"/>
          <p:nvPr/>
        </p:nvSpPr>
        <p:spPr>
          <a:xfrm>
            <a:off x="6711696" y="1938528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FOLLOWS FROM IT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711696" y="2496312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 txBox="1"/>
          <p:nvPr/>
        </p:nvSpPr>
        <p:spPr>
          <a:xfrm>
            <a:off x="6949440" y="2359152"/>
            <a:ext cx="43251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score borrowers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holdout does not support a loan-level score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711696" y="3355848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 txBox="1"/>
          <p:nvPr/>
        </p:nvSpPr>
        <p:spPr>
          <a:xfrm>
            <a:off x="6949440" y="3218688"/>
            <a:ext cx="43251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monitor markets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active saturation is stable as a market state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711696" y="4215384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 txBox="1"/>
          <p:nvPr/>
        </p:nvSpPr>
        <p:spPr>
          <a:xfrm>
            <a:off x="6949440" y="4078224"/>
            <a:ext cx="43251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randomise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trigger turns an association into learning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failure to predict individual loans is why Kiva Pulse is a trigger, not a rating.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A9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A10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Causal boundaries, the data Kiva would need, and sources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3503066" cy="3419856"/>
          </a:xfrm>
          <a:prstGeom prst="roundRect">
            <a:avLst>
              <a:gd name="adj" fmla="val 2406"/>
            </a:avLst>
          </a:prstGeom>
          <a:solidFill>
            <a:srgbClr val="F1F6F2"/>
          </a:solidFill>
          <a:ln w="9525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 txBox="1"/>
          <p:nvPr/>
        </p:nvSpPr>
        <p:spPr>
          <a:xfrm>
            <a:off x="859536" y="1920240"/>
            <a:ext cx="29178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C4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CLAIM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59536" y="2496312"/>
            <a:ext cx="91440" cy="91440"/>
          </a:xfrm>
          <a:prstGeom prst="ellipse">
            <a:avLst/>
          </a:prstGeom>
          <a:solidFill>
            <a:srgbClr val="C446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 txBox="1"/>
          <p:nvPr/>
        </p:nvSpPr>
        <p:spPr>
          <a:xfrm>
            <a:off x="1097280" y="2359152"/>
            <a:ext cx="268010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effects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observational pools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59536" y="3355848"/>
            <a:ext cx="91440" cy="91440"/>
          </a:xfrm>
          <a:prstGeom prst="ellipse">
            <a:avLst/>
          </a:prstGeom>
          <a:solidFill>
            <a:srgbClr val="C446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1097280" y="3218688"/>
            <a:ext cx="268010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exposure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 view history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59536" y="4215384"/>
            <a:ext cx="91440" cy="91440"/>
          </a:xfrm>
          <a:prstGeom prst="ellipse">
            <a:avLst/>
          </a:prstGeom>
          <a:solidFill>
            <a:srgbClr val="C446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1097280" y="4078224"/>
            <a:ext cx="268010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H levels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relative only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344314" y="1700784"/>
            <a:ext cx="3503066" cy="3419856"/>
          </a:xfrm>
          <a:prstGeom prst="roundRect">
            <a:avLst>
              <a:gd name="adj" fmla="val 2406"/>
            </a:avLst>
          </a:prstGeom>
          <a:solidFill>
            <a:srgbClr val="E9F3EC"/>
          </a:solidFill>
          <a:ln w="9525">
            <a:solidFill>
              <a:srgbClr val="C8E0D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 txBox="1"/>
          <p:nvPr/>
        </p:nvSpPr>
        <p:spPr>
          <a:xfrm>
            <a:off x="4636922" y="1920240"/>
            <a:ext cx="29178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WE WOULD NEED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36922" y="2496312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 txBox="1"/>
          <p:nvPr/>
        </p:nvSpPr>
        <p:spPr>
          <a:xfrm>
            <a:off x="4874666" y="2359152"/>
            <a:ext cx="268010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impressions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what was shown, in what order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636922" y="3355848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 txBox="1"/>
          <p:nvPr/>
        </p:nvSpPr>
        <p:spPr>
          <a:xfrm>
            <a:off x="4874666" y="3218688"/>
            <a:ext cx="268010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Lender-level views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 test wear-out properly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636922" y="4215384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 txBox="1"/>
          <p:nvPr/>
        </p:nvSpPr>
        <p:spPr>
          <a:xfrm>
            <a:off x="4874666" y="4078224"/>
            <a:ext cx="268010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identifier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institution vs narrative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121701" y="1700784"/>
            <a:ext cx="3503066" cy="3419856"/>
          </a:xfrm>
          <a:prstGeom prst="roundRect">
            <a:avLst>
              <a:gd name="adj" fmla="val 2406"/>
            </a:avLst>
          </a:prstGeom>
          <a:solidFill>
            <a:srgbClr val="F1F6F2"/>
          </a:solidFill>
          <a:ln w="9525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 txBox="1"/>
          <p:nvPr/>
        </p:nvSpPr>
        <p:spPr>
          <a:xfrm>
            <a:off x="8414309" y="1920240"/>
            <a:ext cx="29178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SOURCES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414309" y="2395728"/>
            <a:ext cx="291785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 &amp; Mason (2012)</a:t>
            </a:r>
            <a:endParaRPr lang="en-US" sz="1700" dirty="0"/>
          </a:p>
          <a:p>
            <a:pPr marL="0" indent="0" algn="l">
              <a:lnSpc>
                <a:spcPts val="2800"/>
              </a:lnSpc>
              <a:buNone/>
            </a:pP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Pieters et al. (1999)</a:t>
            </a:r>
            <a:endParaRPr lang="en-US" sz="1700" dirty="0"/>
          </a:p>
          <a:p>
            <a:pPr marL="0" indent="0" algn="l">
              <a:lnSpc>
                <a:spcPts val="2800"/>
              </a:lnSpc>
              <a:buNone/>
            </a:pP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Chae et al. (2019)</a:t>
            </a:r>
            <a:endParaRPr lang="en-US" sz="1700" dirty="0"/>
          </a:p>
          <a:p>
            <a:pPr marL="0" indent="0" algn="l">
              <a:lnSpc>
                <a:spcPts val="2800"/>
              </a:lnSpc>
              <a:buNone/>
            </a:pP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Hoberg &amp; Phillips (2016)</a:t>
            </a:r>
            <a:endParaRPr lang="en-US" sz="1700" dirty="0"/>
          </a:p>
          <a:p>
            <a:pPr marL="0" indent="0" algn="l">
              <a:lnSpc>
                <a:spcPts val="2800"/>
              </a:lnSpc>
              <a:buNone/>
            </a:pP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Williamson et al. (2021)</a:t>
            </a:r>
            <a:endParaRPr lang="en-US" sz="1700" dirty="0"/>
          </a:p>
          <a:p>
            <a:pPr marL="0" indent="0" algn="l">
              <a:lnSpc>
                <a:spcPts val="2800"/>
              </a:lnSpc>
              <a:buNone/>
            </a:pP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 (2024)  ·  UNSW (2026)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are not asking Kiva to believe an estimate. We are asking it to run one experiment.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6163056"/>
            <a:ext cx="104177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recommendation is reversible, measurable within one listing cycle, and neutral to the borrower's own words.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A10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550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F8F4E"/>
                </a:solidFill>
                <a:latin typeface="Calibri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1055096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3B2B"/>
                </a:solidFill>
                <a:latin typeface="Cambria"/>
              </a:rPr>
              <a:t>Kiva Pulse, running on the 2016–2024 data.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00784"/>
            <a:ext cx="3511296" cy="3419856"/>
          </a:xfrm>
          <a:prstGeom prst="roundRect">
            <a:avLst>
              <a:gd name="adj" fmla="val 5000"/>
            </a:avLst>
          </a:prstGeom>
          <a:solidFill>
            <a:srgbClr val="F1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41247" y="1938528"/>
            <a:ext cx="296265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F8F4E"/>
                </a:solidFill>
                <a:latin typeface="Calibri"/>
              </a:rPr>
              <a:t>WHEN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2231136"/>
            <a:ext cx="2962656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0E3B2B"/>
                </a:solidFill>
                <a:latin typeface="Cambria"/>
              </a:rPr>
              <a:t>Same market, different 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980944"/>
            <a:ext cx="2962656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>
                <a:solidFill>
                  <a:srgbClr val="56655D"/>
                </a:solidFill>
                <a:latin typeface="Calibri"/>
              </a:rPr>
              <a:t>Housing on day 14: 127 live loans, watch only. Move to day 18 and the pool triples to 298 — the same market becomes an intervention. Pressure is a property of the calendar, not of the borrower.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700784"/>
            <a:ext cx="3511296" cy="3419856"/>
          </a:xfrm>
          <a:prstGeom prst="roundRect">
            <a:avLst>
              <a:gd name="adj" fmla="val 5000"/>
            </a:avLst>
          </a:prstGeom>
          <a:solidFill>
            <a:srgbClr val="F1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617720" y="1938528"/>
            <a:ext cx="296265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F8F4E"/>
                </a:solidFill>
                <a:latin typeface="Calibri"/>
              </a:rPr>
              <a:t>WHICH KIND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231136"/>
            <a:ext cx="2962656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0E3B2B"/>
                </a:solidFill>
                <a:latin typeface="Cambria"/>
              </a:rPr>
              <a:t>Same H, different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980944"/>
            <a:ext cx="2962656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>
                <a:solidFill>
                  <a:srgbClr val="56655D"/>
                </a:solidFill>
                <a:latin typeface="Calibri"/>
              </a:rPr>
              <a:t>Housing and Retail both sit high on Homogeneity. Strip the recurring language and Retail loses 42% of it; Housing loses none. Same reading, opposite lever.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1700784"/>
            <a:ext cx="3511296" cy="3419856"/>
          </a:xfrm>
          <a:prstGeom prst="roundRect">
            <a:avLst>
              <a:gd name="adj" fmla="val 5000"/>
            </a:avLst>
          </a:prstGeom>
          <a:solidFill>
            <a:srgbClr val="F1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394192" y="1938528"/>
            <a:ext cx="296265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F8F4E"/>
                </a:solidFill>
                <a:latin typeface="Calibri"/>
              </a:rPr>
              <a:t>WHERE IT STOPS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2231136"/>
            <a:ext cx="2962656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0E3B2B"/>
                </a:solidFill>
                <a:latin typeface="Cambria"/>
              </a:rPr>
              <a:t>Every read-out ends in a trigger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2980944"/>
            <a:ext cx="2962656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>
                <a:solidFill>
                  <a:srgbClr val="56655D"/>
                </a:solidFill>
                <a:latin typeface="Calibri"/>
              </a:rPr>
              <a:t>The tool proposes a randomised pilot and the metrics to judge it by. It never returns a number attached to a loan, and it never asks a borrower to rewrite anything.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340096"/>
            <a:ext cx="11055096" cy="676656"/>
          </a:xfrm>
          <a:prstGeom prst="roundRect">
            <a:avLst>
              <a:gd name="adj" fmla="val 9000"/>
            </a:avLst>
          </a:prstGeom>
          <a:solidFill>
            <a:srgbClr val="0E3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5340096"/>
            <a:ext cx="10433304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mbria"/>
              </a:rPr>
              <a:t>Watch what changes when I move the day — and what never appears on screen.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163056"/>
            <a:ext cx="1041501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6655D"/>
                </a:solidFill>
                <a:latin typeface="Calibri"/>
              </a:rPr>
              <a:t>Static read-out of the same three moments in Appendix A11, in case the room’s network disagrees.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36224" y="6163056"/>
            <a:ext cx="685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8A9691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550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F8F4E"/>
                </a:solidFill>
                <a:latin typeface="Calibri"/>
              </a:rPr>
              <a:t>APPENDIX A11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105509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E3B2B"/>
                </a:solidFill>
                <a:latin typeface="Cambria"/>
              </a:rPr>
              <a:t>The demo, in two frames: the same market, four days apart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700784"/>
            <a:ext cx="5394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F8F4E"/>
                </a:solidFill>
                <a:latin typeface="Calibri"/>
              </a:rPr>
              <a:t>HOUSING · DAY 14  →  WATCH ONLY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993392"/>
            <a:ext cx="5394960" cy="2157984"/>
          </a:xfrm>
          <a:prstGeom prst="roundRect">
            <a:avLst>
              <a:gd name="adj" fmla="val 5000"/>
            </a:avLst>
          </a:prstGeom>
          <a:solidFill>
            <a:srgbClr val="FA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d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44" y="2048256"/>
            <a:ext cx="5257727" cy="20482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27064" y="1700784"/>
            <a:ext cx="5394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F8F4E"/>
                </a:solidFill>
                <a:latin typeface="Calibri"/>
              </a:rPr>
              <a:t>HOUSING · DAY 18  →  TYPE A · PRODUCT SAMENESS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7064" y="1993392"/>
            <a:ext cx="5394960" cy="2157984"/>
          </a:xfrm>
          <a:prstGeom prst="roundRect">
            <a:avLst>
              <a:gd name="adj" fmla="val 5000"/>
            </a:avLst>
          </a:prstGeom>
          <a:solidFill>
            <a:srgbClr val="FA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d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8762" y="2048256"/>
            <a:ext cx="5271563" cy="204825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66928" y="4279392"/>
            <a:ext cx="91440" cy="91440"/>
          </a:xfrm>
          <a:prstGeom prst="rect">
            <a:avLst/>
          </a:prstGeom>
          <a:solidFill>
            <a:srgbClr val="2F8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04672" y="4224528"/>
            <a:ext cx="3273552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400" b="1">
                <a:solidFill>
                  <a:srgbClr val="12211A"/>
                </a:solidFill>
                <a:latin typeface="Calibri"/>
              </a:rPr>
              <a:t>Why it flips  </a:t>
            </a:r>
            <a:r>
              <a:rPr sz="1400" b="0">
                <a:solidFill>
                  <a:srgbClr val="56655D"/>
                </a:solidFill>
                <a:latin typeface="Calibri"/>
              </a:rPr>
              <a:t>Nothing about the borrowers changed. The listing batch did — 298 live loans against 127.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4279392"/>
            <a:ext cx="91440" cy="91440"/>
          </a:xfrm>
          <a:prstGeom prst="rect">
            <a:avLst/>
          </a:prstGeom>
          <a:solidFill>
            <a:srgbClr val="2F8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581144" y="4224528"/>
            <a:ext cx="3273552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400" b="1">
                <a:solidFill>
                  <a:srgbClr val="12211A"/>
                </a:solidFill>
                <a:latin typeface="Calibri"/>
              </a:rPr>
              <a:t>Retail, day 18  </a:t>
            </a:r>
            <a:r>
              <a:rPr sz="1400" b="0">
                <a:solidFill>
                  <a:srgbClr val="56655D"/>
                </a:solidFill>
                <a:latin typeface="Calibri"/>
              </a:rPr>
              <a:t>Same high H (P84), but only 58% of it survives residual text — Type B, a template problem, opposite lever.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19872" y="4279392"/>
            <a:ext cx="91440" cy="91440"/>
          </a:xfrm>
          <a:prstGeom prst="rect">
            <a:avLst/>
          </a:prstGeom>
          <a:solidFill>
            <a:srgbClr val="2F8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357616" y="4224528"/>
            <a:ext cx="3273552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400" b="1">
                <a:solidFill>
                  <a:srgbClr val="12211A"/>
                </a:solidFill>
                <a:latin typeface="Calibri"/>
              </a:rPr>
              <a:t>What it never does  </a:t>
            </a:r>
            <a:r>
              <a:rPr sz="1400" b="0">
                <a:solidFill>
                  <a:srgbClr val="56655D"/>
                </a:solidFill>
                <a:latin typeface="Calibri"/>
              </a:rPr>
              <a:t>No score is attached to a loan; every read-out ends in a randomised pilot and the metrics to judge it by.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340096"/>
            <a:ext cx="11055096" cy="676656"/>
          </a:xfrm>
          <a:prstGeom prst="roundRect">
            <a:avLst>
              <a:gd name="adj" fmla="val 9000"/>
            </a:avLst>
          </a:prstGeom>
          <a:solidFill>
            <a:srgbClr val="0E3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5340096"/>
            <a:ext cx="10433304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mbria"/>
              </a:rPr>
              <a:t>The diagnosis is a property of market-time, not of the borrower.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163056"/>
            <a:ext cx="1041501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6655D"/>
                </a:solidFill>
                <a:latin typeface="Calibri"/>
              </a:rPr>
              <a:t>Screenshots of the live tool. Thresholds are operational choices for triage, not estimated cut-points.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36224" y="6163056"/>
            <a:ext cx="685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8A9691"/>
                </a:solidFill>
                <a:latin typeface="Calibri"/>
              </a:rPr>
              <a:t>A11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3174</Words>
  <Application>Microsoft Macintosh PowerPoint</Application>
  <PresentationFormat>宽屏</PresentationFormat>
  <Paragraphs>325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</vt:lpstr>
      <vt:lpstr>Courier New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UNSW Marketing Analytics Hackathon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When Every Story Sounds the Same — 5 GUYS</dc:title>
  <dc:subject>PptxGenJS Presentation</dc:subject>
  <dc:creator>5 GUYS</dc:creator>
  <cp:lastModifiedBy>Ruohan Wang</cp:lastModifiedBy>
  <cp:revision>1</cp:revision>
  <dcterms:created xsi:type="dcterms:W3CDTF">2026-09-02T14:34:52Z</dcterms:created>
  <dcterms:modified xsi:type="dcterms:W3CDTF">2026-09-02T14:39:25Z</dcterms:modified>
</cp:coreProperties>
</file>