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92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>
            <a:endParaRPr/>
          </a:p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>
            <a:endParaRPr/>
          </a:p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>
            <a:endParaRPr/>
          </a:p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3 · 目标 2 分钟 · 全场最重要的一页】</a:t>
            </a:r>
          </a:p>
          <a:p>
            <a:endParaRPr/>
          </a:p>
          <a:p>
            <a:r>
              <a:t>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</a:t>
            </a:r>
          </a:p>
          <a:p>
            <a:endParaRPr/>
          </a:p>
          <a:p>
            <a:r>
              <a:t>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</a:t>
            </a:r>
          </a:p>
          <a:p>
            <a:endParaRPr/>
          </a:p>
          <a:p>
            <a:r>
              <a:t>右边是 Lagged pool 的 Recent saturation。同样的移动，点估计 −1.4%，95% 置信区间从 −15.8% 到 +15.4%，跨过零；72 小时筹满率只动 0.5 个百分点。没有找到广泛、持续 wear-out 的稳健证据。</a:t>
            </a:r>
          </a:p>
          <a:p>
            <a:endParaRPr/>
          </a:p>
          <a:p>
            <a:r>
              <a:t>marketing 上的区分：与当前竞品相似会降低相对辨识度；与历史典型表达相似，未必产生持续疲劳。</a:t>
            </a:r>
          </a:p>
          <a:p>
            <a:r>
              <a:t>⚠️ 措辞：这是关联不是因果；零结果也不等于疲劳不存在，只是这个精度下没测到。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两栏标题由 "ACTIVE / RECENT SATURATION" 改为 "JOINT MOVE IN C AND H / V AND G"。原因：`scenario_component_decomposition.csv` 显示 +124%（log 0.8080）的分解是 C 主效应 +0.618（76.5%）、H 主效应 +0.215（26.6%）、C×H 交互 −0.025（−3.1%）。交互在这个情景里贡献为负，因为 C 与 H 负相关（−0.153）且 H 极右偏（P75 的 z 只有 +0.012，P25 是 −0.522）。原标题会被读成「124% 由交互撑起」。</a:t>
            </a:r>
          </a:p>
          <a:p>
            <a:r>
              <a:t>· 被问「这 124% 里交互占多少」时的答案：**主效应占绝大部分，交互在这个情景里是 −3%。交互的证据在右边——同样 +1 SD 的 H，低 Volume 市场 +42.5%、高 Volume 市场 +60.7%。**</a:t>
            </a:r>
          </a:p>
          <a:p>
            <a:r>
              <a:t>· 底栏改为 "Recent saturation leaves no net drag."（原 "Broad wear-out is not."）。配合口播加一句：**滞后池不是空的——提案预注册的联合约束检验 V=G=V×G=0 以 p=.002 被拒绝；但三项方向相反，P25→P75 的净移动是 −1.4%、区间跨零。所以我们说的是「没有可观测规模的净拖累」，不是「滞后池无关」。**（详见 A4）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>
            <a:endParaRPr/>
          </a:p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>
            <a:endParaRPr/>
          </a:p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>
            <a:endParaRPr/>
          </a:p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>
            <a:endParaRPr/>
          </a:p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>
            <a:endParaRPr/>
          </a:p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>
            <a:endParaRPr/>
          </a:p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>
            <a:endParaRPr/>
          </a:p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>
            <a:endParaRPr/>
          </a:p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顶栏 "Volume-driven in 2018" 改为 "similarity at its decade low in 2018"。原因：2018 的 mean C = 5.79，是十年第三低（2020 = 6.67、2021 = 6.81），说「2018 压力来自 Volume」会被读成「2018 上架量高」，那是错的。逐年只估了 C×H，没有逐年 C、H 主效应的产物。</a:t>
            </a:r>
          </a:p>
          <a:p>
            <a:r>
              <a:t>· 这页能站住的只有两条：2018 的 mean H 是十年最低（0.0569）；2018 的逐年 C×H 系数最高（0.4309, p=.0002）。两条都标 exploratory。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>
            <a:endParaRPr/>
          </a:p>
          <a:p>
            <a:r>
              <a:t>口播：最后一个问题：所有市场都一样吗？不一样。关键在于——同样高的 H，可能是两种完全不同的问题。判据只有一条：**去掉 recurring language 之后，相似度还剩多少**。</a:t>
            </a:r>
          </a:p>
          <a:p>
            <a:endParaRPr/>
          </a:p>
          <a:p>
            <a:r>
              <a:t>【Panel A】主比较在**板块层级**，14 个板块，每个至少 9,000 笔训练贷款。</a:t>
            </a:r>
          </a:p>
          <a:p>
            <a:r>
              <a:t>上半截几乎不动：Housing 剩 100%（boilerplate 占比 0.4%）、Arts 101%、Transportation 98%、Reuse &amp; Recycle 98%、Services 95%。相似度不是模板造成的，是真实的替代项目被同时摆在一页上——A 类「产品同质」，手段在市场侧：错峰上架、轮换曝光、diversified ranking。</a:t>
            </a:r>
          </a:p>
          <a:p>
            <a:r>
              <a:t>下半截掉得很狠：Clean Energy 58%、Retail 58%、Food 61%、Agriculture 69%。这是 B 类「流程同质」——问题在内容生产流程，手段是给合作机构准备多套合规模板变体，不是要求借款人写更长更私人的故事。</a:t>
            </a:r>
          </a:p>
          <a:p>
            <a:r>
              <a:t>全平台基准是 75%。右边一列是各市场的 boilerplate 占比，和存活率几乎是一条对角线——这本身就是机制证据。</a:t>
            </a:r>
          </a:p>
          <a:p>
            <a:endParaRPr/>
          </a:p>
          <a:p>
            <a:r>
              <a:t>【Panel B】下面单独一条，是 Retail 内部的一个具体例子：Philippines × General Store，117,291 笔，去模板后只剩 57%，boilerplate 占比 58%。</a:t>
            </a:r>
          </a:p>
          <a:p>
            <a:r>
              <a:t>**英文口播（照读）：**</a:t>
            </a:r>
          </a:p>
          <a:p>
            <a:r>
              <a:t>"The main comparison is conducted at the sector level. Philippines × General Store is shown separately as an illustrative drill-down within Retail, rather than as a directly comparable sector."</a:t>
            </a:r>
          </a:p>
          <a:p>
            <a:endParaRPr/>
          </a:p>
          <a:p>
            <a:r>
              <a:t>⚠️ 纪律：</a:t>
            </a:r>
          </a:p>
          <a:p>
            <a:r>
              <a:t>· 两个 panel 共用同一条横轴，但**不是同一个聚合层级**，不能并排比较、也不能把 Panel B 当成第 15 个板块。</a:t>
            </a:r>
          </a:p>
          <a:p>
            <a:r>
              <a:t>· 这是描述性比较（raw 与 residual 两套文本上 H 的均值），不是分行业重估模型系数。</a:t>
            </a:r>
          </a:p>
          <a:p>
            <a:r>
              <a:t>· `outputs/rq4_sector_effects.csv` 里 Housing 的 C×H 系数是 −0.092，与全平台 +0.102 反号；本页讲的是「同质性来源」，不是分板块效应量，两件事不要混。</a:t>
            </a:r>
          </a:p>
          <a:p>
            <a:r>
              <a:t>· 整层是探索性的：异质性有证据（Q=99.5, p=2e-15，见 A8），但注意力市场的精确边界还没做完正式比较。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7 · 目标 1 分 · demo 的引子】</a:t>
            </a:r>
          </a:p>
          <a:p>
            <a:endParaRPr/>
          </a:p>
          <a:p>
            <a:r>
              <a:t>口播：把四个答案合起来，结论很明确：压力取决于「此时此地的市场状态」。所以 proposal 里的 Narrative Attention Engine 不该落地成静态的借款人评分，而该落地成动态的市场监测。但落地要分两段，顺序不能反。</a:t>
            </a:r>
          </a:p>
          <a:p>
            <a:endParaRPr/>
          </a:p>
          <a:p>
            <a:r>
              <a:t>**Phase 1 · 验证**——上线之前。TEST：错峰上架对比 BAU、轮换曝光对比常规曝光、高 boilerplate 市场里的模板变体，按 market-time 单元或 partner batch 随机化。LEARN：预注册读数，主指标 FundingHours、次指标 72 小时筹满率，护栏是公平性、挤出效应和合作机构负担。</a:t>
            </a:r>
          </a:p>
          <a:p>
            <a:r>
              <a:t>这一段是 A/B 实验，它唯一的产出是一份**通过验证的手段清单**。没通过的手段不进清单。</a:t>
            </a:r>
          </a:p>
          <a:p>
            <a:endParaRPr/>
          </a:p>
          <a:p>
            <a:r>
              <a:t>**Phase 2 · 运行**——上线之后，也就是我们等一下要演示的东西。SENSE 持续读市场状态，DIAGNOSE 判断同质性来源，ACT 调用清单里已经通过验证的那一个手段（或者什么都不做），MONITOR 用同一套指标和护栏持续盯着，触发 revert 规则就回滚。</a:t>
            </a:r>
          </a:p>
          <a:p>
            <a:endParaRPr/>
          </a:p>
          <a:p>
            <a:r>
              <a:t>⚠️ 关键区分，被问到一定要说清楚：**TEST 和 LEARN 不是产品的一部分，是产品上线前的关卡。** 我们今天没有跑过任何一个 pilot，所以演示里每一条建议动作都会显示 shadow mode——记录、不下发。这不是产品做得不完整，这是我们不越界。</a:t>
            </a:r>
          </a:p>
          <a:p>
            <a:endParaRPr/>
          </a:p>
          <a:p>
            <a:r>
              <a:t>（翻页，直接进 demo。）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8 · LIVE DEMO · 目标 2 分钟】</a:t>
            </a:r>
          </a:p>
          <a:p>
            <a:endParaRPr/>
          </a:p>
          <a:p>
            <a:r>
              <a:t>开场一句：**这是 Phase 2——上线之后每天在跑的那个系统。Phase 1 的 A/B 实验是它的前置关卡，不在屏幕上。**</a:t>
            </a:r>
          </a:p>
          <a:p>
            <a:endParaRPr/>
          </a:p>
          <a:p>
            <a:r>
              <a:t>演示脚本（严格按顺序）：</a:t>
            </a:r>
          </a:p>
          <a:p>
            <a:endParaRPr/>
          </a:p>
          <a:p>
            <a:r>
              <a:t>① 打开时默认 Agriculture、day 18。先让他们看三秒那根 4.7 倍的绿柱。</a:t>
            </a:r>
          </a:p>
          <a:p>
            <a:r>
              <a:t>   「一个月的上架量砸在同一天。绿色进来，紫色出去。」</a:t>
            </a:r>
          </a:p>
          <a:p>
            <a:r>
              <a:t>   顺手指顶部那条 Phase 条：左边灰色的 TEST → LEARN 已经关掉了，我们现在站在右边。</a:t>
            </a:r>
          </a:p>
          <a:p>
            <a:endParaRPr/>
          </a:p>
          <a:p>
            <a:r>
              <a:t>② 【WHEN】左栏点 Housing，滑块拖到 14。</a:t>
            </a:r>
          </a:p>
          <a:p>
            <a:r>
              <a:t>   在架 127 笔 → WATCH ONLY。「相似度再高，没有活跃替代品，就没有人可以输给。」</a:t>
            </a:r>
          </a:p>
          <a:p>
            <a:r>
              <a:t>   拖到 18。在架 298 笔，H 从 P69 跳到 P95 → TYPE A。</a:t>
            </a:r>
          </a:p>
          <a:p>
            <a:r>
              <a:t>   点题：**同一个市场，只换了一天，结论就变了。所以它必须是动态监测，不是静态评分。**</a:t>
            </a:r>
          </a:p>
          <a:p>
            <a:endParaRPr/>
          </a:p>
          <a:p>
            <a:r>
              <a:t>③ 【WHICH KIND】点 Retail，保持 day 18。</a:t>
            </a:r>
          </a:p>
          <a:p>
            <a:r>
              <a:t>   H 同样在高位（P84），但第三行「去掉 recurring language 只剩 58%」→ TYPE B。</a:t>
            </a:r>
          </a:p>
          <a:p>
            <a:r>
              <a:t>   点题：**同样高的 H，Housing 一分不掉、Retail 掉 42%。读数一样，解药相反。**</a:t>
            </a:r>
          </a:p>
          <a:p>
            <a:endParaRPr/>
          </a:p>
          <a:p>
            <a:r>
              <a:t>④ 【WHAT IT NEVER DOES】把视线拉到第 3 栏 ACT。</a:t>
            </a:r>
          </a:p>
          <a:p>
            <a:r>
              <a:t>   指那个橙色 chip：**SHADOW MODE · PILOT B PENDING**。</a:t>
            </a:r>
          </a:p>
          <a:p>
            <a:r>
              <a:t>   「注意这里——Phase 1 还没跑，所以系统只把动作记下来，不下发。手段清单是空的，我们不假装它是满的。」</a:t>
            </a:r>
          </a:p>
          <a:p>
            <a:r>
              <a:t>   再指 APPLIES TO 那一行：「动作落在一个 market-time 单元或者一个合作机构的模板上，不落在任何一笔贷款上。」</a:t>
            </a:r>
          </a:p>
          <a:p>
            <a:r>
              <a:t>   第 4 栏 MONITOR：主指标、次指标、护栏，加一条 revert 规则。</a:t>
            </a:r>
          </a:p>
          <a:p>
            <a:endParaRPr/>
          </a:p>
          <a:p>
            <a:r>
              <a:t>   最后停在底部黑条上，慢一点：**No borrower score. No automatic penalty.**</a:t>
            </a:r>
          </a:p>
          <a:p>
            <a:endParaRPr/>
          </a:p>
          <a:p>
            <a:r>
              <a:t>⚠️ 口径纪律：</a:t>
            </a:r>
          </a:p>
          <a:p>
            <a:r>
              <a:t>· 界面上的 saturation index = √(C 百分位 × H 百分位)，是分诊用的监测启发式，**不是模型系数**。它指向的模型量是 C×H = 0.102 (p=.003)。</a:t>
            </a:r>
          </a:p>
          <a:p>
            <a:r>
              <a:t>· 「在架 ≥250 笔」「H 百分位 ≥50」「存活率 90/80」是运营门槛，不是估计出来的临界值。</a:t>
            </a:r>
          </a:p>
          <a:p>
            <a:r>
              <a:t>· 全部数据来自 2016–2024 训练样本；2025 完全留出；均为条件关联。</a:t>
            </a:r>
          </a:p>
          <a:p>
            <a:r>
              <a:t>· 界面刻意不显示各日实际中位筹款时长——18 号批次结构不同（71% 菲律宾），未调整量拿来对比会误导。</a:t>
            </a:r>
          </a:p>
          <a:p>
            <a:endParaRPr/>
          </a:p>
          <a:p>
            <a:r>
              <a:t>⚠️ 兜底：网络不通直接翻 A11。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RQ2 行由 "No robust evidence — the recent-saturation interval crosses zero." 改为 "Signal present, no net drag — the joint restriction rejects, but the components offset."</a:t>
            </a:r>
          </a:p>
          <a:p>
            <a:r>
              <a:t>· 原因：提案原文是 "RQ2 jointly tests V, G and V×G"，即 β_V=β_G=β_V×G=0 的联合约束检验。该检验实际以 F(3,45)=5.93、p=.002 拒绝。原措辞会让读过提案的评委以为联合检验跑过且是 null。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Kiva_QA_Prep_v3】A1 → Q1.3「注意力是不是就是贷款太多」· QX.3「和『少上架一点』有什么区别」· P4 / P5 / P6（提案承诺的 RQ3、RQ4 边际效应与市场边界）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>
            <a:endParaRPr/>
          </a:p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  <a:p>
            <a:r>
              <a:t>——————————</a:t>
            </a:r>
          </a:p>
          <a:p>
            <a:r>
              <a:t>【Q&amp;A 对应 · 见 Kiva_QA_Prep_v3】A2 → Q2.2「只报 Q1–Q3 是不是挑窗口」· Q2.5「只用募满的贷款」· P3「提案里的 AFT 删失模型呢」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>
            <a:endParaRPr/>
          </a:p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>
            <a:endParaRPr/>
          </a:p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Result 列补上每一行的 V×G（原先五行只报 C×H，而 residual 下 V×G 恰恰变强，只报一半属选择性呈现）。全部取自 `outputs/robustness.csv`：</a:t>
            </a:r>
          </a:p>
          <a:p>
            <a:r>
              <a:t>  posting_14d  C×H 0.0893 (p=4.6e-05) · V×G 0.0260 (p=.110)</a:t>
            </a:r>
          </a:p>
          <a:p>
            <a:r>
              <a:t>  posting_16d  C×H 0.0994 (p=6.3e-06) · V×G 0.0176 (p=.289)</a:t>
            </a:r>
          </a:p>
          <a:p>
            <a:r>
              <a:t>  n≥5 / n≥20   C×H 0.1013 / 0.0986 · V×G 0.0386 (p=.0037) / 0.0537 (p=.0003)</a:t>
            </a:r>
          </a:p>
          <a:p>
            <a:r>
              <a:t>  residual     C×H 0.0523 (p=.129) · V×G 0.0585 (p=.0007)</a:t>
            </a:r>
          </a:p>
          <a:p>
            <a:r>
              <a:t>  description  C×H 0.1298 (p=1.7e-07) · V×G −0.0136 (p=.376)</a:t>
            </a:r>
          </a:p>
          <a:p>
            <a:r>
              <a:t>· 值得主动点破的一句：**14 天与 16 天池是「只依赖发布时间」的外生池，不受其他贷款结局污染。它们给出 0.089 / 0.099，与主结果同向同量级——这是对「主动池内生」这个最硬质疑的正面回应。**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Kiva_QA_Prep_v3】A3 → Q3.3「主动池被结果污染」· Q3.6「FE 与聚类」· Q4.5「改口径还稳不稳」· Q5.1「模板是不是解释了一半」· P10「14 天窗口有没有全量重算」· P11「池门槛 5/20 敏感性」· P13「剔除仍在募资的贷款」· P19「提案自己写了内生性，怎么解决的」· P20「你们怎么证伪」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标题改为 "RQ2: a rejected joint restriction, and a scenario that nets to zero"。</a:t>
            </a:r>
          </a:p>
          <a:p>
            <a:r>
              <a:t>· 新增一行：**Joint restriction  V = G = V × G = 0 rejected, p = .002**。这是提案预注册的那个检验（提案原文 "RQ2 jointly tests V, G and V×G"），本次实际估计：**F(3,45) = 5.93, p = .0017；χ²(3) = 17.78, p = .0005**（主模型规格，n=1,234,131，country+week 双向聚类）。交付包里原先没有这个检验的产物。</a:t>
            </a:r>
          </a:p>
          <a:p>
            <a:r>
              <a:t>· 原 "Joint test — not distinguishable from zero" 改为 "Joint scenario — interval covers zero"。那一行说的是线性组合对照，不是联合约束检验，用 "joint test" 是越界。</a:t>
            </a:r>
          </a:p>
          <a:p>
            <a:r>
              <a:t>· 单项系数（被直接问就报）：V = 0.0497 (p=.485)、G = −0.1385 (p=.022)、**V×G = 0.0417 (p=.0037, CI 0.014–0.069)**。null 来自 G 与 V×G 方向相反、互相抵消。</a:t>
            </a:r>
          </a:p>
          <a:p>
            <a:r>
              <a:t>· "L sits at the fundraising cap" 改为 "L is set at the 95th percentile of training funding duration"。L=35 天来自训练样本筹资时长 P95 = 826.89h = 34.45 天（`funding_duration_quantiles_train_2016_2024.csv`），不是平台募资期限上限；约 5% 的贷款第 35 天仍在架，原来的 "by construction" 站不住。</a:t>
            </a:r>
          </a:p>
          <a:p>
            <a:r>
              <a:t>· 完整答法：**滞后池有信号，我们没有藏——预注册联合检验 p=.002 拒绝。但 G 是负的、V×G 是正的，两者抵消，所以 P25→P75 的净移动 −1.4%、区间从 −15.8% 到 +15.4%。我们的结论是「没有可观测规模的净磨损拖累」，不是「磨损不存在」。要真正检验 wear-out 需要 lender 级浏览日志——见 A10。**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Kiva_QA_Prep_v3】A4 → Q4.2「wear-out 的零结果是不是没测出来」· Q3.5「滞后窗怎么定义」· P16「L 到底是 cap 还是 P95」· QX.2「最大弱点是什么」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>
            <a:endParaRPr/>
          </a:p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>
            <a:endParaRPr/>
          </a:p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"Rule" 一行由 "high-frequency verbatim sequences" 改为 "verbatim 5-grams in ≥500 loans, ≥3 countries"。</a:t>
            </a:r>
          </a:p>
          <a:p>
            <a:r>
              <a:t>· 完整规则（`src/text_pipeline.py`）：先做隐私掩码，再在**只用训练期**的数据上找 5-gram，要求同时满足 ① 出现在 ≥ max(500, 训练文档数的 0.05%) 篇文档里；② **横跨 ≥3 个国家**。通过的短语固化成清单（use 侧 409 条，`boilerplate_like_phrases.csv`），在见到任何结果之前冻结。</a:t>
            </a:r>
          </a:p>
          <a:p>
            <a:r>
              <a:t>· **「≥3 个国家」是这页的关键**：它保证被判为模板的是跨合作机构复用的措辞，而不是某个国家的自然表达。数据里没有 partner identifier，这个条件是最接近「机构层面」的代理。被问「你怎么知道是模板不是当地说法」时，这就是答案。</a:t>
            </a:r>
          </a:p>
          <a:p>
            <a:r>
              <a:t>· 口径提醒：0.26 / 0.41 出自 5% 训练诊断抽样（`text_selection_diagnostics.csv`）；97.31% 非空、use 10 token vs description 93 token 出自全样本（`text_field_diagnostics.csv`）。另：相似度用 unigram+bigram 的 hashed TF-IDF，boilerplate 检测用 5-gram，两套 n-gram 服务两个目的。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Kiva_QA_Prep_v3】A5 → Q3.4「为什么用 use 不用 description」· Q5.1–Q5.5（模板识别、13.6% 的区间、字段差异、缺 partner ID）· P2「提案说这个对比是区分依据」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【A6】⚠️ 图形占位框：从分析 notebook 导出四面板日历图贴进虚线框，每个面板最好同时画「新上架」和「raisedDate 完成」两条线。</a:t>
            </a:r>
          </a:p>
          <a:p>
            <a:r>
              <a:t>讲解强调两点：两条脉冲都在供给侧；月内 Active saturation 由「进来的」减「出去的」决定，完成脉冲是释放阀不是另一种拥挤。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**图已重画**：原图左下「Day of week」面板的星期标签整体错位一天——柱子的数值与 DuckDB `EXTRACT(DOW)` 的 0–6 编码（0 = 星期日）逐位吻合，但标签是从 Mon 写起的。</a:t>
            </a:r>
          </a:p>
          <a:p>
            <a:r>
              <a:t>· 正确形态（建模样本 1,367,540 笔，UTC）：**Mon 1.037 · Tue 1.082 · Wed 1.039 · Thu 1.036 · Fri 1.049 · Sat 0.862 · Sun 0.896**。即**周二最高、周六最低、周日次低**——一个干净的「周末停摆」节律，正好支撑底栏那句 "supply-side rhythms — not lender mood"（合作机构后台不在周末上传）。</a:t>
            </a:r>
          </a:p>
          <a:p>
            <a:r>
              <a:t>· "Net effect" 一条由 "day 18 is the only day arrivals clearly exceed completions" 改为 "day 18 carries almost all of the month's net accumulation"。原因：2024–25 太平洋口径下 17 号净流入 +242 条/日，15、16、24 号也为正；18 号（+1,208）是压倒性的，但不是唯一。</a:t>
            </a:r>
          </a:p>
          <a:p>
            <a:r>
              <a:t>· "Week / hour / month" 改为 "Week / hour  0.86–1.08 (Tue high, Sat low) and 0.51–1.70"。</a:t>
            </a:r>
          </a:p>
          <a:p>
            <a:r>
              <a:t>· 口径提醒（同页两套时区）：日历面板用**太平洋**日历日；星期与小时面板用 **UTC** 的 posting_dow / posting_hour。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Kiva_QA_Prep_v3】A6 → Q6.1「day 18 的成因」· Q6.2「是不是菲律宾批次」· Q6.4「完成脉冲不够抵消吗」· P14「日历分析不在提案里」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  <a:p>
            <a:r>
              <a:t>——————————</a:t>
            </a:r>
          </a:p>
          <a:p>
            <a:r>
              <a:t>【Q&amp;A 对应 · 见 Kiva_QA_Prep_v3】A7 → Q2.1「2025 为什么反而更快」· Q2.4「H 能不能跨年比」· Q6.5「是不是 COVID」· P4「提案承诺的逐年边际效应」</a:t>
            </a:r>
          </a:p>
          <a:p>
            <a:r>
              <a:t>——————————</a:t>
            </a:r>
          </a:p>
          <a:p>
            <a:r>
              <a:t>【v3.0 修订 · 左图更换】原「Annual C × H, 95% CI」逐年系数图换成因变量趋势图：median FundingHours by year（Q1–Q3 年度可比口径为主线，全年为浅虚线），叠加 composition-adjusted index（2016=100，右轴）。数据：2016 43.4h · 2017 26.9 · 2018 27.1 · 2019 46.7 · 2020 112.2 · 2021 143.7 · 2022 133.7 · 2023 121.5 · 2024 121.2 · 2025 68.1（均为 Q1–Q3 中位数）。关键读法：**十年里筹款并没有持续变快**——2016–19 是 27–47 小时的快市场，2020–21 跳到 112→144 小时并维持到 2024，2025 的 −44% 是一次部分回落，仍是 2018 水平的约 2.5 倍。调整后指数（2016=100）走势与原始中位数一致（2018 = 63.4，2021 = 282.8，2025 = 144.9），说明这个形态**不是国家/行业构成变化造出来的**。⚠️ 2025 的调整点标为空心：2025 是留出集，该点只作描述性使用。⚠️ 逐年 C × H 系数图已移出本页——被问「提案承诺的 year-specific marginal effects 呢」时，答：估计了，在交付包 outputs 里，本页选择展示因变量本身，年度层整体标 exploratory（见备稿 P4）。</a:t>
            </a:r>
          </a:p>
          <a:p>
            <a:r>
              <a:t>【新的可能提问】"Funding time quadrupled after 2020 while your Volume also jumped — isn't your whole result just that level shift?" 答：week fixed effects 吸收了所有共同的时间冲击，C × H 是在同一 sector-week 内识别的；这张图讲的是水平，主结果讲的是同市场-时点内的比较。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【A8】⚠️ 图形占位框：贴行业/国家分群估计与等价区间。</a:t>
            </a:r>
          </a:p>
          <a:p>
            <a:r>
              <a:t>若被问「注意力市场到底多大」——诚实回答：选了同板块作为主定义，三种定义的正式比较还没做完，不宣称已证明边界。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提前说破 Housing 的张力，别等着被问：这张森林图里 **Housing 的 C×H = −0.092（CI −0.119 ~ −0.064，p = 3.7e-07）**，与全平台 +0.102 反号（Construction −0.513 同样反号），而正文 S7 恰恰把 Housing 立为 Type A 的旗舰例子。</a:t>
            </a:r>
          </a:p>
          <a:p>
            <a:r>
              <a:t>· 答法：**Housing 的同质性是真实的产品同质，这一点很确定；但 Housing 的 C×H 反号，所以它恰恰是最该先做实验、而不是先动手的市场。这也正是为什么整套东西是 Phase 1 先验证、Phase 2 才运行。**</a:t>
            </a:r>
          </a:p>
          <a:p>
            <a:r>
              <a:t>· 读图技巧：分国家那一栏样本量越小点估计越大、区间越宽；Philippines（430k）只有 0.035 但区间最窄且不含 0——异质性是真的，同时小样本组的大系数不能当真。</a:t>
            </a:r>
          </a:p>
          <a:p>
            <a:r>
              <a:t>· 等价带 ±ln(1.05) 画在**系数轴**上，含义是「C×H 变动 1 个单位（1 SD × 1 SD）带来 &lt;5% 的期望 FundingHours 变化」，不对应任何一个真实情景（真实 P25→P75 只让 z_C·z_H 变化约 0.25 个单位）。被问到要说清它是系数尺度的判据。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Kiva_QA_Prep_v3】A8 → Q3.2「为什么把行业当市场」· Q7.1「有没有分行业重估」· Q7.2「Housing 系数反号」· Q7.3「75% 从哪来」· Q7.5「多重比较」· P5 / P6（组别边际效应、市场边界）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  <a:p>
            <a:r>
              <a:t>——————————</a:t>
            </a:r>
          </a:p>
          <a:p>
            <a:r>
              <a:t>【Q&amp;A 对应 · 见 Kiva_QA_Prep_v3】A9 → Q8.1「什么都没测为什么要信」· Q9.5「会不会伤到借款人」· QX.4「holdout 失败算不算失败」· P1「为什么从打分改成监测」· P7「stress test 去哪了」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Hoberg &amp; Phillips (2016) 已标 †，并加注 "read during analysis; not in the submitted proposal"。已比对提案 PDF 第 6 页原件：提案的 7 条参考文献是 Chae (2019)、Kiva (n.d.)、Ly &amp; Mason (2012)、Pieters (1999)、UNSW (2026)、Wang (2024)、Williamson (2021)，**不含 Hoberg &amp; Phillips**。文献本身真实（JPE 124(5)，DOI 10.1086/688176）。</a:t>
            </a:r>
          </a:p>
          <a:p>
            <a:r>
              <a:t>· ⚠️ **Wang, R. (2024), AMPROC 2024(1), 15320** 是全表唯一一条无法独立确认的：DOI 格式符合 AOM 规范，AOM Proceedings 摘要通常不被外部索引收录，所以查不到不等于不存在。**上台前请作者本人再确认一次。**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Kiva_QA_Prep_v3】A10 → Q4.1「是不是因果」· Q4.2「零结果」· Q3.6「缺 partner identifier」· Q5.5「模板还是机构」· Q8.4「成本与数据需求」· QX.2「最大弱点」· P18「masking 抬高、TF-IDF 压低，净方向是什么」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【A11】demo 挂了就翻到这一页，讲和 demo 完全一样的话。</a:t>
            </a:r>
          </a:p>
          <a:p>
            <a:endParaRPr/>
          </a:p>
          <a:p>
            <a:r>
              <a:t>Housing，day 14：在架 127 笔，低于 250 的运营门槛 → WATCH ONLY。相似度再高，没有活跃替代品就没有人可以输给。</a:t>
            </a:r>
          </a:p>
          <a:p>
            <a:r>
              <a:t>Housing，day 18：在架 298 笔，H 从 P69 跳到 P95，去模板后仍剩 100% → TYPE A，产品同质，手段是错峰与轮换曝光。</a:t>
            </a:r>
          </a:p>
          <a:p>
            <a:r>
              <a:t>两帧之间借款人什么都没变，变的是上架批次。</a:t>
            </a:r>
          </a:p>
          <a:p>
            <a:endParaRPr/>
          </a:p>
          <a:p>
            <a:r>
              <a:t>如果还想再举一个对照：Retail 在 18 号 H 同样高（P84），但去掉 recurring language 只剩 58% → TYPE B，流程同质，手段是合作机构模板变体。</a:t>
            </a:r>
          </a:p>
          <a:p>
            <a:endParaRPr/>
          </a:p>
          <a:p>
            <a:r>
              <a:t>⚠️ 250 笔／P50／90%-80% 这三条是我们设的运营阈值，不是估计出来的临界值。</a:t>
            </a:r>
          </a:p>
          <a:p>
            <a:r>
              <a:t>——————————</a:t>
            </a:r>
          </a:p>
          <a:p>
            <a:r>
              <a:t>【Q&amp;A 对应 · 见 Kiva_QA_Prep_v3】A11 → Q9.4「一天之差读数就翻转」· Q9.6「demo 挂了怎么办」· Q9.1「saturation index 是不是系数」· Q9.2「250 / P50 / 90-80 从哪来」· Q9.5「边界在哪」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Ruohan Wang · Ruiyang Zheng · Hongxin Luo · Yiou Liu · Jingzhi Hu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JOINT MOVE IN C AND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JOINT MOVE IN V AND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Recent saturation leaves no net drag.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similarity at its decade low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Sector-level similarity has different sources.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53328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is the defended comparison: mean focal-to-pool cosine on raw versus recurring-language-removed text, at sector level. Panel B is an illustrative drill-down inside Retail — same axis, not a comparable aggregation level.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35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07808" y="170078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607808" y="348386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186537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BCB3B"/>
                </a:solidFill>
                <a:latin typeface="Calibri"/>
              </a:rPr>
              <a:t>TYPE A · PRODUCT SAMENESS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57984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3D6"/>
                </a:solidFill>
                <a:latin typeface="Calibri"/>
              </a:rPr>
              <a:t>Housing, Arts, Transportation — the resemblance survives residual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65176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E9A88"/>
                </a:solidFill>
                <a:latin typeface="Calibri"/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81635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Stagger releases · rotate exposure · diversify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64845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A4C93"/>
                </a:solidFill>
                <a:latin typeface="Calibri"/>
              </a:rPr>
              <a:t>TYPE B · PROCESS SAMENESS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941063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6655D"/>
                </a:solidFill>
                <a:latin typeface="Calibri"/>
              </a:rPr>
              <a:t>Retail, Food, Clean Energy — recurring language carries the resemblance.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43484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A9691"/>
                </a:solidFill>
                <a:latin typeface="Calibri"/>
              </a:rPr>
              <a:t>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59943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2211A"/>
                </a:solidFill>
                <a:latin typeface="Calibri"/>
              </a:rPr>
              <a:t>Partner-approved template variants — not longer borrower stories</a:t>
            </a:r>
          </a:p>
        </p:txBody>
      </p:sp>
      <p:pic>
        <p:nvPicPr>
          <p:cNvPr id="40" name="Picture 39" descr="S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28800"/>
            <a:ext cx="6583680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Validate first, then operate — the demo is the second half.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700784"/>
            <a:ext cx="4480560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1920240"/>
            <a:ext cx="3858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A9701A"/>
                </a:solidFill>
                <a:latin typeface="Calibri"/>
              </a:rPr>
              <a:t>PHASE 1 · VALIDATE  ·  BEFORE ANYTHING 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2377440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2670048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Staggered release vs BAU; rotated vs normal exposure; template variants in high-boilerplate markets. Randomised by market-time cell or partner batch.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3602736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895344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Pre-registered read-out on FundingHours and the 72-hour rate, against fairness, displacement and workload guardrails.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700016"/>
            <a:ext cx="3858768" cy="10972"/>
          </a:xfrm>
          <a:prstGeom prst="rect">
            <a:avLst/>
          </a:prstGeom>
          <a:solidFill>
            <a:srgbClr val="D5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4791456"/>
            <a:ext cx="3858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01A"/>
                </a:solidFill>
                <a:latin typeface="Calibri"/>
              </a:rPr>
              <a:t>Only levers that clear this gate enter the catalogue.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127248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9BCB3B"/>
                </a:solidFill>
                <a:latin typeface="Cambria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5312" y="1700784"/>
            <a:ext cx="5696712" cy="3419856"/>
          </a:xfrm>
          <a:prstGeom prst="roundRect">
            <a:avLst>
              <a:gd name="adj" fmla="val 5000"/>
            </a:avLst>
          </a:prstGeom>
          <a:solidFill>
            <a:srgbClr val="175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92024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9BCB3B"/>
                </a:solidFill>
                <a:latin typeface="Calibri"/>
              </a:rPr>
              <a:t>PHASE 2 · OPERATE  ·  THE LIVE SYSTEM — WHAT THE DEMO SHOWS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267712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SENSE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523744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C, H and the arrivals-minus-completions gap, read by market and by day.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2944368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DIAGNOSE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00400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Product sameness, process sameness — or high H with no live substitutes.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621024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77056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Apply the cleared lever for that diagnosis, or hold. Never at borrower level.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29768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MONITOR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553712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The same metrics and guardrails, running continuously, with a revert rule.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No borrower score.    No automatic penalty.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126480"/>
            <a:ext cx="1023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9BCB3B"/>
                </a:solidFill>
                <a:latin typeface="Cambria"/>
              </a:rPr>
              <a:t>Next: Phase 2, running on the real 2016–2024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E3B2B"/>
                </a:solidFill>
                <a:latin typeface="Cambria"/>
              </a:rPr>
              <a:t>Kiva Pulse — Phase 2, the live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market, different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on day 14: 127 live loans, watch only. Move to day 18 and the pool triples to 298 — the same market becomes an intervention. Pressure is a property of the calendar, not of the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WHICH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H, different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and Retail both sit high on Homogeneity. Strip the recurring language and Retail loses 42% of it; Housing loses none. Same reading, opposite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WHAT IT NEVER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It acts on the market, never on the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The lever lands on a market-time cell or a Lending Partner’s template. No number is attached to a loan, no borrower is asked to rewrite anything, and every action carries a revert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Watch what changes when I move the day — and what never appears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No Phase 1 pilot has run, so every lever on screen shows as shadow mode. Static read-out in Appendix A11.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5096" cy="32918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present, no net drag — the joint restriction rejects, but the components offset.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 ·  C × H  and  V × 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· V × G 0.026, n.s.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 · V × G 0.018, 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· V × G 0.039 / 0.054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0.052, loses significance; V × G 0.042 → 0.058,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The five checks are pre-registered specification changes to pool construction, thresholds and text. Half-life frozen at 7 days; specifications are compared side by side, with no formal cross-model test and no forward-window falsification.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a rejected joint restriction, and a scenario that nets to zero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RQ2 tests all three jointly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the 95th percentile of funding duration, so lagged loans have nearly all left the page.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7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6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1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0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5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4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scenario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interval covers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lagged channel carries signal — but its components offset, leaving no net drag.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scenario is not proof of absence; market repetition is a weak proxy for individual exposure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711696" y="49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1"/>
          <p:cNvSpPr txBox="1"/>
          <p:nvPr/>
        </p:nvSpPr>
        <p:spPr>
          <a:xfrm>
            <a:off x="6949440" y="48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restriction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rejected, p = .002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5-grams, ≥500 loans, ≥3 countries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carries almost all of the month's net accumulation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(Sat low)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fig_a6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outcome shifted regime — and the source of similarity moved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2016–19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 market: 27–47 h median; C and H near decade lows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regime shift: 112 → 144 h; wider pool,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partial reversal: 68 h; C down, H highest of the decade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Year-specific C × H interactions are estimated and reported in the delivered outputs; the annual layer is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 †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read during analysis; not in the submitted proposal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APPENDIX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E3B2B"/>
                </a:solidFill>
                <a:latin typeface="Cambria"/>
              </a:rPr>
              <a:t>The demo, in two frames: the same market, four days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14  →  WATCH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27064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18  →  TYPE A · PRODUCT SAMENESS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Why it flips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Nothing about the borrowers changed. The listing batch did — 298 live loans against 127.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Retail, day 18  </a:t>
            </a:r>
            <a:r>
              <a:rPr sz="1400" b="0">
                <a:solidFill>
                  <a:srgbClr val="56655D"/>
                </a:solidFill>
                <a:latin typeface="Calibri"/>
              </a:rPr>
              <a:t>Same high H (P84), but only 58% of it survives residual text — Type B, a template problem, opposite 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What it never does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 score is attached to a loan; every read-out ends in a randomised pilot and the metrics to judge it by.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The diagnosis is a property of market-time, not of the borrower.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Phase 2 screenshots. Thresholds are operational choices for triage, not estimated cut-points; no Phase 1 pilot has run, so all levers sit in shadow mode.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A11</a:t>
            </a:r>
          </a:p>
        </p:txBody>
      </p:sp>
      <p:pic>
        <p:nvPicPr>
          <p:cNvPr id="20" name="Picture 19" descr="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" y="2048256"/>
            <a:ext cx="5257727" cy="2048256"/>
          </a:xfrm>
          <a:prstGeom prst="rect">
            <a:avLst/>
          </a:prstGeom>
        </p:spPr>
      </p:pic>
      <p:pic>
        <p:nvPicPr>
          <p:cNvPr id="21" name="Picture 20" descr="d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80" y="2048256"/>
            <a:ext cx="5257727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6822</Words>
  <Application>Microsoft Macintosh PowerPoint</Application>
  <PresentationFormat>宽屏</PresentationFormat>
  <Paragraphs>562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2026-09-03T03:52:24Z</dcterms:modified>
</cp:coreProperties>
</file>