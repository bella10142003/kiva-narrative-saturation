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22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 · 可删除】约 10 秒。
开场：Kiva 上的每一个故事都在争取注意力。我们的问题不是「谁的故事写得好」，而是「一个故事出现的时候，它身边是什么」。
如果比赛方自带 title slide，直接删掉本页，总时长不受影响。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1 · 目标 50 秒】制造悬念，不解释模型。</a:t>
            </a:r>
          </a:p>
          <a:p/>
          <a:p>
            <a:r>
              <a:t>口播：我们的主结果变量是 FundingHours——从 fundraisingDate 到 raisedDate 的筹款时长小时数。</a:t>
            </a:r>
          </a:p>
          <a:p>
            <a:r>
              <a:t>在建模样本上，只比 Q1–Q3（避开 2025 年末的右截断），中位筹款时长从 2024 的 121.2 小时降到 2025 的 68.1 小时，快了 44%。</a:t>
            </a:r>
          </a:p>
          <a:p>
            <a:r>
              <a:t>可同一年，Homogeneity（H，与同期同板块贷款的平均余弦相似度）是十年里最高的，均值 0.156。唯一同时下降的是 Volume（C，均值 6.52 → 6.25，中位在架池 1,030 → 769）。</a:t>
            </a:r>
          </a:p>
          <a:p/>
          <a:p>
            <a:r>
              <a:t>所以「故事越像越难筹」不是一条能单独成立的规律。要判断一个故事筹得快不快，必须看它出现的时候身边站着谁。</a:t>
            </a:r>
          </a:p>
          <a:p>
            <a:r>
              <a:t>（停顿一拍再翻页。）</a:t>
            </a:r>
          </a:p>
          <a:p/>
          <a:p>
            <a:r>
              <a:t>⚠️ 口径纪律（被问到时）：</a:t>
            </a:r>
          </a:p>
          <a:p>
            <a:r>
              <a:t>· 数据里每一行都有 raisedDate，没有 expired 贷款，所以这是「已募满贷款的筹款时长」，不是「募资成功率」。</a:t>
            </a:r>
          </a:p>
          <a:p>
            <a:r>
              <a:t>· 2025 年末存在右截断——12 月的贷款只有跑得最快的才进得来。所以主页只报 Q1–Q3，两年同口径。</a:t>
            </a:r>
          </a:p>
          <a:p>
            <a:r>
              <a:t>· 若用全年主样本是 110.6 → 65.2（−41%）；早期版本用的 107.6 → 61.3（−43%）来自 wash-in 样本、且是全年，两处都换掉了。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2 · 目标 1 分 10 秒】只讲理解结果所必需的方法。
口播：结果变量是 FundingHours，建模形式 log(1 + FundingHours)。
对每一笔贷款我们重建两个 pool，命名和 proposal 一致。
右边 Current pool：上架那一刻真正在架的同板块贷款。Volume（C）是数量取对数，Homogeneity（H）是与这批贷款的平均余弦相似度，交互 C×H 就是 Active saturation——RQ1 检验的量。
左边 Lagged pool：L 到 L+29 天以前，本次约 35 到 65 天。V、G 是衰减加权的数量和相似度，V×G 是 Recent saturation。这批贷款早已下架，拿不走任何一笔出资——所以如果它们还在拖慢筹款，只能是重复表达造成的 wear-out。
文本用 use 字段：lender 在列表页先看到的短用途，比长 description 更有区分力。
国家、活动、周固定效应；2016–2024 建模，2025 完全不碰。（固定效应细节等评委问再展开。）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3 · 目标 2 分钟 · 全场最重要的一页】
口播：左边是 Current pool 的 Active saturation。当 Volume C 和 Homogeneity H 一起从第 25 百分位移到第 75 百分位——从一个安静、多样的市场换成一个又挤又雷同的市场——条件 FundingHours 上升约 124%，也就是筹款时长变成原来的 2.24 倍；72 小时内筹满的概率下降 14.7 个百分点。
更关键的是交互本身：同样是 H 上升一个标准差，在低 Volume 的市场里代价是 +42.5% 的小时数，在高 Volume 的市场里是 +60.7%。相似性的代价取决于此刻有多少人和你争。这是 RQ1 的答案：C、H 各自重要，而且相互放大。
右边是 Lagged pool 的 Recent saturation。同样的移动，点估计 −1.4%，95% 置信区间从 −15.8% 到 +15.4%，跨过零；72 小时筹满率只动 0.5 个百分点。没有找到广泛、持续 wear-out 的稳健证据。
marketing 上的区分：与当前竞品相似会降低相对辨识度；与历史典型表达相似，未必产生持续疲劳。
⚠️ 措辞：这是关联不是因果；零结果也不等于疲劳不存在，只是这个精度下没测到。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4 · 目标 1 分 20 秒】</a:t>
            </a:r>
          </a:p>
          <a:p/>
          <a:p>
            <a:r>
              <a:t>口播：故事为什么会变得一样？很大一部分不是借款人写的，是流程带来的。贷款简介由 Lending Partner 上传，机构会复用模板句——我们把这部分叫 boilerplate share。</a:t>
            </a:r>
          </a:p>
          <a:p/>
          <a:p>
            <a:r>
              <a:t>左边：在 lender 真正浏览的短 use 字段上，把 recurring language 占比从 0% 移到 100%，条件 FundingHours 上升 13.6%、72 小时筹满率下降 3.37 个百分点。而在点进去之后的长 description 上，同样的移动没有统计上可辨的关联（p = .45）。问题发生在扫描阶段，不是阅读阶段。</a:t>
            </a:r>
          </a:p>
          <a:p/>
          <a:p>
            <a:r>
              <a:t>右边是关键的稳健性检验：改用 residual text（去掉 recurring 5-gram）重估，Active saturation C×H 从 0.102（p=.003）降到 0.052（p=.129）。</a:t>
            </a:r>
          </a:p>
          <a:p>
            <a:r>
              <a:t>⚠️ 只能说「系数约减半、失去常规显著性」，不能说「模板解释了一半的效应」——没有做正式的跨模型差异检验。</a:t>
            </a:r>
          </a:p>
          <a:p>
            <a:r>
              <a:t>⚠️ 13.6% 是 0%→100% 的全区间效应，不是「高 vs 低」；被追问时要说清楚。每上升 1 个标准差约 +4.6%。</a:t>
            </a:r>
          </a:p>
          <a:p/>
          <a:p>
            <a:r>
              <a:t>备用（问到再说）：加入 C、H、C×H 后，boilerplate share 本身的关联消失（p=.26），说明模板是通过「和同页项目撞脸」传导的。</a:t>
            </a:r>
          </a:p>
          <a:p>
            <a:r>
              <a:t>所以解药在平台一侧，不是要求借款人写更长、更私人的故事。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5 · 目标 1 分 30 秒】</a:t>
            </a:r>
          </a:p>
          <a:p/>
          <a:p>
            <a:r>
              <a:t>口播（顶上一行）：先说年度。2018 年 Homogeneity 还低（均值 0.057，十年最低），压力主要来自 Volume；2020–21 年 current pool 扩大、boilerplate 占比从 0.22 升到 0.35，对 H 的贡献明显上升；到 2025，boilerplate 回到常态（0.222，与 2024 的 0.222 持平），可 H 是十年最高（均值 0.156），而 Volume 已经下降（C 从 6.52 降到 6.25，中位在架池 1030 → 769）——相似性的来源变了。</a:t>
            </a:r>
          </a:p>
          <a:p>
            <a:r>
              <a:t>⚠️ 不要把 COVID、auto-lending 说成已证明的原因，只能作为背景。</a:t>
            </a:r>
          </a:p>
          <a:p/>
          <a:p>
            <a:r>
              <a:t>口播（图）：月内有两条脉冲，都在供给侧。</a:t>
            </a:r>
          </a:p>
          <a:p>
            <a:r>
              <a:t>基线以上是绿色的上架脉冲，基线以下是紫色的完成脉冲（贷款达到 raisedDate、退出 current pool）。</a:t>
            </a:r>
          </a:p>
          <a:p>
            <a:r>
              <a:t>关键事实（2024–25，太平洋日历日，指数以当月均值=1.00 标准化）：**两条脉冲在同一天见顶，都是 18 号**。上架指数 5.92，完成指数 2.75，19 号 2.41。18 号一天就占了 2024–25 全部上架量的 19.6%。</a:t>
            </a:r>
          </a:p>
          <a:p>
            <a:r>
              <a:t>所以问题不是「两只时钟错开」——它们是对齐的。问题是**一个月的供给砸在同一天，而当天的释放阀只有 2.8 倍**。按日均条数算：18 号净进 +1,208 条，19–23 号则是净出（−439、−192、−105、−150、−76）。</a:t>
            </a:r>
          </a:p>
          <a:p>
            <a:r>
              <a:t>落到贷款身上：18 号上架的贷款面对的平均 H 是 0.205，而 12–16 号上架的只有 0.056–0.066，差 3 倍以上；中位在架池 969 对 ~780。</a:t>
            </a:r>
          </a:p>
          <a:p/>
          <a:p>
            <a:r>
              <a:t>⚠️ 措辞纪律：</a:t>
            </a:r>
          </a:p>
          <a:p>
            <a:r>
              <a:t>· 这张图是机制示意，但形状按 2024–25 实测逐日指数画；真实逐日曲线在附录 A6。</a:t>
            </a:r>
          </a:p>
          <a:p>
            <a:r>
              <a:t>· 「完成」指达到 raisedDate 离开页面，不是借款人还款。</a:t>
            </a:r>
          </a:p>
          <a:p>
            <a:r>
              <a:t>· 数据里没有 expired 贷款，所以这不是 hazard，只能说「在最终都会募满的贷款中，募满时点的密度」。</a:t>
            </a:r>
          </a:p>
          <a:p>
            <a:r>
              <a:t>· 全十年合并时上架峰在 17 号（3.06），18 号 2.18；「18 号」是 2024–25 的口径，讲的时候要说清楚年份。</a:t>
            </a:r>
          </a:p>
          <a:p>
            <a:r>
              <a:t>· 加入月内日期固定效应后 C×H 从 0.102 只降到 0.098——脉冲不是头条结果的来源。</a:t>
            </a:r>
          </a:p>
          <a:p/>
          <a:p>
            <a:r>
              <a:t>对 Kiva 的用处：它不解释因果，但它告诉我们实验该安排在哪个窗口——把同一个资金窗口的容量摊开到 17–22 号，而不是全压在 18 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6 · 目标 1 分 15 秒】</a:t>
            </a:r>
          </a:p>
          <a:p/>
          <a:p>
            <a:r>
              <a:t>口播：最后一个问题：所有市场都一样吗？不一样。关键在于——同样高的 H，可能是两种完全不同的问题。判据是「去掉模板句之后，相似度还剩多少」。</a:t>
            </a:r>
          </a:p>
          <a:p/>
          <a:p>
            <a:r>
              <a:t>A 类「产品同质」：Housing 的 H 从 0.301 到 0.302，几乎不动（boilerplate 占比只有 0.004）；Arts −0.7%、Transportation +1.8%、Reuse &amp; Recycle +1.9%。相似度不是模板造成的，是真实的替代项目被同时摆在一页上。手段在市场侧：错峰上架、轮换曝光、diversified ranking、保护长期低曝光的项目。</a:t>
            </a:r>
          </a:p>
          <a:p/>
          <a:p>
            <a:r>
              <a:t>B 类「流程同质」：Philippines × General Store（Retail，117,291 笔）H 从 0.200 掉到 0.114，−43%，boilerplate 占比 0.578；Clean Energy 从 0.421 掉到 0.244，−42%（占比 0.394）；Retail 整体 −42%、Food −39%、Agriculture −31%。全平台基准是 −25%。问题在内容生产流程。手段是给合作机构准备多套合规的模板变体，而不是要求借款人写更长、更私人的故事。</a:t>
            </a:r>
          </a:p>
          <a:p/>
          <a:p>
            <a:r>
              <a:t>⚠️ 纪律：这一层是探索性的。以上是「去模板后 H 的均值变化」这一描述性判据，不是分行业重估的模型系数；行业与国家之间的异质性有证据（Q=99.5 / 111.6，见 A8），但注意力市场的精确边界还没做完正式比较，不要说已经证明。</a:t>
            </a:r>
          </a:p>
          <a:p>
            <a:r>
              <a:t>⚠️ 早期版本把 Clean Energy 放在 A 类，是错的——它去模板后 H 掉 42%，是典型的 B 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7 · 目标 1 分 35 秒 · 收尾】
口播：把四个答案合起来，结论很明确：压力取决于「此时此地的市场状态」，所以 proposal 里的 Narrative Attention Engine 不该落地成静态的借款人评分，而该落地成动态的市场监测。我们叫它 Kiva Pulse，四步。
SENSE：按 market-time 持续监测 Volume C、Homogeneity H、Active saturation C×H，以及上架与完成两条脉冲的差值、距离历史高压窗口有多远。
DIAGNOSE：判断同质性来自哪里——产品接近、合作机构 boilerplate、还是单纯 Volume 高。高 H 但低 C 的市场只监测、不干预，因为没有替代品在抢。
TEST：两个试点。A 是节奏与曝光：错峰上架对比 BAU，轮换/多样化曝光对比常规曝光，按 market-time 或 partner batch 随机化。B 是模板：只在高 boilerplate 市场里测多套合规变体，不要求借款人提供更多敏感信息。
LEARN：预注册。主指标 FundingHours，次指标 72 小时筹满率，护栏包括总筹资额、公平性、挤出效应和借款人负担。先 shadow mode，只有随机实验成功才扩大。
最后一句停顿、放慢：没有借款人评分，没有自动惩罚。我们改变故事周围的市场，然后只放大被验证有效的那部分。
（追问 2025 holdout：叙事变量没有稳定改善 2025 的个体预测——这正是 Kiva Pulse 必须是实验触发器而不是评分系统的理由，见 A9。）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【A1】被问「你们到底回答了哪个 RQ」时翻到这页。一句话版本：现在的拥挤×相似有代价；过去的重复没有稳健证据；压力随时间变形；不同市场的同质性来源不同。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【A2】最可能被问「为什么只用筹满的贷款」。</a:t>
            </a:r>
          </a:p>
          <a:p/>
          <a:p>
            <a:r>
              <a:t>回答：这份官方提取物里每一行都有 raisedDate，`status` 只有 funded（1,452,203）和 refunded（1,637），没有 expired——未募满的贷款整条不在数据里。所以：</a:t>
            </a:r>
          </a:p>
          <a:p>
            <a:r>
              <a:t>· 我们分析的是「已募满贷款的筹款时长」，不能解释成「一个故事能不能筹到钱」。</a:t>
            </a:r>
          </a:p>
          <a:p>
            <a:r>
              <a:t>· 也正因为没有缺失的 raisedDate，真正的右删失在这份数据里不可识别，**我们没有拟合 AFT 删失模型**（原稿说做了，是错的，已删）。</a:t>
            </a:r>
          </a:p>
          <a:p>
            <a:r>
              <a:t>· 2025 年末的右截断用另一种方式处理：把 `2025_all_observed` 与 `2025_at_least_35d_followup`（123,489 笔）并排报告，读者自己看结论是否依赖切法。中位时长从完整随访的 65.4h 掉到最后 72 小时的 5.7h，就是截断的指纹。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【A3】技术评委最可能停留的一页。</a:t>
            </a:r>
          </a:p>
          <a:p/>
          <a:p>
            <a:r>
              <a:t>五行都对应交付包 `outputs/robustness.csv` 里的实际产物：</a:t>
            </a:r>
          </a:p>
          <a:p>
            <a:r>
              <a:t>· posting_14d_precommitted  C×H = 0.0893 (p = 4.6e-05)</a:t>
            </a:r>
          </a:p>
          <a:p>
            <a:r>
              <a:t>· posting_16d_calibrated    C×H = 0.0994 (p = 6.3e-06)</a:t>
            </a:r>
          </a:p>
          <a:p>
            <a:r>
              <a:t>· minimum_pool_5 / _20      C×H = 0.1013 / 0.0986</a:t>
            </a:r>
          </a:p>
          <a:p>
            <a:r>
              <a:t>· active_residual_text      C×H = 0.0523 (p = .129)</a:t>
            </a:r>
          </a:p>
          <a:p>
            <a:r>
              <a:t>· description robustness    C×H = 0.1298 (p = 1.7e-07)，V×G = −0.0136 (p = .376)</a:t>
            </a:r>
          </a:p>
          <a:p>
            <a:r>
              <a:t>另有 completed_only_lag 0.1025、exclude_refunded 0.1017、单向聚类 0.1017（country）/0.1017（week）。</a:t>
            </a:r>
          </a:p>
          <a:p/>
          <a:p>
            <a:r>
              <a:t>⚠️ 本页原先列出的「exact-date pools」「半衰期 3 / 14 天敏感性」「前向安慰剂检验」在交付包内没有任何脚本、CSV 或日志，已删除。半衰期在 `src/build_pool_features.py` 里冻结为 7 天，没有跑过敏感性；前向窗口安慰剂也没有估过。如果评委问「有没有做安慰剂」，正确回答是：没做，模拟阶段设计过前向窗口检验，但最终流水线未纳入；我们能提供的是上面五项预注册的规格变动。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【A4】若评委问「是不是只是没测出来」——承认，然后立刻给建设性方案：市场层面的重复是个体曝光的弱代理，要真正检验 wear-out 需要 lender 层面的浏览日志，这正是 A10 里向平台提的数据需求。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【A5】支撑 Slide 4 的措辞纪律。</a:t>
            </a:r>
          </a:p>
          <a:p/>
          <a:p>
            <a:r>
              <a:t>核心：boilerplate 不是「被惩罚的文字」，而是「让你和同页项目撞脸」的机制。表格第三行是关键——加入 C、H、C×H 后 boilerplate share 本身的关联消失（p=.26）。</a:t>
            </a:r>
          </a:p>
          <a:p/>
          <a:p>
            <a:r>
              <a:t>余弦数字出处：`outputs/text_selection_diagnostics.csv`，5% 训练样本、10,000 组随机同板块配对，use = 0.259、description = 0.409。原稿写 0.44 是错的，已改成 0.41。</a:t>
            </a:r>
          </a:p>
          <a:p>
            <a:r>
              <a:t>两个字段都有 97.3% 非空，中位 token 数 use = 10、description = 93——短字段能区分，长字段几乎都长一个样。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【A6】⚠️ 图形占位框：从分析 notebook 导出四面板日历图贴进虚线框，每个面板最好同时画「新上架」和「raisedDate 完成」两条线。
讲解强调两点：两条脉冲都在供给侧；月内 Active saturation 由「进来的」减「出去的」决定，完成脉冲是释放阀不是另一种拥挤。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【A7】⚠️ 图形占位框：贴逐年 C×H 边际效应及置信区间。
口播纪律：年度交互是把主效应再切十份，功效天然低得多，所以只做描述性刻画，明确标 exploratory。COVID、auto-lending 只能作为背景，不能当作已证明的原因。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【A8】⚠️ 图形占位框：贴行业/国家分群估计与等价区间。
若被问「注意力市场到底多大」——诚实回答：选了同板块作为主定义，三种定义的正式比较还没做完，不宣称已证明边界。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【A9】可以在 Slide 7 之后主动翻出来，也可以留到 Q&amp;A。一句话：模型在个体层面预测失败，恰恰是我们不做借款人评分的最强理由——把「我们很谦虚」变成「我们有证据地谦虚」。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【A10】收尾用。若评委质疑因果，用这页转成建设性：我们知道边界在哪，也知道要拿到什么数据才能突破；在拿到之前，正确的动作是做一次可逆的随机实验，而不是上线一个评分。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2615" y="1508760"/>
            <a:ext cx="3566160" cy="3566160"/>
          </a:xfrm>
          <a:prstGeom prst="ellipse">
            <a:avLst/>
          </a:prstGeom>
          <a:ln w="12700">
            <a:solidFill>
              <a:srgbClr val="1D5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79815" y="1965960"/>
            <a:ext cx="2651760" cy="2651760"/>
          </a:xfrm>
          <a:prstGeom prst="ellipse">
            <a:avLst/>
          </a:prstGeom>
          <a:ln w="12700">
            <a:solidFill>
              <a:srgbClr val="236B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37015" y="2423160"/>
            <a:ext cx="1737360" cy="1737360"/>
          </a:xfrm>
          <a:prstGeom prst="ellipse">
            <a:avLst/>
          </a:prstGeom>
          <a:ln w="19050">
            <a:solidFill>
              <a:srgbClr val="9BC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 MARKETING ANALYTICS HACKATHON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459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every story</a:t>
            </a:r>
            <a:endParaRPr lang="en-US" sz="4600" dirty="0"/>
          </a:p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sounds the same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does not persuade alone. Its funding speed depends on what surrounds it, when it appears, and why neighbouring stories sound the same.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4846320"/>
            <a:ext cx="4023360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5047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GUYS  ·  1,453,846 Kiva loans, 2016–2025  ·  2025 held out</a:t>
            </a:r>
            <a:endParaRPr lang="en-US" sz="17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TEAM MEMBER NAMES]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THE PUZZLE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funded faster — even as stories became more alike.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FUNDING HOURS · Q1–Q3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323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2468880"/>
            <a:ext cx="1828800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3977640" y="2414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121.2 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540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65960" y="3090672"/>
            <a:ext cx="1028209" cy="274320"/>
          </a:xfrm>
          <a:prstGeom prst="roundRect">
            <a:avLst>
              <a:gd name="adj" fmla="val 166667"/>
            </a:avLst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97764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68.1 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38039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−44%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4398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sample, Q1–Q3 only, so year-end truncation cannot flatter 2025.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YEAR'S MARKET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41401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C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81635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active same-sector loans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1129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Homogeneity  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91363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mean cosine of the decade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11696" y="4572000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6711696" y="46817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Volume, higher Homogeneity — yet fewer hours.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alone cannot explain lender response.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rebuilt the choice set each lender could face.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53128" y="1737360"/>
            <a:ext cx="3291840" cy="512064"/>
          </a:xfrm>
          <a:prstGeom prst="roundRect">
            <a:avLst>
              <a:gd name="adj" fmla="val 50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4453128" y="1737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LOAN  ·  posted at 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9048" y="2249424"/>
            <a:ext cx="0" cy="201168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91256" y="2450592"/>
            <a:ext cx="5815584" cy="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191256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006840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L TO L+29 DAYS BEFORE 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1927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earlier count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721608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1152144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   Recent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already off the page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64224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711696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ACTIVE AT 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331927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 active same-sector count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7216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 cosine to that pool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1239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H   Active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fundable right now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FundingHours (fundraisingDate → raisedDate)  ·  1.23M training loans, 2016–2024  ·  2025 held out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sector, same week, same country — only the narrative environment differs.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RQ1 &amp; RQ2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hurts when it creates live substitutes.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ACTIVE SATURATION C × 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+124%</a:t>
            </a:r>
            <a:r>
              <a:rPr lang="en-US" sz="26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×2.24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conditional FundingHours when Volume C and Homogeneity H move together from P25 to P75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895344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−14.7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+1 SD IN 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548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+42.5%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 market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75488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+60.7%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crowded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RECENT SATURATION V × 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60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P25 → P75 move on V, G and V × G, given the current pool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895344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66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 pp  funded within 72 hours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4700016"/>
            <a:ext cx="4206240" cy="146304"/>
          </a:xfrm>
          <a:prstGeom prst="roundRect">
            <a:avLst>
              <a:gd name="adj" fmla="val 312500"/>
            </a:avLst>
          </a:prstGeom>
          <a:solidFill>
            <a:srgbClr val="D5DD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841779" y="4572000"/>
            <a:ext cx="0" cy="402336"/>
          </a:xfrm>
          <a:prstGeom prst="line">
            <a:avLst/>
          </a:prstGeom>
          <a:noFill/>
          <a:ln w="25400">
            <a:solidFill>
              <a:srgbClr val="C446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671169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−15.8%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84579" y="49011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collision is supported. Broad wear-out is not.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Retransformed from log(1 + FundingHours). Associations, not treatment effects.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WHERE SAMENESS COMES FROM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sameness is partly platform-made — and it bites at the scan stage.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STAGE · THE SHORT “USE”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59152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+13.6%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55264"/>
            <a:ext cx="4562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FundingHours moving the use statement from no recurring language to all of 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950208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78224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−3.37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517136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full description, boilerplate is near-universal — and shows no independent association.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SATURATION C × 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37744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0.102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 = .003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11696" y="2724912"/>
            <a:ext cx="2051914" cy="274320"/>
          </a:xfrm>
          <a:prstGeom prst="roundRect">
            <a:avLst>
              <a:gd name="adj" fmla="val 16666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711696" y="320040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text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0.052   p = .129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11696" y="3547872"/>
            <a:ext cx="1046074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711696" y="4041648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169664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coefficient roughly halves and loses conventional significance — a shift in magnitude, with no formal cross-model test.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may amplify similarity — but borrowers should not carry the burden.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arrives in platform-made pulses: arrivals in, completions out.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2016–2025 the source of similarity moved — Volume-driven in 2018, a boilerplate hump in 2020–21, and by 2025 Volume is down while Homogeneity peaks.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· new listings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5876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420624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· loans reaching raisedDate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4909" y="3678742"/>
            <a:ext cx="320040" cy="9773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74909" y="3831336"/>
            <a:ext cx="320040" cy="30169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64606" y="3678656"/>
            <a:ext cx="320040" cy="9781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64606" y="3831336"/>
            <a:ext cx="320040" cy="19020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454304" y="3667172"/>
            <a:ext cx="320040" cy="10930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54304" y="3831336"/>
            <a:ext cx="320040" cy="15516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844002" y="3677812"/>
            <a:ext cx="320040" cy="9866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44002" y="3831336"/>
            <a:ext cx="320040" cy="13514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233699" y="3682565"/>
            <a:ext cx="320040" cy="939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233699" y="3831336"/>
            <a:ext cx="320040" cy="13278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623397" y="3683391"/>
            <a:ext cx="320040" cy="930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623397" y="3831336"/>
            <a:ext cx="320040" cy="10248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013095" y="3671011"/>
            <a:ext cx="320040" cy="10546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013095" y="3831336"/>
            <a:ext cx="320040" cy="10575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402792" y="3676091"/>
            <a:ext cx="320040" cy="1003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402792" y="3831336"/>
            <a:ext cx="320040" cy="1080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92490" y="3696649"/>
            <a:ext cx="320040" cy="7982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792490" y="3831336"/>
            <a:ext cx="320040" cy="10642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182188" y="3691725"/>
            <a:ext cx="320040" cy="8474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182188" y="3831336"/>
            <a:ext cx="320040" cy="8893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71885" y="3691794"/>
            <a:ext cx="320040" cy="8467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571885" y="3831336"/>
            <a:ext cx="320040" cy="763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61583" y="3697648"/>
            <a:ext cx="320040" cy="78824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961583" y="3831336"/>
            <a:ext cx="320040" cy="8910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51281" y="3691484"/>
            <a:ext cx="320040" cy="8498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351281" y="3831336"/>
            <a:ext cx="320040" cy="89534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740978" y="3697854"/>
            <a:ext cx="320040" cy="7861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740978" y="3831336"/>
            <a:ext cx="320040" cy="8015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130676" y="3686783"/>
            <a:ext cx="320040" cy="8968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130676" y="3831336"/>
            <a:ext cx="320040" cy="789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520374" y="3692465"/>
            <a:ext cx="320040" cy="840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520374" y="3831336"/>
            <a:ext cx="320040" cy="6987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910072" y="3527550"/>
            <a:ext cx="320040" cy="24892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910072" y="3831336"/>
            <a:ext cx="320040" cy="13896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299769" y="2757003"/>
            <a:ext cx="320040" cy="10194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299769" y="3831336"/>
            <a:ext cx="320040" cy="47358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689467" y="3553429"/>
            <a:ext cx="320040" cy="22304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689467" y="3831336"/>
            <a:ext cx="320040" cy="41564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079165" y="3582131"/>
            <a:ext cx="320040" cy="19434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079165" y="3831336"/>
            <a:ext cx="320040" cy="27778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468862" y="3577586"/>
            <a:ext cx="320040" cy="19888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468862" y="3831336"/>
            <a:ext cx="320040" cy="2433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858560" y="3576363"/>
            <a:ext cx="320040" cy="20010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858560" y="3831336"/>
            <a:ext cx="320040" cy="26453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248258" y="3570733"/>
            <a:ext cx="320040" cy="20573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9248258" y="3831336"/>
            <a:ext cx="320040" cy="23745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637955" y="3566807"/>
            <a:ext cx="320040" cy="209665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637955" y="3831336"/>
            <a:ext cx="320040" cy="1976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0027653" y="3603310"/>
            <a:ext cx="320040" cy="17316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0027653" y="3831336"/>
            <a:ext cx="320040" cy="18413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0417351" y="3623644"/>
            <a:ext cx="320040" cy="15282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417351" y="3831336"/>
            <a:ext cx="320040" cy="19485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807048" y="3603103"/>
            <a:ext cx="320040" cy="1733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0807048" y="3831336"/>
            <a:ext cx="320040" cy="1747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1196746" y="3588760"/>
            <a:ext cx="320040" cy="18771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1196746" y="3831336"/>
            <a:ext cx="320040" cy="15651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40080" y="3803904"/>
            <a:ext cx="10911535" cy="0"/>
          </a:xfrm>
          <a:prstGeom prst="line">
            <a:avLst/>
          </a:prstGeom>
          <a:noFill/>
          <a:ln w="12700">
            <a:solidFill>
              <a:srgbClr val="1221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22860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2566786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529467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8022554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750438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22960" y="3273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18: arrivals 5.9× — completions only 2.8×</a:t>
            </a:r>
            <a:endParaRPr lang="en-US" sz="1600" dirty="0"/>
          </a:p>
        </p:txBody>
      </p:sp>
      <p:sp>
        <p:nvSpPr>
          <p:cNvPr id="72" name="Text 70"/>
          <p:cNvSpPr txBox="1"/>
          <p:nvPr/>
        </p:nvSpPr>
        <p:spPr>
          <a:xfrm>
            <a:off x="566928" y="497433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drawn to the 2024–25 daily index; the fitted series is in Appendix A6.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peak on the same day — arrivals spike far higher than completions release.</a:t>
            </a:r>
            <a:endParaRPr lang="en-US" sz="2000" dirty="0"/>
          </a:p>
        </p:txBody>
      </p:sp>
      <p:sp>
        <p:nvSpPr>
          <p:cNvPr id="75" name="Text 73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Homogeneity, two different market problems.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· PRODUCT SAMENESS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59152"/>
            <a:ext cx="4562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Housing, Arts, Transportation — uses that are intrinsically close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118104"/>
            <a:ext cx="91440" cy="91440"/>
          </a:xfrm>
          <a:prstGeom prst="ellipse">
            <a:avLst/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980944"/>
            <a:ext cx="43251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 barely moves on residual text (Housing 0.301 → 0.302)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721608"/>
            <a:ext cx="91440" cy="91440"/>
          </a:xfrm>
          <a:prstGeom prst="ellipse">
            <a:avLst/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584448"/>
            <a:ext cx="43251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 substitutes displayed side by side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4224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498848"/>
            <a:ext cx="4562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 releases · rotate exposure · diversify ranking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 · PROCESS SAMENESS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2359152"/>
            <a:ext cx="4562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× General Store (Retail, 117k loans); Clean Energy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11696" y="311810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949440" y="2980944"/>
            <a:ext cx="43251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residual text drops H sharply (0.200 → 0.114, −43%)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11696" y="3721608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6949440" y="3584448"/>
            <a:ext cx="43251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content process, not the projects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11696" y="4114800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6711696" y="4224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711696" y="4498848"/>
            <a:ext cx="4562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Partner-approved template variants — not longer borrower stories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why stories look alike before choosing the lever.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Exploratory: segment estimates are far less precise, and the market boundary is a choice, not a proven fact.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IMPLICATIONS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Kiva Pulse turns active saturation into a safe experiment.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2572436" cy="3419856"/>
          </a:xfrm>
          <a:prstGeom prst="roundRect">
            <a:avLst>
              <a:gd name="adj" fmla="val 2844"/>
            </a:avLst>
          </a:prstGeom>
          <a:solidFill>
            <a:srgbClr val="1751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01952"/>
            <a:ext cx="384048" cy="384048"/>
          </a:xfrm>
          <a:prstGeom prst="ellipse">
            <a:avLst/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920240"/>
            <a:ext cx="165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2060372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2633472"/>
            <a:ext cx="20603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H and C × H by market-time</a:t>
            </a:r>
            <a:endParaRPr lang="en-US" sz="1600" dirty="0"/>
          </a:p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versus completions</a:t>
            </a:r>
            <a:endParaRPr lang="en-US" sz="1600" dirty="0"/>
          </a:p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a high-pressure window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5396" y="1700784"/>
            <a:ext cx="2572436" cy="3419856"/>
          </a:xfrm>
          <a:prstGeom prst="roundRect">
            <a:avLst>
              <a:gd name="adj" fmla="val 2844"/>
            </a:avLst>
          </a:prstGeom>
          <a:solidFill>
            <a:srgbClr val="1751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651428" y="1901952"/>
            <a:ext cx="384048" cy="384048"/>
          </a:xfrm>
          <a:prstGeom prst="ellipse">
            <a:avLst/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65142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145204" y="1920240"/>
            <a:ext cx="165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51428" y="2487168"/>
            <a:ext cx="2060372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3651428" y="2633472"/>
            <a:ext cx="20603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sameness</a:t>
            </a:r>
            <a:endParaRPr lang="en-US" sz="1600" dirty="0"/>
          </a:p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boilerplate sameness</a:t>
            </a:r>
            <a:endParaRPr lang="en-US" sz="1600" dirty="0"/>
          </a:p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 but low C → watch only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3864" y="1700784"/>
            <a:ext cx="2572436" cy="3419856"/>
          </a:xfrm>
          <a:prstGeom prst="roundRect">
            <a:avLst>
              <a:gd name="adj" fmla="val 2844"/>
            </a:avLst>
          </a:prstGeom>
          <a:solidFill>
            <a:srgbClr val="1751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479896" y="1901952"/>
            <a:ext cx="384048" cy="384048"/>
          </a:xfrm>
          <a:prstGeom prst="ellipse">
            <a:avLst/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79896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73672" y="1920240"/>
            <a:ext cx="165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79896" y="2487168"/>
            <a:ext cx="2060372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479896" y="2633472"/>
            <a:ext cx="20603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release vs BAU</a:t>
            </a:r>
            <a:endParaRPr lang="en-US" sz="1600" dirty="0"/>
          </a:p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 vs normal exposure</a:t>
            </a:r>
            <a:endParaRPr lang="en-US" sz="1600" dirty="0"/>
          </a:p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variants in high-boilerplate markets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331" y="1700784"/>
            <a:ext cx="2572436" cy="3419856"/>
          </a:xfrm>
          <a:prstGeom prst="roundRect">
            <a:avLst>
              <a:gd name="adj" fmla="val 2844"/>
            </a:avLst>
          </a:prstGeom>
          <a:solidFill>
            <a:srgbClr val="1751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308363" y="1901952"/>
            <a:ext cx="384048" cy="384048"/>
          </a:xfrm>
          <a:prstGeom prst="ellipse">
            <a:avLst/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9308363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802139" y="1920240"/>
            <a:ext cx="165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308363" y="2487168"/>
            <a:ext cx="2060372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9308363" y="2633472"/>
            <a:ext cx="20603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FundingHours</a:t>
            </a:r>
            <a:endParaRPr lang="en-US" sz="1600" dirty="0"/>
          </a:p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72-hour rate</a:t>
            </a:r>
            <a:endParaRPr lang="en-US" sz="1600" dirty="0"/>
          </a:p>
          <a:p>
            <a:pPr marL="177800" indent="-1778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fairness, displacement, workload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borrower score.    No automatic penalty.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126480"/>
            <a:ext cx="102348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market around the story — then scale only what works.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research questions, four answers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we defend  ·  outcome: FundingHours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  Active narrative saturation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 × H adds funding hours. Volume and Homogeneity reinforce each other.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  Competition vs wear-out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robust evidence — the recent-saturation interval crosses zero.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  Evolution of the two channels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constant — it shifts by year and arrives as listing and completion pulses.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RQ4  Segment boundaries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uniform — product sameness and process sameness need different levers.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depends on when and where a story appears — so the tool must be dynamic.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Pre-specified comparisons. Conditional associations within a fixed-effects structure, not causal effects.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boundaries and the raised-only limit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5973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225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1,453,846 loans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Jan 2016 – 31 Dec 2025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8529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2016–2024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≈1.23M training loans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383280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holdout, never touched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05079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913632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sector, minimum size ten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45811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4443984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masked; TF–IDF unigram + bigram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11696" y="2459736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2322576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Raised-only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FundingHours exists only for funded loans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3154680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017520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lender identity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wear-out is tested at market level only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partner id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handled by boilerplate decomposition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borrower quality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reported at borrower level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estimates describe funded stories — not whether a story funds at all.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a raisedDate, so right censoring cannot be identified and no AFT model is fitted.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model, and what happens when we change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773936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log(1 + FundingHours) = b0 + b1·C + b2·H + b3·(C × H)</a:t>
            </a:r>
            <a:endParaRPr lang="en-US" sz="17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+ b4·V + b5·G + b6·(V × G) + γ·X + FE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61488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Precommitted 14-day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0.089, p &lt; .001 — outcome-independent pool agrees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P75-calibrated 16-day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0.099, p &lt; .001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threshold n ≥ 5 / n ≥ 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0.101 / 0.099 — direction and size hold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0.102 → 0.052; loses conventional 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instead of use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0.130, p &lt; 1e-6; V × G turns null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01675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activity and week fixed effects; SE clustered by country and week. No cross-model difference test; the 7-day decay half-life is frozen and no forward-window falsification was estimated.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RQ2: why we report a joint scenario, not three coefficients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LAGGED-POOL TERMS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59152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count, L to L+29 days before t, 7-day half-life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282696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145536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 to that same pool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931920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recent saturation — the wear-out test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63440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sits at the fundraising cap, so lagged loans have left the page by construction.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REPORT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04288"/>
            <a:ext cx="4562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163824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P25 → P75 move in conditional FundingHours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694176"/>
            <a:ext cx="4562856" cy="0"/>
          </a:xfrm>
          <a:prstGeom prst="line">
            <a:avLst/>
          </a:prstGeom>
          <a:noFill/>
          <a:ln w="12700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711696" y="3922776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3785616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−15.8% to +15.4%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43434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42062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rate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−0.5 pp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476402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4626864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test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distinguishable from zero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null is not proof of absence — it is the absence of proof at this precision.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Market-level repetition is a weak stand-in for a lender's own exposure history — see A10.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detection, and why the “use” field carries the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BOILERPLATE IS IDENTIFIED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04288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high-frequency verbatim sequences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3522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798064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fixed before any outcome was seen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291840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covariate, and residual-text variant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COSINE, RANDOM SAME-SECTOR PAIRS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322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74736" y="2359152"/>
            <a:ext cx="1664208" cy="256032"/>
          </a:xfrm>
          <a:prstGeom prst="roundRect">
            <a:avLst>
              <a:gd name="adj" fmla="val 178571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9985248" y="23042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7980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74736" y="2834640"/>
            <a:ext cx="2624305" cy="256032"/>
          </a:xfrm>
          <a:prstGeom prst="roundRect">
            <a:avLst>
              <a:gd name="adj" fmla="val 178571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137392" y="2779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25526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scan-stage statement separates loans; the description already reads as near-identical.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24528"/>
          <a:ext cx="11057839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4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saturation is present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.129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halves; loses 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 share as covariate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association given C, H, 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appears to work through resemblance to what is on the page at the same time.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calendar view: arrivals and completions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359152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in 2024–25 (5.9×); day 17 across the decade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2095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072384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peaks on the same day, 2.8× — one day wider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392277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3785616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is the only day arrivals clearly exceed completions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46360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56448" y="4498848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/ hour / month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0.86–1.08 and 0.51–1.70 — much smaller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are supply-side rhythms — not lender mood.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shows a schematic of the mechanism; this is the fitted series.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600" dirty="0"/>
          </a:p>
        </p:txBody>
      </p:sp>
      <p:pic>
        <p:nvPicPr>
          <p:cNvPr id="20" name="Picture 19" descr="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by year: the source of similarity moves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H; pressure comes from Volume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2020–21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wider pool; boilerplate lifts 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boilerplate normal, C down, H highest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every year label as context, not as a proven cause.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interactions split the main effect ten ways — reported as descriptive and exploratory.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600" dirty="0"/>
          </a:p>
        </p:txBody>
      </p:sp>
      <p:pic>
        <p:nvPicPr>
          <p:cNvPr id="18" name="Picture 17" descr="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 and the boundary of the attention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MARKETS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 coarse; absorbed by week FE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same-sector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headline definition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activity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how partners batch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present the sector definition as a choice, not as a proven boundary.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interaction test first; a 5% change in expected FundingHours is the smallest meaningful effect.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600" dirty="0"/>
          </a:p>
        </p:txBody>
      </p:sp>
      <p:pic>
        <p:nvPicPr>
          <p:cNvPr id="18" name="Picture 17" descr="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2025 holdout — why this cannot be a borrower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HOLDOUT SHOWED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562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C, H, C × H, V, G and V × G did not stably improve prediction of an individual 2025 loan's FundingHours.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602736"/>
            <a:ext cx="4562856" cy="0"/>
          </a:xfrm>
          <a:prstGeom prst="line">
            <a:avLst/>
          </a:prstGeom>
          <a:noFill/>
          <a:ln w="12700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14400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signal present and interpretable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stable enough to act 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 FROM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11696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949440" y="2359152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score borrowers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holdout does not support a loan-level score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11696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949440" y="3218688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monitor markets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 saturation is stable as a market state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11696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4078224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randomise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trigger turns an association into learning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to predict individual loans is why Kiva Pulse is a trigger, not a rating.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boundaries, the data Kiva would need, and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59536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CLAIM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" y="2496312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observational pools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9536" y="335584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exposure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view history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59536" y="421538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 levels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relative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4314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36922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WE WOULD NEED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6922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74666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impressions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was shown, in what order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36922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4874666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Lender-level views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test wear-out properly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36922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4874666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identifier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institution vs narrative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21701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414309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SOURCES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4309" y="2395728"/>
            <a:ext cx="2917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&amp; Mason (2012)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Pieters et al. (1999)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 et al. (2019)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Hoberg &amp; Phillips (2016)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Williamson et al. (2021)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(2024)  ·  UNSW (2026)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asking Kiva to believe an estimate. We are asking it to run one experiment.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reversible, measurable within one listing cycle, and neutral to the borrower's own words.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3174</Words>
  <Application>Microsoft Macintosh PowerPoint</Application>
  <PresentationFormat>宽屏</PresentationFormat>
  <Paragraphs>325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UNSW Marketing Analytics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Every Story Sounds the Same — 5 GUYS</dc:title>
  <dc:subject>PptxGenJS Presentation</dc:subject>
  <dc:creator>5 GUYS</dc:creator>
  <cp:lastModifiedBy>Ruohan Wang</cp:lastModifiedBy>
  <cp:revision>1</cp:revision>
  <dcterms:created xsi:type="dcterms:W3CDTF">2026-09-02T14:34:52Z</dcterms:created>
  <dcterms:modified xsi:type="dcterms:W3CDTF">2026-09-02T14:39:25Z</dcterms:modified>
</cp:coreProperties>
</file>